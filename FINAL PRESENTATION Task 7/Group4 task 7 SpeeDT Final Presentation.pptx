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79" r:id="rId2"/>
    <p:sldId id="257" r:id="rId3"/>
    <p:sldId id="280" r:id="rId4"/>
    <p:sldId id="259" r:id="rId5"/>
    <p:sldId id="260" r:id="rId6"/>
    <p:sldId id="281" r:id="rId7"/>
    <p:sldId id="262" r:id="rId8"/>
    <p:sldId id="263" r:id="rId9"/>
    <p:sldId id="282" r:id="rId10"/>
    <p:sldId id="265" r:id="rId11"/>
    <p:sldId id="266" r:id="rId12"/>
    <p:sldId id="267" r:id="rId13"/>
    <p:sldId id="283" r:id="rId14"/>
    <p:sldId id="269" r:id="rId15"/>
    <p:sldId id="270" r:id="rId16"/>
    <p:sldId id="271" r:id="rId17"/>
    <p:sldId id="272" r:id="rId18"/>
    <p:sldId id="284" r:id="rId19"/>
    <p:sldId id="274" r:id="rId20"/>
    <p:sldId id="285" r:id="rId21"/>
    <p:sldId id="276" r:id="rId22"/>
    <p:sldId id="277" r:id="rId23"/>
    <p:sldId id="286" r:id="rId24"/>
    <p:sldId id="28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53" y="89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6503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E293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93A2B8"/>
                </a:solidFill>
                <a:latin typeface="Calibri"/>
                <a:cs typeface="Calibri"/>
              </a:defRPr>
            </a:lvl1pPr>
          </a:lstStyle>
          <a:p>
            <a:pPr marL="12700">
              <a:lnSpc>
                <a:spcPts val="955"/>
              </a:lnSpc>
            </a:pPr>
            <a:r>
              <a:rPr dirty="0"/>
              <a:t>SpeeDT</a:t>
            </a:r>
            <a:r>
              <a:rPr spc="195" dirty="0"/>
              <a:t> </a:t>
            </a:r>
            <a:r>
              <a:rPr dirty="0"/>
              <a:t>Task</a:t>
            </a:r>
            <a:r>
              <a:rPr spc="-20" dirty="0"/>
              <a:t> </a:t>
            </a:r>
            <a:r>
              <a:rPr dirty="0"/>
              <a:t>6:</a:t>
            </a:r>
            <a:r>
              <a:rPr spc="-20" dirty="0"/>
              <a:t> </a:t>
            </a:r>
            <a:r>
              <a:rPr spc="-10" dirty="0"/>
              <a:t>Database</a:t>
            </a:r>
            <a:r>
              <a:rPr spc="-30" dirty="0"/>
              <a:t> </a:t>
            </a:r>
            <a:r>
              <a:rPr dirty="0"/>
              <a:t>Design and</a:t>
            </a:r>
            <a:r>
              <a:rPr spc="-5" dirty="0"/>
              <a:t> </a:t>
            </a:r>
            <a:r>
              <a:rPr spc="-10" dirty="0"/>
              <a:t>Implementation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7/4/2026</a:t>
            </a:fld>
            <a:endParaRPr lang="en-US"/>
          </a:p>
        </p:txBody>
      </p:sp>
      <p:sp>
        <p:nvSpPr>
          <p:cNvPr id="6" name="Holder 6"/>
          <p:cNvSpPr>
            <a:spLocks noGrp="1"/>
          </p:cNvSpPr>
          <p:nvPr>
            <p:ph type="sldNum" sz="quarter" idx="7"/>
          </p:nvPr>
        </p:nvSpPr>
        <p:spPr/>
        <p:txBody>
          <a:bodyPr lIns="0" tIns="0" rIns="0" bIns="0"/>
          <a:lstStyle>
            <a:lvl1pPr>
              <a:defRPr sz="900" b="0" i="0">
                <a:solidFill>
                  <a:srgbClr val="93A2B8"/>
                </a:solidFill>
                <a:latin typeface="Calibri"/>
                <a:cs typeface="Calibri"/>
              </a:defRPr>
            </a:lvl1pPr>
          </a:lstStyle>
          <a:p>
            <a:pPr marL="95885">
              <a:lnSpc>
                <a:spcPts val="955"/>
              </a:lnSpc>
            </a:pPr>
            <a:fld id="{81D60167-4931-47E6-BA6A-407CBD079E47}" type="slidenum">
              <a:rPr spc="-50" dirty="0"/>
              <a:t>‹#›</a:t>
            </a:fld>
            <a:endParaRPr spc="-50" dirty="0"/>
          </a:p>
        </p:txBody>
      </p:sp>
    </p:spTree>
    <p:extLst>
      <p:ext uri="{BB962C8B-B14F-4D97-AF65-F5344CB8AC3E}">
        <p14:creationId xmlns:p14="http://schemas.microsoft.com/office/powerpoint/2010/main" val="3397004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000" b="1" i="0">
                <a:solidFill>
                  <a:srgbClr val="1E293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93A2B8"/>
                </a:solidFill>
                <a:latin typeface="Calibri"/>
                <a:cs typeface="Calibri"/>
              </a:defRPr>
            </a:lvl1pPr>
          </a:lstStyle>
          <a:p>
            <a:pPr marL="12700">
              <a:lnSpc>
                <a:spcPts val="955"/>
              </a:lnSpc>
            </a:pPr>
            <a:r>
              <a:rPr dirty="0"/>
              <a:t>SpeeDT</a:t>
            </a:r>
            <a:r>
              <a:rPr spc="195" dirty="0"/>
              <a:t> </a:t>
            </a:r>
            <a:r>
              <a:rPr dirty="0"/>
              <a:t>Task</a:t>
            </a:r>
            <a:r>
              <a:rPr spc="-20" dirty="0"/>
              <a:t> </a:t>
            </a:r>
            <a:r>
              <a:rPr dirty="0"/>
              <a:t>6:</a:t>
            </a:r>
            <a:r>
              <a:rPr spc="-20" dirty="0"/>
              <a:t> </a:t>
            </a:r>
            <a:r>
              <a:rPr spc="-10" dirty="0"/>
              <a:t>Database</a:t>
            </a:r>
            <a:r>
              <a:rPr spc="-30" dirty="0"/>
              <a:t> </a:t>
            </a:r>
            <a:r>
              <a:rPr dirty="0"/>
              <a:t>Design and</a:t>
            </a:r>
            <a:r>
              <a:rPr spc="-5" dirty="0"/>
              <a:t> </a:t>
            </a:r>
            <a:r>
              <a:rPr spc="-10" dirty="0"/>
              <a:t>Implementation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7/4/2026</a:t>
            </a:fld>
            <a:endParaRPr lang="en-US"/>
          </a:p>
        </p:txBody>
      </p:sp>
      <p:sp>
        <p:nvSpPr>
          <p:cNvPr id="5" name="Holder 5"/>
          <p:cNvSpPr>
            <a:spLocks noGrp="1"/>
          </p:cNvSpPr>
          <p:nvPr>
            <p:ph type="sldNum" sz="quarter" idx="7"/>
          </p:nvPr>
        </p:nvSpPr>
        <p:spPr/>
        <p:txBody>
          <a:bodyPr lIns="0" tIns="0" rIns="0" bIns="0"/>
          <a:lstStyle>
            <a:lvl1pPr>
              <a:defRPr sz="900" b="0" i="0">
                <a:solidFill>
                  <a:srgbClr val="93A2B8"/>
                </a:solidFill>
                <a:latin typeface="Calibri"/>
                <a:cs typeface="Calibri"/>
              </a:defRPr>
            </a:lvl1pPr>
          </a:lstStyle>
          <a:p>
            <a:pPr marL="95885">
              <a:lnSpc>
                <a:spcPts val="955"/>
              </a:lnSpc>
            </a:pPr>
            <a:fld id="{81D60167-4931-47E6-BA6A-407CBD079E47}" type="slidenum">
              <a:rPr spc="-50" dirty="0"/>
              <a:t>‹#›</a:t>
            </a:fld>
            <a:endParaRPr spc="-50" dirty="0"/>
          </a:p>
        </p:txBody>
      </p:sp>
    </p:spTree>
    <p:extLst>
      <p:ext uri="{BB962C8B-B14F-4D97-AF65-F5344CB8AC3E}">
        <p14:creationId xmlns:p14="http://schemas.microsoft.com/office/powerpoint/2010/main" val="34598716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0.jpg"/><Relationship Id="rId4" Type="http://schemas.openxmlformats.org/officeDocument/2006/relationships/image" Target="../media/image29.jp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3.jpg"/><Relationship Id="rId4" Type="http://schemas.openxmlformats.org/officeDocument/2006/relationships/image" Target="../media/image32.jp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6.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jpg"/><Relationship Id="rId1" Type="http://schemas.openxmlformats.org/officeDocument/2006/relationships/slideLayout" Target="../slideLayouts/slideLayout3.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505"/>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80644" y="489204"/>
              <a:ext cx="651510" cy="651510"/>
            </a:xfrm>
            <a:prstGeom prst="rect">
              <a:avLst/>
            </a:prstGeom>
          </p:spPr>
        </p:pic>
        <p:sp>
          <p:nvSpPr>
            <p:cNvPr id="5" name="object 5"/>
            <p:cNvSpPr/>
            <p:nvPr/>
          </p:nvSpPr>
          <p:spPr>
            <a:xfrm>
              <a:off x="640080" y="548640"/>
              <a:ext cx="502920" cy="502920"/>
            </a:xfrm>
            <a:custGeom>
              <a:avLst/>
              <a:gdLst/>
              <a:ahLst/>
              <a:cxnLst/>
              <a:rect l="l" t="t" r="r" b="b"/>
              <a:pathLst>
                <a:path w="502919" h="502919">
                  <a:moveTo>
                    <a:pt x="251460" y="0"/>
                  </a:moveTo>
                  <a:lnTo>
                    <a:pt x="206260" y="4049"/>
                  </a:lnTo>
                  <a:lnTo>
                    <a:pt x="163718" y="15725"/>
                  </a:lnTo>
                  <a:lnTo>
                    <a:pt x="124544" y="34318"/>
                  </a:lnTo>
                  <a:lnTo>
                    <a:pt x="89448" y="59120"/>
                  </a:lnTo>
                  <a:lnTo>
                    <a:pt x="59141" y="89422"/>
                  </a:lnTo>
                  <a:lnTo>
                    <a:pt x="34332" y="124516"/>
                  </a:lnTo>
                  <a:lnTo>
                    <a:pt x="15732" y="163693"/>
                  </a:lnTo>
                  <a:lnTo>
                    <a:pt x="4051" y="206243"/>
                  </a:lnTo>
                  <a:lnTo>
                    <a:pt x="0" y="251460"/>
                  </a:lnTo>
                  <a:lnTo>
                    <a:pt x="4051" y="296676"/>
                  </a:lnTo>
                  <a:lnTo>
                    <a:pt x="15732" y="339226"/>
                  </a:lnTo>
                  <a:lnTo>
                    <a:pt x="34332" y="378403"/>
                  </a:lnTo>
                  <a:lnTo>
                    <a:pt x="59141" y="413497"/>
                  </a:lnTo>
                  <a:lnTo>
                    <a:pt x="89448" y="443799"/>
                  </a:lnTo>
                  <a:lnTo>
                    <a:pt x="124544" y="468601"/>
                  </a:lnTo>
                  <a:lnTo>
                    <a:pt x="163718" y="487194"/>
                  </a:lnTo>
                  <a:lnTo>
                    <a:pt x="206260" y="498870"/>
                  </a:lnTo>
                  <a:lnTo>
                    <a:pt x="251460" y="502920"/>
                  </a:lnTo>
                  <a:lnTo>
                    <a:pt x="296659" y="498870"/>
                  </a:lnTo>
                  <a:lnTo>
                    <a:pt x="339201" y="487194"/>
                  </a:lnTo>
                  <a:lnTo>
                    <a:pt x="378375" y="468601"/>
                  </a:lnTo>
                  <a:lnTo>
                    <a:pt x="413471" y="443799"/>
                  </a:lnTo>
                  <a:lnTo>
                    <a:pt x="443778" y="413497"/>
                  </a:lnTo>
                  <a:lnTo>
                    <a:pt x="468587" y="378403"/>
                  </a:lnTo>
                  <a:lnTo>
                    <a:pt x="487187" y="339226"/>
                  </a:lnTo>
                  <a:lnTo>
                    <a:pt x="498868" y="296676"/>
                  </a:lnTo>
                  <a:lnTo>
                    <a:pt x="502920" y="251460"/>
                  </a:lnTo>
                  <a:lnTo>
                    <a:pt x="498868" y="206243"/>
                  </a:lnTo>
                  <a:lnTo>
                    <a:pt x="487187" y="163693"/>
                  </a:lnTo>
                  <a:lnTo>
                    <a:pt x="468587" y="124516"/>
                  </a:lnTo>
                  <a:lnTo>
                    <a:pt x="443778" y="89422"/>
                  </a:lnTo>
                  <a:lnTo>
                    <a:pt x="413471" y="59120"/>
                  </a:lnTo>
                  <a:lnTo>
                    <a:pt x="378375" y="34318"/>
                  </a:lnTo>
                  <a:lnTo>
                    <a:pt x="339201" y="15725"/>
                  </a:lnTo>
                  <a:lnTo>
                    <a:pt x="296659" y="4049"/>
                  </a:lnTo>
                  <a:lnTo>
                    <a:pt x="251460" y="0"/>
                  </a:lnTo>
                  <a:close/>
                </a:path>
              </a:pathLst>
            </a:custGeom>
            <a:solidFill>
              <a:srgbClr val="2462EB"/>
            </a:solidFill>
          </p:spPr>
          <p:txBody>
            <a:bodyPr wrap="square" lIns="0" tIns="0" rIns="0" bIns="0" rtlCol="0"/>
            <a:lstStyle/>
            <a:p>
              <a:endParaRPr/>
            </a:p>
          </p:txBody>
        </p:sp>
        <p:pic>
          <p:nvPicPr>
            <p:cNvPr id="6" name="object 6"/>
            <p:cNvPicPr/>
            <p:nvPr/>
          </p:nvPicPr>
          <p:blipFill>
            <a:blip r:embed="rId4" cstate="print"/>
            <a:stretch>
              <a:fillRect/>
            </a:stretch>
          </p:blipFill>
          <p:spPr>
            <a:xfrm>
              <a:off x="749808" y="658368"/>
              <a:ext cx="283464" cy="283463"/>
            </a:xfrm>
            <a:prstGeom prst="rect">
              <a:avLst/>
            </a:prstGeom>
          </p:spPr>
        </p:pic>
      </p:grpSp>
      <p:sp>
        <p:nvSpPr>
          <p:cNvPr id="7" name="object 7"/>
          <p:cNvSpPr txBox="1"/>
          <p:nvPr/>
        </p:nvSpPr>
        <p:spPr>
          <a:xfrm>
            <a:off x="1359153" y="627634"/>
            <a:ext cx="4623435" cy="223520"/>
          </a:xfrm>
          <a:prstGeom prst="rect">
            <a:avLst/>
          </a:prstGeom>
        </p:spPr>
        <p:txBody>
          <a:bodyPr vert="horz" wrap="square" lIns="0" tIns="12065" rIns="0" bIns="0" rtlCol="0">
            <a:spAutoFit/>
          </a:bodyPr>
          <a:lstStyle/>
          <a:p>
            <a:pPr marL="12700">
              <a:lnSpc>
                <a:spcPct val="100000"/>
              </a:lnSpc>
              <a:spcBef>
                <a:spcPts val="95"/>
              </a:spcBef>
            </a:pPr>
            <a:r>
              <a:rPr sz="1300" b="1" spc="85" dirty="0">
                <a:solidFill>
                  <a:srgbClr val="2462EB"/>
                </a:solidFill>
                <a:latin typeface="Calibri"/>
                <a:cs typeface="Calibri"/>
              </a:rPr>
              <a:t>CEF</a:t>
            </a:r>
            <a:r>
              <a:rPr sz="1300" b="1" spc="-150" dirty="0">
                <a:solidFill>
                  <a:srgbClr val="2462EB"/>
                </a:solidFill>
                <a:latin typeface="Calibri"/>
                <a:cs typeface="Calibri"/>
              </a:rPr>
              <a:t> </a:t>
            </a:r>
            <a:r>
              <a:rPr sz="1300" b="1" spc="90" dirty="0">
                <a:solidFill>
                  <a:srgbClr val="2462EB"/>
                </a:solidFill>
                <a:latin typeface="Calibri"/>
                <a:cs typeface="Calibri"/>
              </a:rPr>
              <a:t>440</a:t>
            </a:r>
            <a:r>
              <a:rPr sz="1300" b="1" spc="-145" dirty="0">
                <a:solidFill>
                  <a:srgbClr val="2462EB"/>
                </a:solidFill>
                <a:latin typeface="Calibri"/>
                <a:cs typeface="Calibri"/>
              </a:rPr>
              <a:t> </a:t>
            </a:r>
            <a:r>
              <a:rPr sz="1300" b="1" dirty="0">
                <a:solidFill>
                  <a:srgbClr val="2462EB"/>
                </a:solidFill>
                <a:latin typeface="Calibri"/>
                <a:cs typeface="Calibri"/>
              </a:rPr>
              <a:t>:</a:t>
            </a:r>
            <a:r>
              <a:rPr sz="1300" b="1" spc="375" dirty="0">
                <a:solidFill>
                  <a:srgbClr val="2462EB"/>
                </a:solidFill>
                <a:latin typeface="Calibri"/>
                <a:cs typeface="Calibri"/>
              </a:rPr>
              <a:t> </a:t>
            </a:r>
            <a:r>
              <a:rPr sz="1300" b="1" spc="120" dirty="0">
                <a:solidFill>
                  <a:srgbClr val="2462EB"/>
                </a:solidFill>
                <a:latin typeface="Calibri"/>
                <a:cs typeface="Calibri"/>
              </a:rPr>
              <a:t>PROGRAMMING</a:t>
            </a:r>
            <a:r>
              <a:rPr sz="1300" b="1" spc="375" dirty="0">
                <a:solidFill>
                  <a:srgbClr val="2462EB"/>
                </a:solidFill>
                <a:latin typeface="Calibri"/>
                <a:cs typeface="Calibri"/>
              </a:rPr>
              <a:t> </a:t>
            </a:r>
            <a:r>
              <a:rPr sz="1300" b="1" spc="80" dirty="0">
                <a:solidFill>
                  <a:srgbClr val="2462EB"/>
                </a:solidFill>
                <a:latin typeface="Calibri"/>
                <a:cs typeface="Calibri"/>
              </a:rPr>
              <a:t>AND</a:t>
            </a:r>
            <a:r>
              <a:rPr sz="1300" b="1" spc="360" dirty="0">
                <a:solidFill>
                  <a:srgbClr val="2462EB"/>
                </a:solidFill>
                <a:latin typeface="Calibri"/>
                <a:cs typeface="Calibri"/>
              </a:rPr>
              <a:t> </a:t>
            </a:r>
            <a:r>
              <a:rPr sz="1300" b="1" spc="110" dirty="0">
                <a:solidFill>
                  <a:srgbClr val="2462EB"/>
                </a:solidFill>
                <a:latin typeface="Calibri"/>
                <a:cs typeface="Calibri"/>
              </a:rPr>
              <a:t>MOBILE</a:t>
            </a:r>
            <a:r>
              <a:rPr sz="1300" b="1" spc="370" dirty="0">
                <a:solidFill>
                  <a:srgbClr val="2462EB"/>
                </a:solidFill>
                <a:latin typeface="Calibri"/>
                <a:cs typeface="Calibri"/>
              </a:rPr>
              <a:t> </a:t>
            </a:r>
            <a:r>
              <a:rPr sz="1300" b="1" spc="110" dirty="0">
                <a:solidFill>
                  <a:srgbClr val="2462EB"/>
                </a:solidFill>
                <a:latin typeface="Calibri"/>
                <a:cs typeface="Calibri"/>
              </a:rPr>
              <a:t>PROGRAMMING</a:t>
            </a:r>
            <a:endParaRPr sz="1300">
              <a:latin typeface="Calibri"/>
              <a:cs typeface="Calibri"/>
            </a:endParaRPr>
          </a:p>
        </p:txBody>
      </p:sp>
      <p:sp>
        <p:nvSpPr>
          <p:cNvPr id="8" name="object 8" descr="$PPTXTitle"/>
          <p:cNvSpPr txBox="1">
            <a:spLocks noGrp="1"/>
          </p:cNvSpPr>
          <p:nvPr>
            <p:ph type="title"/>
          </p:nvPr>
        </p:nvSpPr>
        <p:spPr>
          <a:xfrm>
            <a:off x="580644" y="1353503"/>
            <a:ext cx="4982845" cy="848994"/>
          </a:xfrm>
          <a:prstGeom prst="rect">
            <a:avLst/>
          </a:prstGeom>
        </p:spPr>
        <p:txBody>
          <a:bodyPr vert="horz" wrap="square" lIns="0" tIns="12700" rIns="0" bIns="0" rtlCol="0">
            <a:spAutoFit/>
          </a:bodyPr>
          <a:lstStyle/>
          <a:p>
            <a:pPr marL="12700">
              <a:lnSpc>
                <a:spcPct val="100000"/>
              </a:lnSpc>
              <a:spcBef>
                <a:spcPts val="100"/>
              </a:spcBef>
            </a:pPr>
            <a:r>
              <a:rPr sz="5400" dirty="0" err="1"/>
              <a:t>SpeeDT</a:t>
            </a:r>
            <a:endParaRPr sz="5400" dirty="0"/>
          </a:p>
        </p:txBody>
      </p:sp>
      <p:sp>
        <p:nvSpPr>
          <p:cNvPr id="9" name="object 9"/>
          <p:cNvSpPr txBox="1"/>
          <p:nvPr/>
        </p:nvSpPr>
        <p:spPr>
          <a:xfrm>
            <a:off x="580644" y="4340284"/>
            <a:ext cx="5100955" cy="381515"/>
          </a:xfrm>
          <a:prstGeom prst="rect">
            <a:avLst/>
          </a:prstGeom>
        </p:spPr>
        <p:txBody>
          <a:bodyPr vert="horz" wrap="square" lIns="0" tIns="12065" rIns="0" bIns="0" rtlCol="0">
            <a:spAutoFit/>
          </a:bodyPr>
          <a:lstStyle/>
          <a:p>
            <a:pPr marL="12700">
              <a:lnSpc>
                <a:spcPct val="100000"/>
              </a:lnSpc>
              <a:spcBef>
                <a:spcPts val="95"/>
              </a:spcBef>
            </a:pPr>
            <a:r>
              <a:rPr sz="2200" spc="-35" dirty="0">
                <a:solidFill>
                  <a:srgbClr val="63748A"/>
                </a:solidFill>
                <a:latin typeface="Calibri"/>
                <a:cs typeface="Calibri"/>
              </a:rPr>
              <a:t>Task</a:t>
            </a:r>
            <a:r>
              <a:rPr sz="2200" spc="-45" dirty="0">
                <a:solidFill>
                  <a:srgbClr val="63748A"/>
                </a:solidFill>
                <a:latin typeface="Calibri"/>
                <a:cs typeface="Calibri"/>
              </a:rPr>
              <a:t> </a:t>
            </a:r>
            <a:r>
              <a:rPr lang="en-US" sz="2200" spc="-45" dirty="0">
                <a:solidFill>
                  <a:srgbClr val="63748A"/>
                </a:solidFill>
                <a:latin typeface="Calibri"/>
                <a:cs typeface="Calibri"/>
              </a:rPr>
              <a:t>7: </a:t>
            </a:r>
            <a:r>
              <a:rPr lang="en-US" sz="2400" i="1" dirty="0">
                <a:solidFill>
                  <a:schemeClr val="tx1">
                    <a:lumMod val="95000"/>
                    <a:lumOff val="5000"/>
                  </a:schemeClr>
                </a:solidFill>
                <a:latin typeface="Calibri" pitchFamily="34" charset="0"/>
                <a:ea typeface="Calibri" pitchFamily="34" charset="-122"/>
                <a:cs typeface="Calibri" pitchFamily="34" charset="-120"/>
              </a:rPr>
              <a:t>Final Project Presentation</a:t>
            </a:r>
            <a:endParaRPr sz="2200" dirty="0">
              <a:solidFill>
                <a:schemeClr val="tx1">
                  <a:lumMod val="95000"/>
                  <a:lumOff val="5000"/>
                </a:schemeClr>
              </a:solidFill>
              <a:latin typeface="Calibri"/>
              <a:cs typeface="Calibri"/>
            </a:endParaRPr>
          </a:p>
        </p:txBody>
      </p:sp>
      <p:grpSp>
        <p:nvGrpSpPr>
          <p:cNvPr id="10" name="object 10"/>
          <p:cNvGrpSpPr/>
          <p:nvPr/>
        </p:nvGrpSpPr>
        <p:grpSpPr>
          <a:xfrm>
            <a:off x="531876" y="4966677"/>
            <a:ext cx="2249805" cy="1496695"/>
            <a:chOff x="531876" y="4966677"/>
            <a:chExt cx="2249805" cy="1496695"/>
          </a:xfrm>
        </p:grpSpPr>
        <p:pic>
          <p:nvPicPr>
            <p:cNvPr id="11" name="object 11"/>
            <p:cNvPicPr/>
            <p:nvPr/>
          </p:nvPicPr>
          <p:blipFill>
            <a:blip r:embed="rId5" cstate="print"/>
            <a:stretch>
              <a:fillRect/>
            </a:stretch>
          </p:blipFill>
          <p:spPr>
            <a:xfrm>
              <a:off x="531876" y="4966677"/>
              <a:ext cx="2249424" cy="1496568"/>
            </a:xfrm>
            <a:prstGeom prst="rect">
              <a:avLst/>
            </a:prstGeom>
          </p:spPr>
        </p:pic>
        <p:sp>
          <p:nvSpPr>
            <p:cNvPr id="12" name="object 12"/>
            <p:cNvSpPr/>
            <p:nvPr/>
          </p:nvSpPr>
          <p:spPr>
            <a:xfrm>
              <a:off x="640080" y="5074919"/>
              <a:ext cx="1988185" cy="1234440"/>
            </a:xfrm>
            <a:custGeom>
              <a:avLst/>
              <a:gdLst/>
              <a:ahLst/>
              <a:cxnLst/>
              <a:rect l="l" t="t" r="r" b="b"/>
              <a:pathLst>
                <a:path w="1988185" h="1234439">
                  <a:moveTo>
                    <a:pt x="1896237" y="0"/>
                  </a:moveTo>
                  <a:lnTo>
                    <a:pt x="91440" y="0"/>
                  </a:lnTo>
                  <a:lnTo>
                    <a:pt x="55844" y="7179"/>
                  </a:lnTo>
                  <a:lnTo>
                    <a:pt x="26779" y="26765"/>
                  </a:lnTo>
                  <a:lnTo>
                    <a:pt x="7184" y="55828"/>
                  </a:lnTo>
                  <a:lnTo>
                    <a:pt x="0" y="91439"/>
                  </a:lnTo>
                  <a:lnTo>
                    <a:pt x="0" y="1142999"/>
                  </a:lnTo>
                  <a:lnTo>
                    <a:pt x="7184" y="1178595"/>
                  </a:lnTo>
                  <a:lnTo>
                    <a:pt x="26779" y="1207660"/>
                  </a:lnTo>
                  <a:lnTo>
                    <a:pt x="55844" y="1227255"/>
                  </a:lnTo>
                  <a:lnTo>
                    <a:pt x="91440" y="1234439"/>
                  </a:lnTo>
                  <a:lnTo>
                    <a:pt x="1896237" y="1234439"/>
                  </a:lnTo>
                  <a:lnTo>
                    <a:pt x="1931848" y="1227255"/>
                  </a:lnTo>
                  <a:lnTo>
                    <a:pt x="1960911" y="1207660"/>
                  </a:lnTo>
                  <a:lnTo>
                    <a:pt x="1980497" y="1178595"/>
                  </a:lnTo>
                  <a:lnTo>
                    <a:pt x="1987677" y="1142999"/>
                  </a:lnTo>
                  <a:lnTo>
                    <a:pt x="1987677" y="91439"/>
                  </a:lnTo>
                  <a:lnTo>
                    <a:pt x="1980497" y="55828"/>
                  </a:lnTo>
                  <a:lnTo>
                    <a:pt x="1960911" y="26765"/>
                  </a:lnTo>
                  <a:lnTo>
                    <a:pt x="1931848" y="7179"/>
                  </a:lnTo>
                  <a:lnTo>
                    <a:pt x="1896237" y="0"/>
                  </a:lnTo>
                  <a:close/>
                </a:path>
              </a:pathLst>
            </a:custGeom>
            <a:solidFill>
              <a:srgbClr val="FFFFFF"/>
            </a:solidFill>
          </p:spPr>
          <p:txBody>
            <a:bodyPr wrap="square" lIns="0" tIns="0" rIns="0" bIns="0" rtlCol="0"/>
            <a:lstStyle/>
            <a:p>
              <a:endParaRPr/>
            </a:p>
          </p:txBody>
        </p:sp>
        <p:sp>
          <p:nvSpPr>
            <p:cNvPr id="13" name="object 13"/>
            <p:cNvSpPr/>
            <p:nvPr/>
          </p:nvSpPr>
          <p:spPr>
            <a:xfrm>
              <a:off x="640080" y="5074919"/>
              <a:ext cx="1988185" cy="1234440"/>
            </a:xfrm>
            <a:custGeom>
              <a:avLst/>
              <a:gdLst/>
              <a:ahLst/>
              <a:cxnLst/>
              <a:rect l="l" t="t" r="r" b="b"/>
              <a:pathLst>
                <a:path w="1988185" h="1234439">
                  <a:moveTo>
                    <a:pt x="0" y="91439"/>
                  </a:moveTo>
                  <a:lnTo>
                    <a:pt x="7184" y="55828"/>
                  </a:lnTo>
                  <a:lnTo>
                    <a:pt x="26779" y="26765"/>
                  </a:lnTo>
                  <a:lnTo>
                    <a:pt x="55844" y="7179"/>
                  </a:lnTo>
                  <a:lnTo>
                    <a:pt x="91440" y="0"/>
                  </a:lnTo>
                  <a:lnTo>
                    <a:pt x="1896237" y="0"/>
                  </a:lnTo>
                  <a:lnTo>
                    <a:pt x="1931848" y="7179"/>
                  </a:lnTo>
                  <a:lnTo>
                    <a:pt x="1960911" y="26765"/>
                  </a:lnTo>
                  <a:lnTo>
                    <a:pt x="1980497" y="55828"/>
                  </a:lnTo>
                  <a:lnTo>
                    <a:pt x="1987677" y="91439"/>
                  </a:lnTo>
                  <a:lnTo>
                    <a:pt x="1987677" y="1142999"/>
                  </a:lnTo>
                  <a:lnTo>
                    <a:pt x="1980497" y="1178595"/>
                  </a:lnTo>
                  <a:lnTo>
                    <a:pt x="1960911" y="1207660"/>
                  </a:lnTo>
                  <a:lnTo>
                    <a:pt x="1931848" y="1227255"/>
                  </a:lnTo>
                  <a:lnTo>
                    <a:pt x="1896237" y="1234439"/>
                  </a:lnTo>
                  <a:lnTo>
                    <a:pt x="91440" y="1234439"/>
                  </a:lnTo>
                  <a:lnTo>
                    <a:pt x="55844" y="1227255"/>
                  </a:lnTo>
                  <a:lnTo>
                    <a:pt x="26779" y="1207660"/>
                  </a:lnTo>
                  <a:lnTo>
                    <a:pt x="7184" y="1178595"/>
                  </a:lnTo>
                  <a:lnTo>
                    <a:pt x="0" y="1142999"/>
                  </a:lnTo>
                  <a:lnTo>
                    <a:pt x="0" y="91439"/>
                  </a:lnTo>
                  <a:close/>
                </a:path>
              </a:pathLst>
            </a:custGeom>
            <a:ln w="12700">
              <a:solidFill>
                <a:srgbClr val="E1E8EF"/>
              </a:solidFill>
            </a:ln>
          </p:spPr>
          <p:txBody>
            <a:bodyPr wrap="square" lIns="0" tIns="0" rIns="0" bIns="0" rtlCol="0"/>
            <a:lstStyle/>
            <a:p>
              <a:endParaRPr/>
            </a:p>
          </p:txBody>
        </p:sp>
      </p:grpSp>
      <p:sp>
        <p:nvSpPr>
          <p:cNvPr id="14" name="object 14"/>
          <p:cNvSpPr txBox="1"/>
          <p:nvPr/>
        </p:nvSpPr>
        <p:spPr>
          <a:xfrm>
            <a:off x="855980" y="5226558"/>
            <a:ext cx="1200150" cy="771525"/>
          </a:xfrm>
          <a:prstGeom prst="rect">
            <a:avLst/>
          </a:prstGeom>
        </p:spPr>
        <p:txBody>
          <a:bodyPr vert="horz" wrap="square" lIns="0" tIns="12700" rIns="0" bIns="0" rtlCol="0">
            <a:spAutoFit/>
          </a:bodyPr>
          <a:lstStyle/>
          <a:p>
            <a:pPr marL="12700">
              <a:lnSpc>
                <a:spcPct val="100000"/>
              </a:lnSpc>
              <a:spcBef>
                <a:spcPts val="100"/>
              </a:spcBef>
            </a:pPr>
            <a:r>
              <a:rPr sz="1100" b="1" spc="70" dirty="0">
                <a:solidFill>
                  <a:srgbClr val="2462EB"/>
                </a:solidFill>
                <a:latin typeface="Calibri"/>
                <a:cs typeface="Calibri"/>
              </a:rPr>
              <a:t>GROUP</a:t>
            </a:r>
            <a:r>
              <a:rPr sz="1100" b="1" spc="215" dirty="0">
                <a:solidFill>
                  <a:srgbClr val="2462EB"/>
                </a:solidFill>
                <a:latin typeface="Calibri"/>
                <a:cs typeface="Calibri"/>
              </a:rPr>
              <a:t> </a:t>
            </a:r>
            <a:r>
              <a:rPr sz="1100" b="1" spc="-50" dirty="0">
                <a:solidFill>
                  <a:srgbClr val="2462EB"/>
                </a:solidFill>
                <a:latin typeface="Calibri"/>
                <a:cs typeface="Calibri"/>
              </a:rPr>
              <a:t>4</a:t>
            </a:r>
            <a:endParaRPr sz="1100">
              <a:latin typeface="Calibri"/>
              <a:cs typeface="Calibri"/>
            </a:endParaRPr>
          </a:p>
          <a:p>
            <a:pPr marL="12700" marR="5080">
              <a:lnSpc>
                <a:spcPct val="130000"/>
              </a:lnSpc>
              <a:spcBef>
                <a:spcPts val="805"/>
              </a:spcBef>
            </a:pPr>
            <a:r>
              <a:rPr sz="1200" dirty="0">
                <a:solidFill>
                  <a:srgbClr val="63748A"/>
                </a:solidFill>
                <a:latin typeface="Calibri"/>
                <a:cs typeface="Calibri"/>
              </a:rPr>
              <a:t>Course</a:t>
            </a:r>
            <a:r>
              <a:rPr sz="1200" spc="-50" dirty="0">
                <a:solidFill>
                  <a:srgbClr val="63748A"/>
                </a:solidFill>
                <a:latin typeface="Calibri"/>
                <a:cs typeface="Calibri"/>
              </a:rPr>
              <a:t> </a:t>
            </a:r>
            <a:r>
              <a:rPr sz="1200" spc="-10" dirty="0">
                <a:solidFill>
                  <a:srgbClr val="63748A"/>
                </a:solidFill>
                <a:latin typeface="Calibri"/>
                <a:cs typeface="Calibri"/>
              </a:rPr>
              <a:t>Instructor </a:t>
            </a:r>
            <a:r>
              <a:rPr sz="1200" spc="-40" dirty="0">
                <a:solidFill>
                  <a:srgbClr val="63748A"/>
                </a:solidFill>
                <a:latin typeface="Calibri"/>
                <a:cs typeface="Calibri"/>
              </a:rPr>
              <a:t>Dr.</a:t>
            </a:r>
            <a:r>
              <a:rPr sz="1200" spc="-20" dirty="0">
                <a:solidFill>
                  <a:srgbClr val="63748A"/>
                </a:solidFill>
                <a:latin typeface="Calibri"/>
                <a:cs typeface="Calibri"/>
              </a:rPr>
              <a:t> </a:t>
            </a:r>
            <a:r>
              <a:rPr sz="1200" spc="-10" dirty="0">
                <a:solidFill>
                  <a:srgbClr val="63748A"/>
                </a:solidFill>
                <a:latin typeface="Calibri"/>
                <a:cs typeface="Calibri"/>
              </a:rPr>
              <a:t>Nkemeni Valery</a:t>
            </a:r>
            <a:endParaRPr sz="1200">
              <a:latin typeface="Calibri"/>
              <a:cs typeface="Calibri"/>
            </a:endParaRPr>
          </a:p>
        </p:txBody>
      </p:sp>
      <p:sp>
        <p:nvSpPr>
          <p:cNvPr id="15" name="object 15"/>
          <p:cNvSpPr txBox="1"/>
          <p:nvPr/>
        </p:nvSpPr>
        <p:spPr>
          <a:xfrm>
            <a:off x="627380" y="6502400"/>
            <a:ext cx="3275965" cy="193675"/>
          </a:xfrm>
          <a:prstGeom prst="rect">
            <a:avLst/>
          </a:prstGeom>
        </p:spPr>
        <p:txBody>
          <a:bodyPr vert="horz" wrap="square" lIns="0" tIns="12700" rIns="0" bIns="0" rtlCol="0">
            <a:spAutoFit/>
          </a:bodyPr>
          <a:lstStyle/>
          <a:p>
            <a:pPr marL="12700">
              <a:lnSpc>
                <a:spcPct val="100000"/>
              </a:lnSpc>
              <a:spcBef>
                <a:spcPts val="100"/>
              </a:spcBef>
            </a:pPr>
            <a:r>
              <a:rPr sz="1100" dirty="0">
                <a:solidFill>
                  <a:srgbClr val="93A2B8"/>
                </a:solidFill>
                <a:latin typeface="Calibri"/>
                <a:cs typeface="Calibri"/>
              </a:rPr>
              <a:t>University</a:t>
            </a:r>
            <a:r>
              <a:rPr sz="1100" spc="-40" dirty="0">
                <a:solidFill>
                  <a:srgbClr val="93A2B8"/>
                </a:solidFill>
                <a:latin typeface="Calibri"/>
                <a:cs typeface="Calibri"/>
              </a:rPr>
              <a:t> </a:t>
            </a:r>
            <a:r>
              <a:rPr sz="1100" dirty="0">
                <a:solidFill>
                  <a:srgbClr val="93A2B8"/>
                </a:solidFill>
                <a:latin typeface="Calibri"/>
                <a:cs typeface="Calibri"/>
              </a:rPr>
              <a:t>of</a:t>
            </a:r>
            <a:r>
              <a:rPr sz="1100" spc="-15" dirty="0">
                <a:solidFill>
                  <a:srgbClr val="93A2B8"/>
                </a:solidFill>
                <a:latin typeface="Calibri"/>
                <a:cs typeface="Calibri"/>
              </a:rPr>
              <a:t> </a:t>
            </a:r>
            <a:r>
              <a:rPr sz="1100" dirty="0">
                <a:solidFill>
                  <a:srgbClr val="93A2B8"/>
                </a:solidFill>
                <a:latin typeface="Calibri"/>
                <a:cs typeface="Calibri"/>
              </a:rPr>
              <a:t>Buea</a:t>
            </a:r>
            <a:r>
              <a:rPr sz="1100" spc="-15" dirty="0">
                <a:solidFill>
                  <a:srgbClr val="93A2B8"/>
                </a:solidFill>
                <a:latin typeface="Calibri"/>
                <a:cs typeface="Calibri"/>
              </a:rPr>
              <a:t> </a:t>
            </a:r>
            <a:r>
              <a:rPr sz="1100" dirty="0">
                <a:solidFill>
                  <a:srgbClr val="93A2B8"/>
                </a:solidFill>
                <a:latin typeface="Calibri"/>
                <a:cs typeface="Calibri"/>
              </a:rPr>
              <a:t>Faculty</a:t>
            </a:r>
            <a:r>
              <a:rPr sz="1100" spc="-40" dirty="0">
                <a:solidFill>
                  <a:srgbClr val="93A2B8"/>
                </a:solidFill>
                <a:latin typeface="Calibri"/>
                <a:cs typeface="Calibri"/>
              </a:rPr>
              <a:t> </a:t>
            </a:r>
            <a:r>
              <a:rPr sz="1100" dirty="0">
                <a:solidFill>
                  <a:srgbClr val="93A2B8"/>
                </a:solidFill>
                <a:latin typeface="Calibri"/>
                <a:cs typeface="Calibri"/>
              </a:rPr>
              <a:t>of</a:t>
            </a:r>
            <a:r>
              <a:rPr sz="1100" spc="-15" dirty="0">
                <a:solidFill>
                  <a:srgbClr val="93A2B8"/>
                </a:solidFill>
                <a:latin typeface="Calibri"/>
                <a:cs typeface="Calibri"/>
              </a:rPr>
              <a:t> </a:t>
            </a:r>
            <a:r>
              <a:rPr sz="1100" dirty="0">
                <a:solidFill>
                  <a:srgbClr val="93A2B8"/>
                </a:solidFill>
                <a:latin typeface="Calibri"/>
                <a:cs typeface="Calibri"/>
              </a:rPr>
              <a:t>Engineering</a:t>
            </a:r>
            <a:r>
              <a:rPr sz="1100" spc="-20" dirty="0">
                <a:solidFill>
                  <a:srgbClr val="93A2B8"/>
                </a:solidFill>
                <a:latin typeface="Calibri"/>
                <a:cs typeface="Calibri"/>
              </a:rPr>
              <a:t> </a:t>
            </a:r>
            <a:r>
              <a:rPr sz="1100" dirty="0">
                <a:solidFill>
                  <a:srgbClr val="93A2B8"/>
                </a:solidFill>
                <a:latin typeface="Calibri"/>
                <a:cs typeface="Calibri"/>
              </a:rPr>
              <a:t>and</a:t>
            </a:r>
            <a:r>
              <a:rPr sz="1100" spc="-20" dirty="0">
                <a:solidFill>
                  <a:srgbClr val="93A2B8"/>
                </a:solidFill>
                <a:latin typeface="Calibri"/>
                <a:cs typeface="Calibri"/>
              </a:rPr>
              <a:t> </a:t>
            </a:r>
            <a:r>
              <a:rPr sz="1100" spc="-10" dirty="0">
                <a:solidFill>
                  <a:srgbClr val="93A2B8"/>
                </a:solidFill>
                <a:latin typeface="Calibri"/>
                <a:cs typeface="Calibri"/>
              </a:rPr>
              <a:t>Technology</a:t>
            </a:r>
            <a:endParaRPr sz="1100">
              <a:latin typeface="Calibri"/>
              <a:cs typeface="Calibri"/>
            </a:endParaRPr>
          </a:p>
        </p:txBody>
      </p:sp>
      <p:sp>
        <p:nvSpPr>
          <p:cNvPr id="17" name="Text 6">
            <a:extLst>
              <a:ext uri="{FF2B5EF4-FFF2-40B4-BE49-F238E27FC236}">
                <a16:creationId xmlns:a16="http://schemas.microsoft.com/office/drawing/2014/main" id="{B1B4166F-E992-BB0F-2599-6B17A155A248}"/>
              </a:ext>
            </a:extLst>
          </p:cNvPr>
          <p:cNvSpPr/>
          <p:nvPr/>
        </p:nvSpPr>
        <p:spPr>
          <a:xfrm>
            <a:off x="891540" y="2626040"/>
            <a:ext cx="8961120" cy="914400"/>
          </a:xfrm>
          <a:prstGeom prst="rect">
            <a:avLst/>
          </a:prstGeom>
          <a:noFill/>
          <a:ln/>
        </p:spPr>
        <p:txBody>
          <a:bodyPr wrap="square" lIns="0" tIns="0" rIns="0" bIns="0" rtlCol="0" anchor="ctr"/>
          <a:lstStyle/>
          <a:p>
            <a:pPr marL="0" indent="0">
              <a:lnSpc>
                <a:spcPct val="115000"/>
              </a:lnSpc>
              <a:buNone/>
            </a:pPr>
            <a:r>
              <a:rPr lang="en-US" sz="2000" dirty="0">
                <a:solidFill>
                  <a:schemeClr val="tx1">
                    <a:lumMod val="95000"/>
                    <a:lumOff val="5000"/>
                  </a:schemeClr>
                </a:solidFill>
                <a:latin typeface="Calibri" pitchFamily="34" charset="0"/>
                <a:ea typeface="Calibri" pitchFamily="34" charset="-122"/>
                <a:cs typeface="Calibri" pitchFamily="34" charset="-120"/>
              </a:rPr>
              <a:t>A Quality of Experience Mobile Network Monitoring Application for</a:t>
            </a:r>
            <a:endParaRPr lang="en-US" sz="2000" dirty="0">
              <a:solidFill>
                <a:schemeClr val="tx1">
                  <a:lumMod val="95000"/>
                  <a:lumOff val="5000"/>
                </a:schemeClr>
              </a:solidFill>
            </a:endParaRPr>
          </a:p>
          <a:p>
            <a:pPr marL="0" indent="0">
              <a:lnSpc>
                <a:spcPct val="115000"/>
              </a:lnSpc>
              <a:buNone/>
            </a:pPr>
            <a:r>
              <a:rPr lang="en-US" sz="2000" dirty="0">
                <a:solidFill>
                  <a:schemeClr val="tx1">
                    <a:lumMod val="95000"/>
                    <a:lumOff val="5000"/>
                  </a:schemeClr>
                </a:solidFill>
                <a:latin typeface="Calibri" pitchFamily="34" charset="0"/>
                <a:ea typeface="Calibri" pitchFamily="34" charset="-122"/>
                <a:cs typeface="Calibri" pitchFamily="34" charset="-120"/>
              </a:rPr>
              <a:t>Mobile Network Subscribers in Cameroon</a:t>
            </a:r>
            <a:endParaRPr lang="en-US" sz="2000"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Table of Contents</a:t>
            </a:r>
            <a:endParaRPr lang="en-US" sz="3000" dirty="0"/>
          </a:p>
        </p:txBody>
      </p:sp>
      <p:sp>
        <p:nvSpPr>
          <p:cNvPr id="4" name="Shape 2"/>
          <p:cNvSpPr/>
          <p:nvPr/>
        </p:nvSpPr>
        <p:spPr>
          <a:xfrm>
            <a:off x="640080" y="173736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896112" y="1993392"/>
            <a:ext cx="640080" cy="640080"/>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1004926" y="2102206"/>
            <a:ext cx="422453" cy="422453"/>
          </a:xfrm>
          <a:prstGeom prst="rect">
            <a:avLst/>
          </a:prstGeom>
        </p:spPr>
      </p:pic>
      <p:sp>
        <p:nvSpPr>
          <p:cNvPr id="7" name="Text 4"/>
          <p:cNvSpPr/>
          <p:nvPr/>
        </p:nvSpPr>
        <p:spPr>
          <a:xfrm>
            <a:off x="1691640" y="190195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1691640" y="226771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Problem &amp; Motivation</a:t>
            </a:r>
            <a:endParaRPr lang="en-US" sz="1650" dirty="0"/>
          </a:p>
        </p:txBody>
      </p:sp>
      <p:sp>
        <p:nvSpPr>
          <p:cNvPr id="9" name="Text 6"/>
          <p:cNvSpPr/>
          <p:nvPr/>
        </p:nvSpPr>
        <p:spPr>
          <a:xfrm>
            <a:off x="1691640" y="265176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The QoE gap and what our survey revealed</a:t>
            </a:r>
            <a:endParaRPr lang="en-US" sz="1100" dirty="0"/>
          </a:p>
        </p:txBody>
      </p:sp>
      <p:sp>
        <p:nvSpPr>
          <p:cNvPr id="10" name="Shape 7"/>
          <p:cNvSpPr/>
          <p:nvPr/>
        </p:nvSpPr>
        <p:spPr>
          <a:xfrm>
            <a:off x="6309360" y="173736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11" name="Shape 8"/>
          <p:cNvSpPr/>
          <p:nvPr/>
        </p:nvSpPr>
        <p:spPr>
          <a:xfrm>
            <a:off x="6565392" y="1993392"/>
            <a:ext cx="640080" cy="640080"/>
          </a:xfrm>
          <a:prstGeom prst="ellipse">
            <a:avLst/>
          </a:prstGeom>
          <a:solidFill>
            <a:srgbClr val="FFFFFF"/>
          </a:solidFill>
          <a:ln/>
        </p:spPr>
      </p:sp>
      <p:pic>
        <p:nvPicPr>
          <p:cNvPr id="12" name="Image 1" descr="preencoded.png"/>
          <p:cNvPicPr>
            <a:picLocks noChangeAspect="1"/>
          </p:cNvPicPr>
          <p:nvPr/>
        </p:nvPicPr>
        <p:blipFill>
          <a:blip r:embed="rId4"/>
          <a:stretch>
            <a:fillRect/>
          </a:stretch>
        </p:blipFill>
        <p:spPr>
          <a:xfrm>
            <a:off x="6674206" y="2102206"/>
            <a:ext cx="422453" cy="422453"/>
          </a:xfrm>
          <a:prstGeom prst="rect">
            <a:avLst/>
          </a:prstGeom>
        </p:spPr>
      </p:pic>
      <p:sp>
        <p:nvSpPr>
          <p:cNvPr id="13" name="Text 9"/>
          <p:cNvSpPr/>
          <p:nvPr/>
        </p:nvSpPr>
        <p:spPr>
          <a:xfrm>
            <a:off x="7360920" y="190195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02</a:t>
            </a:r>
            <a:endParaRPr lang="en-US" sz="2200" dirty="0"/>
          </a:p>
        </p:txBody>
      </p:sp>
      <p:sp>
        <p:nvSpPr>
          <p:cNvPr id="14" name="Text 10"/>
          <p:cNvSpPr/>
          <p:nvPr/>
        </p:nvSpPr>
        <p:spPr>
          <a:xfrm>
            <a:off x="7360920" y="226771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Requirements &amp; Design</a:t>
            </a:r>
            <a:endParaRPr lang="en-US" sz="1650" dirty="0"/>
          </a:p>
        </p:txBody>
      </p:sp>
      <p:sp>
        <p:nvSpPr>
          <p:cNvPr id="15" name="Text 11"/>
          <p:cNvSpPr/>
          <p:nvPr/>
        </p:nvSpPr>
        <p:spPr>
          <a:xfrm>
            <a:off x="7360920" y="265176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From verified findings to functional specs</a:t>
            </a:r>
            <a:endParaRPr lang="en-US" sz="1100" dirty="0"/>
          </a:p>
        </p:txBody>
      </p:sp>
      <p:sp>
        <p:nvSpPr>
          <p:cNvPr id="16" name="Shape 12"/>
          <p:cNvSpPr/>
          <p:nvPr/>
        </p:nvSpPr>
        <p:spPr>
          <a:xfrm>
            <a:off x="640080" y="342900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17" name="Shape 13"/>
          <p:cNvSpPr/>
          <p:nvPr/>
        </p:nvSpPr>
        <p:spPr>
          <a:xfrm>
            <a:off x="896112" y="3685032"/>
            <a:ext cx="640080" cy="640080"/>
          </a:xfrm>
          <a:prstGeom prst="ellipse">
            <a:avLst/>
          </a:prstGeom>
          <a:solidFill>
            <a:srgbClr val="FFFFFF"/>
          </a:solidFill>
          <a:ln/>
        </p:spPr>
      </p:sp>
      <p:pic>
        <p:nvPicPr>
          <p:cNvPr id="18" name="Image 2" descr="preencoded.png"/>
          <p:cNvPicPr>
            <a:picLocks noChangeAspect="1"/>
          </p:cNvPicPr>
          <p:nvPr/>
        </p:nvPicPr>
        <p:blipFill>
          <a:blip r:embed="rId5"/>
          <a:stretch>
            <a:fillRect/>
          </a:stretch>
        </p:blipFill>
        <p:spPr>
          <a:xfrm>
            <a:off x="1004926" y="3793846"/>
            <a:ext cx="422453" cy="422453"/>
          </a:xfrm>
          <a:prstGeom prst="rect">
            <a:avLst/>
          </a:prstGeom>
        </p:spPr>
      </p:pic>
      <p:sp>
        <p:nvSpPr>
          <p:cNvPr id="19" name="Text 14"/>
          <p:cNvSpPr/>
          <p:nvPr/>
        </p:nvSpPr>
        <p:spPr>
          <a:xfrm>
            <a:off x="1691640" y="359359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03</a:t>
            </a:r>
            <a:endParaRPr lang="en-US" sz="2200" dirty="0"/>
          </a:p>
        </p:txBody>
      </p:sp>
      <p:sp>
        <p:nvSpPr>
          <p:cNvPr id="20" name="Text 15"/>
          <p:cNvSpPr/>
          <p:nvPr/>
        </p:nvSpPr>
        <p:spPr>
          <a:xfrm>
            <a:off x="1691640" y="395935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System Architecture</a:t>
            </a:r>
            <a:endParaRPr lang="en-US" sz="1650" dirty="0"/>
          </a:p>
        </p:txBody>
      </p:sp>
      <p:sp>
        <p:nvSpPr>
          <p:cNvPr id="21" name="Text 16"/>
          <p:cNvSpPr/>
          <p:nvPr/>
        </p:nvSpPr>
        <p:spPr>
          <a:xfrm>
            <a:off x="1691640" y="434340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Three-tier design, database and data flow</a:t>
            </a:r>
            <a:endParaRPr lang="en-US" sz="1100" dirty="0"/>
          </a:p>
        </p:txBody>
      </p:sp>
      <p:sp>
        <p:nvSpPr>
          <p:cNvPr id="22" name="Shape 17"/>
          <p:cNvSpPr/>
          <p:nvPr/>
        </p:nvSpPr>
        <p:spPr>
          <a:xfrm>
            <a:off x="6309360" y="342900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23" name="Shape 18"/>
          <p:cNvSpPr/>
          <p:nvPr/>
        </p:nvSpPr>
        <p:spPr>
          <a:xfrm>
            <a:off x="6565392" y="3685032"/>
            <a:ext cx="640080" cy="640080"/>
          </a:xfrm>
          <a:prstGeom prst="ellipse">
            <a:avLst/>
          </a:prstGeom>
          <a:solidFill>
            <a:srgbClr val="FFFFFF"/>
          </a:solidFill>
          <a:ln/>
        </p:spPr>
      </p:sp>
      <p:pic>
        <p:nvPicPr>
          <p:cNvPr id="24" name="Image 3" descr="preencoded.png"/>
          <p:cNvPicPr>
            <a:picLocks noChangeAspect="1"/>
          </p:cNvPicPr>
          <p:nvPr/>
        </p:nvPicPr>
        <p:blipFill>
          <a:blip r:embed="rId6"/>
          <a:stretch>
            <a:fillRect/>
          </a:stretch>
        </p:blipFill>
        <p:spPr>
          <a:xfrm>
            <a:off x="6674206" y="3793846"/>
            <a:ext cx="422453" cy="422453"/>
          </a:xfrm>
          <a:prstGeom prst="rect">
            <a:avLst/>
          </a:prstGeom>
        </p:spPr>
      </p:pic>
      <p:sp>
        <p:nvSpPr>
          <p:cNvPr id="25" name="Text 19"/>
          <p:cNvSpPr/>
          <p:nvPr/>
        </p:nvSpPr>
        <p:spPr>
          <a:xfrm>
            <a:off x="7360920" y="359359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04</a:t>
            </a:r>
            <a:endParaRPr lang="en-US" sz="2200" dirty="0"/>
          </a:p>
        </p:txBody>
      </p:sp>
      <p:sp>
        <p:nvSpPr>
          <p:cNvPr id="26" name="Text 20"/>
          <p:cNvSpPr/>
          <p:nvPr/>
        </p:nvSpPr>
        <p:spPr>
          <a:xfrm>
            <a:off x="7360920" y="395935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Implementation</a:t>
            </a:r>
            <a:endParaRPr lang="en-US" sz="1650" dirty="0"/>
          </a:p>
        </p:txBody>
      </p:sp>
      <p:sp>
        <p:nvSpPr>
          <p:cNvPr id="27" name="Text 21"/>
          <p:cNvSpPr/>
          <p:nvPr/>
        </p:nvSpPr>
        <p:spPr>
          <a:xfrm>
            <a:off x="7360920" y="434340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Frontend, backend and the working app</a:t>
            </a:r>
            <a:endParaRPr lang="en-US" sz="1100" dirty="0"/>
          </a:p>
        </p:txBody>
      </p:sp>
      <p:sp>
        <p:nvSpPr>
          <p:cNvPr id="28" name="Shape 22"/>
          <p:cNvSpPr/>
          <p:nvPr/>
        </p:nvSpPr>
        <p:spPr>
          <a:xfrm>
            <a:off x="640080" y="512064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29" name="Shape 23"/>
          <p:cNvSpPr/>
          <p:nvPr/>
        </p:nvSpPr>
        <p:spPr>
          <a:xfrm>
            <a:off x="896112" y="5376672"/>
            <a:ext cx="640080" cy="640080"/>
          </a:xfrm>
          <a:prstGeom prst="ellipse">
            <a:avLst/>
          </a:prstGeom>
          <a:solidFill>
            <a:srgbClr val="FFFFFF"/>
          </a:solidFill>
          <a:ln/>
        </p:spPr>
      </p:sp>
      <p:pic>
        <p:nvPicPr>
          <p:cNvPr id="30" name="Image 4" descr="preencoded.png"/>
          <p:cNvPicPr>
            <a:picLocks noChangeAspect="1"/>
          </p:cNvPicPr>
          <p:nvPr/>
        </p:nvPicPr>
        <p:blipFill>
          <a:blip r:embed="rId7"/>
          <a:stretch>
            <a:fillRect/>
          </a:stretch>
        </p:blipFill>
        <p:spPr>
          <a:xfrm>
            <a:off x="1004926" y="5485486"/>
            <a:ext cx="422453" cy="422453"/>
          </a:xfrm>
          <a:prstGeom prst="rect">
            <a:avLst/>
          </a:prstGeom>
        </p:spPr>
      </p:pic>
      <p:sp>
        <p:nvSpPr>
          <p:cNvPr id="31" name="Text 24"/>
          <p:cNvSpPr/>
          <p:nvPr/>
        </p:nvSpPr>
        <p:spPr>
          <a:xfrm>
            <a:off x="1691640" y="528523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05</a:t>
            </a:r>
            <a:endParaRPr lang="en-US" sz="2200" dirty="0"/>
          </a:p>
        </p:txBody>
      </p:sp>
      <p:sp>
        <p:nvSpPr>
          <p:cNvPr id="32" name="Text 25"/>
          <p:cNvSpPr/>
          <p:nvPr/>
        </p:nvSpPr>
        <p:spPr>
          <a:xfrm>
            <a:off x="1691640" y="565099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Results &amp; Evaluation</a:t>
            </a:r>
            <a:endParaRPr lang="en-US" sz="1650" dirty="0"/>
          </a:p>
        </p:txBody>
      </p:sp>
      <p:sp>
        <p:nvSpPr>
          <p:cNvPr id="33" name="Text 26"/>
          <p:cNvSpPr/>
          <p:nvPr/>
        </p:nvSpPr>
        <p:spPr>
          <a:xfrm>
            <a:off x="1691640" y="603504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What we achieved, and what remains open</a:t>
            </a:r>
            <a:endParaRPr lang="en-US" sz="1100" dirty="0"/>
          </a:p>
        </p:txBody>
      </p:sp>
      <p:sp>
        <p:nvSpPr>
          <p:cNvPr id="34" name="Shape 27"/>
          <p:cNvSpPr/>
          <p:nvPr/>
        </p:nvSpPr>
        <p:spPr>
          <a:xfrm>
            <a:off x="6309360" y="5120640"/>
            <a:ext cx="5349240" cy="1417320"/>
          </a:xfrm>
          <a:prstGeom prst="roundRect">
            <a:avLst>
              <a:gd name="adj" fmla="val 5161"/>
            </a:avLst>
          </a:prstGeom>
          <a:solidFill>
            <a:srgbClr val="F4F6FC"/>
          </a:solidFill>
          <a:ln/>
          <a:effectLst>
            <a:outerShdw blurRad="101600" dist="38100" dir="2700000" algn="bl" rotWithShape="0">
              <a:srgbClr val="000000">
                <a:alpha val="12000"/>
              </a:srgbClr>
            </a:outerShdw>
          </a:effectLst>
        </p:spPr>
      </p:sp>
      <p:sp>
        <p:nvSpPr>
          <p:cNvPr id="35" name="Shape 28"/>
          <p:cNvSpPr/>
          <p:nvPr/>
        </p:nvSpPr>
        <p:spPr>
          <a:xfrm>
            <a:off x="6565392" y="5376672"/>
            <a:ext cx="640080" cy="640080"/>
          </a:xfrm>
          <a:prstGeom prst="ellipse">
            <a:avLst/>
          </a:prstGeom>
          <a:solidFill>
            <a:srgbClr val="FFFFFF"/>
          </a:solidFill>
          <a:ln/>
        </p:spPr>
      </p:sp>
      <p:pic>
        <p:nvPicPr>
          <p:cNvPr id="36" name="Image 5" descr="preencoded.png"/>
          <p:cNvPicPr>
            <a:picLocks noChangeAspect="1"/>
          </p:cNvPicPr>
          <p:nvPr/>
        </p:nvPicPr>
        <p:blipFill>
          <a:blip r:embed="rId8"/>
          <a:stretch>
            <a:fillRect/>
          </a:stretch>
        </p:blipFill>
        <p:spPr>
          <a:xfrm>
            <a:off x="6674206" y="5485486"/>
            <a:ext cx="422453" cy="422453"/>
          </a:xfrm>
          <a:prstGeom prst="rect">
            <a:avLst/>
          </a:prstGeom>
        </p:spPr>
      </p:pic>
      <p:sp>
        <p:nvSpPr>
          <p:cNvPr id="37" name="Text 29"/>
          <p:cNvSpPr/>
          <p:nvPr/>
        </p:nvSpPr>
        <p:spPr>
          <a:xfrm>
            <a:off x="7360920" y="5285232"/>
            <a:ext cx="1097280" cy="457200"/>
          </a:xfrm>
          <a:prstGeom prst="rect">
            <a:avLst/>
          </a:prstGeom>
          <a:noFill/>
          <a:ln/>
        </p:spPr>
        <p:txBody>
          <a:bodyPr wrap="square" lIns="0" tIns="0" rIns="0" bIns="0" rtlCol="0" anchor="ctr"/>
          <a:lstStyle/>
          <a:p>
            <a:pPr marL="0" indent="0">
              <a:buNone/>
            </a:pPr>
            <a:r>
              <a:rPr lang="en-US" sz="2200" b="1" dirty="0">
                <a:solidFill>
                  <a:srgbClr val="C9C2F2"/>
                </a:solidFill>
                <a:latin typeface="Cambria" pitchFamily="34" charset="0"/>
                <a:ea typeface="Cambria" pitchFamily="34" charset="-122"/>
                <a:cs typeface="Cambria" pitchFamily="34" charset="-120"/>
              </a:rPr>
              <a:t>06</a:t>
            </a:r>
            <a:endParaRPr lang="en-US" sz="2200" dirty="0"/>
          </a:p>
        </p:txBody>
      </p:sp>
      <p:sp>
        <p:nvSpPr>
          <p:cNvPr id="38" name="Text 30"/>
          <p:cNvSpPr/>
          <p:nvPr/>
        </p:nvSpPr>
        <p:spPr>
          <a:xfrm>
            <a:off x="7360920" y="5650992"/>
            <a:ext cx="4069080" cy="411480"/>
          </a:xfrm>
          <a:prstGeom prst="rect">
            <a:avLst/>
          </a:prstGeom>
          <a:noFill/>
          <a:ln/>
        </p:spPr>
        <p:txBody>
          <a:bodyPr wrap="square" lIns="0" tIns="0" rIns="0" bIns="0" rtlCol="0" anchor="ctr"/>
          <a:lstStyle/>
          <a:p>
            <a:pPr marL="0" indent="0">
              <a:buNone/>
            </a:pPr>
            <a:r>
              <a:rPr lang="en-US" sz="1650" b="1" dirty="0">
                <a:solidFill>
                  <a:srgbClr val="112141"/>
                </a:solidFill>
                <a:latin typeface="Cambria" pitchFamily="34" charset="0"/>
                <a:ea typeface="Cambria" pitchFamily="34" charset="-122"/>
                <a:cs typeface="Cambria" pitchFamily="34" charset="-120"/>
              </a:rPr>
              <a:t>Conclusion &amp; Future Work</a:t>
            </a:r>
            <a:endParaRPr lang="en-US" sz="1650" dirty="0"/>
          </a:p>
        </p:txBody>
      </p:sp>
      <p:sp>
        <p:nvSpPr>
          <p:cNvPr id="39" name="Text 31"/>
          <p:cNvSpPr/>
          <p:nvPr/>
        </p:nvSpPr>
        <p:spPr>
          <a:xfrm>
            <a:off x="7360920" y="6035040"/>
            <a:ext cx="4069080" cy="457200"/>
          </a:xfrm>
          <a:prstGeom prst="rect">
            <a:avLst/>
          </a:prstGeom>
          <a:noFill/>
          <a:ln/>
        </p:spPr>
        <p:txBody>
          <a:bodyPr wrap="square" lIns="0" tIns="0" rIns="0" bIns="0" rtlCol="0" anchor="ctr"/>
          <a:lstStyle/>
          <a:p>
            <a:pPr marL="0" indent="0">
              <a:buNone/>
            </a:pPr>
            <a:r>
              <a:rPr lang="en-US" sz="1100" dirty="0">
                <a:solidFill>
                  <a:srgbClr val="6B7794"/>
                </a:solidFill>
                <a:latin typeface="Calibri" pitchFamily="34" charset="0"/>
                <a:ea typeface="Calibri" pitchFamily="34" charset="-122"/>
                <a:cs typeface="Calibri" pitchFamily="34" charset="-120"/>
              </a:rPr>
              <a:t>Contribution, roadmap and the team</a:t>
            </a:r>
            <a:endParaRPr lang="en-US" sz="1100" dirty="0"/>
          </a:p>
        </p:txBody>
      </p:sp>
      <p:sp>
        <p:nvSpPr>
          <p:cNvPr id="40"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41" name="Text 3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sp>
          <p:nvSpPr>
            <p:cNvPr id="5" name="object 5"/>
            <p:cNvSpPr/>
            <p:nvPr/>
          </p:nvSpPr>
          <p:spPr>
            <a:xfrm>
              <a:off x="640080" y="2331720"/>
              <a:ext cx="1188720" cy="1188720"/>
            </a:xfrm>
            <a:custGeom>
              <a:avLst/>
              <a:gdLst/>
              <a:ahLst/>
              <a:cxnLst/>
              <a:rect l="l" t="t" r="r" b="b"/>
              <a:pathLst>
                <a:path w="1188720" h="1188720">
                  <a:moveTo>
                    <a:pt x="594360" y="0"/>
                  </a:moveTo>
                  <a:lnTo>
                    <a:pt x="545613" y="1970"/>
                  </a:lnTo>
                  <a:lnTo>
                    <a:pt x="497951" y="7778"/>
                  </a:lnTo>
                  <a:lnTo>
                    <a:pt x="451528" y="17271"/>
                  </a:lnTo>
                  <a:lnTo>
                    <a:pt x="406495" y="30297"/>
                  </a:lnTo>
                  <a:lnTo>
                    <a:pt x="363007" y="46702"/>
                  </a:lnTo>
                  <a:lnTo>
                    <a:pt x="321216" y="66334"/>
                  </a:lnTo>
                  <a:lnTo>
                    <a:pt x="281276" y="89039"/>
                  </a:lnTo>
                  <a:lnTo>
                    <a:pt x="243338" y="114665"/>
                  </a:lnTo>
                  <a:lnTo>
                    <a:pt x="207556" y="143060"/>
                  </a:lnTo>
                  <a:lnTo>
                    <a:pt x="174083" y="174069"/>
                  </a:lnTo>
                  <a:lnTo>
                    <a:pt x="143072" y="207540"/>
                  </a:lnTo>
                  <a:lnTo>
                    <a:pt x="114676" y="243321"/>
                  </a:lnTo>
                  <a:lnTo>
                    <a:pt x="89048" y="281259"/>
                  </a:lnTo>
                  <a:lnTo>
                    <a:pt x="66341" y="321200"/>
                  </a:lnTo>
                  <a:lnTo>
                    <a:pt x="46707" y="362991"/>
                  </a:lnTo>
                  <a:lnTo>
                    <a:pt x="30300" y="406481"/>
                  </a:lnTo>
                  <a:lnTo>
                    <a:pt x="17273" y="451515"/>
                  </a:lnTo>
                  <a:lnTo>
                    <a:pt x="7779" y="497942"/>
                  </a:lnTo>
                  <a:lnTo>
                    <a:pt x="1970" y="545607"/>
                  </a:lnTo>
                  <a:lnTo>
                    <a:pt x="0" y="594359"/>
                  </a:lnTo>
                  <a:lnTo>
                    <a:pt x="1970" y="643112"/>
                  </a:lnTo>
                  <a:lnTo>
                    <a:pt x="7779" y="690777"/>
                  </a:lnTo>
                  <a:lnTo>
                    <a:pt x="17273" y="737204"/>
                  </a:lnTo>
                  <a:lnTo>
                    <a:pt x="30300" y="782238"/>
                  </a:lnTo>
                  <a:lnTo>
                    <a:pt x="46707" y="825728"/>
                  </a:lnTo>
                  <a:lnTo>
                    <a:pt x="66341" y="867519"/>
                  </a:lnTo>
                  <a:lnTo>
                    <a:pt x="89048" y="907460"/>
                  </a:lnTo>
                  <a:lnTo>
                    <a:pt x="114676" y="945398"/>
                  </a:lnTo>
                  <a:lnTo>
                    <a:pt x="143072" y="981179"/>
                  </a:lnTo>
                  <a:lnTo>
                    <a:pt x="174083" y="1014650"/>
                  </a:lnTo>
                  <a:lnTo>
                    <a:pt x="207556" y="1045659"/>
                  </a:lnTo>
                  <a:lnTo>
                    <a:pt x="243338" y="1074054"/>
                  </a:lnTo>
                  <a:lnTo>
                    <a:pt x="281276" y="1099680"/>
                  </a:lnTo>
                  <a:lnTo>
                    <a:pt x="321216" y="1122385"/>
                  </a:lnTo>
                  <a:lnTo>
                    <a:pt x="363007" y="1142017"/>
                  </a:lnTo>
                  <a:lnTo>
                    <a:pt x="406495" y="1158422"/>
                  </a:lnTo>
                  <a:lnTo>
                    <a:pt x="451528" y="1171448"/>
                  </a:lnTo>
                  <a:lnTo>
                    <a:pt x="497951" y="1180941"/>
                  </a:lnTo>
                  <a:lnTo>
                    <a:pt x="545613" y="1186749"/>
                  </a:lnTo>
                  <a:lnTo>
                    <a:pt x="594360" y="1188719"/>
                  </a:lnTo>
                  <a:lnTo>
                    <a:pt x="643112" y="1186749"/>
                  </a:lnTo>
                  <a:lnTo>
                    <a:pt x="690777" y="1180941"/>
                  </a:lnTo>
                  <a:lnTo>
                    <a:pt x="737204" y="1171448"/>
                  </a:lnTo>
                  <a:lnTo>
                    <a:pt x="782238" y="1158422"/>
                  </a:lnTo>
                  <a:lnTo>
                    <a:pt x="825728" y="1142017"/>
                  </a:lnTo>
                  <a:lnTo>
                    <a:pt x="867519" y="1122385"/>
                  </a:lnTo>
                  <a:lnTo>
                    <a:pt x="907460" y="1099680"/>
                  </a:lnTo>
                  <a:lnTo>
                    <a:pt x="945398" y="1074054"/>
                  </a:lnTo>
                  <a:lnTo>
                    <a:pt x="981179" y="1045659"/>
                  </a:lnTo>
                  <a:lnTo>
                    <a:pt x="1014650" y="1014650"/>
                  </a:lnTo>
                  <a:lnTo>
                    <a:pt x="1045659" y="981179"/>
                  </a:lnTo>
                  <a:lnTo>
                    <a:pt x="1074054" y="945398"/>
                  </a:lnTo>
                  <a:lnTo>
                    <a:pt x="1099680" y="907460"/>
                  </a:lnTo>
                  <a:lnTo>
                    <a:pt x="1122385" y="867519"/>
                  </a:lnTo>
                  <a:lnTo>
                    <a:pt x="1142017" y="825728"/>
                  </a:lnTo>
                  <a:lnTo>
                    <a:pt x="1158422" y="782238"/>
                  </a:lnTo>
                  <a:lnTo>
                    <a:pt x="1171448" y="737204"/>
                  </a:lnTo>
                  <a:lnTo>
                    <a:pt x="1180941" y="690777"/>
                  </a:lnTo>
                  <a:lnTo>
                    <a:pt x="1186749" y="643112"/>
                  </a:lnTo>
                  <a:lnTo>
                    <a:pt x="1188720" y="594359"/>
                  </a:lnTo>
                  <a:lnTo>
                    <a:pt x="1186749" y="545607"/>
                  </a:lnTo>
                  <a:lnTo>
                    <a:pt x="1180941" y="497942"/>
                  </a:lnTo>
                  <a:lnTo>
                    <a:pt x="1171448" y="451515"/>
                  </a:lnTo>
                  <a:lnTo>
                    <a:pt x="1158422" y="406481"/>
                  </a:lnTo>
                  <a:lnTo>
                    <a:pt x="1142017" y="362991"/>
                  </a:lnTo>
                  <a:lnTo>
                    <a:pt x="1122385" y="321200"/>
                  </a:lnTo>
                  <a:lnTo>
                    <a:pt x="1099680" y="281259"/>
                  </a:lnTo>
                  <a:lnTo>
                    <a:pt x="1074054" y="243321"/>
                  </a:lnTo>
                  <a:lnTo>
                    <a:pt x="1045659" y="207540"/>
                  </a:lnTo>
                  <a:lnTo>
                    <a:pt x="1014650" y="174069"/>
                  </a:lnTo>
                  <a:lnTo>
                    <a:pt x="981179" y="143060"/>
                  </a:lnTo>
                  <a:lnTo>
                    <a:pt x="945398" y="114665"/>
                  </a:lnTo>
                  <a:lnTo>
                    <a:pt x="907460" y="89039"/>
                  </a:lnTo>
                  <a:lnTo>
                    <a:pt x="867519" y="66334"/>
                  </a:lnTo>
                  <a:lnTo>
                    <a:pt x="825728" y="46702"/>
                  </a:lnTo>
                  <a:lnTo>
                    <a:pt x="782238" y="30297"/>
                  </a:lnTo>
                  <a:lnTo>
                    <a:pt x="737204" y="17271"/>
                  </a:lnTo>
                  <a:lnTo>
                    <a:pt x="690777" y="7778"/>
                  </a:lnTo>
                  <a:lnTo>
                    <a:pt x="643112" y="1970"/>
                  </a:lnTo>
                  <a:lnTo>
                    <a:pt x="594360" y="0"/>
                  </a:lnTo>
                  <a:close/>
                </a:path>
              </a:pathLst>
            </a:custGeom>
            <a:solidFill>
              <a:srgbClr val="2462EB"/>
            </a:solidFill>
          </p:spPr>
          <p:txBody>
            <a:bodyPr wrap="square" lIns="0" tIns="0" rIns="0" bIns="0" rtlCol="0"/>
            <a:lstStyle/>
            <a:p>
              <a:endParaRPr/>
            </a:p>
          </p:txBody>
        </p:sp>
        <p:pic>
          <p:nvPicPr>
            <p:cNvPr id="6" name="object 6"/>
            <p:cNvPicPr/>
            <p:nvPr/>
          </p:nvPicPr>
          <p:blipFill>
            <a:blip r:embed="rId4" cstate="print"/>
            <a:stretch>
              <a:fillRect/>
            </a:stretch>
          </p:blipFill>
          <p:spPr>
            <a:xfrm>
              <a:off x="978408" y="2670048"/>
              <a:ext cx="512064" cy="512063"/>
            </a:xfrm>
            <a:prstGeom prst="rect">
              <a:avLst/>
            </a:prstGeom>
          </p:spPr>
        </p:pic>
      </p:grpSp>
      <p:sp>
        <p:nvSpPr>
          <p:cNvPr id="7" name="object 7" descr="$PPTXTitle"/>
          <p:cNvSpPr txBox="1">
            <a:spLocks noGrp="1"/>
          </p:cNvSpPr>
          <p:nvPr>
            <p:ph type="title"/>
          </p:nvPr>
        </p:nvSpPr>
        <p:spPr>
          <a:xfrm>
            <a:off x="2090673" y="2179141"/>
            <a:ext cx="796925" cy="940435"/>
          </a:xfrm>
          <a:prstGeom prst="rect">
            <a:avLst/>
          </a:prstGeom>
        </p:spPr>
        <p:txBody>
          <a:bodyPr vert="horz" wrap="square" lIns="0" tIns="12700" rIns="0" bIns="0" rtlCol="0">
            <a:spAutoFit/>
          </a:bodyPr>
          <a:lstStyle/>
          <a:p>
            <a:pPr marL="12700">
              <a:lnSpc>
                <a:spcPct val="100000"/>
              </a:lnSpc>
              <a:spcBef>
                <a:spcPts val="100"/>
              </a:spcBef>
            </a:pPr>
            <a:r>
              <a:rPr sz="6000" spc="-25" dirty="0">
                <a:solidFill>
                  <a:srgbClr val="2462EB"/>
                </a:solidFill>
              </a:rPr>
              <a:t>01</a:t>
            </a:r>
            <a:endParaRPr sz="6000"/>
          </a:p>
        </p:txBody>
      </p:sp>
      <p:sp>
        <p:nvSpPr>
          <p:cNvPr id="10" name="Text 4">
            <a:extLst>
              <a:ext uri="{FF2B5EF4-FFF2-40B4-BE49-F238E27FC236}">
                <a16:creationId xmlns:a16="http://schemas.microsoft.com/office/drawing/2014/main" id="{68763AE4-4C55-2665-3C9A-C6A9D7BB7630}"/>
              </a:ext>
            </a:extLst>
          </p:cNvPr>
          <p:cNvSpPr/>
          <p:nvPr/>
        </p:nvSpPr>
        <p:spPr>
          <a:xfrm>
            <a:off x="978408" y="3572476"/>
            <a:ext cx="9601200" cy="1005840"/>
          </a:xfrm>
          <a:prstGeom prst="rect">
            <a:avLst/>
          </a:prstGeom>
          <a:noFill/>
          <a:ln/>
        </p:spPr>
        <p:txBody>
          <a:bodyPr wrap="square" lIns="0" tIns="0" rIns="0" bIns="0" rtlCol="0" anchor="ctr"/>
          <a:lstStyle/>
          <a:p>
            <a:pPr marL="0" indent="0">
              <a:buNone/>
            </a:pPr>
            <a:r>
              <a:rPr lang="en-US" sz="4000" b="1" dirty="0">
                <a:solidFill>
                  <a:schemeClr val="tx1">
                    <a:lumMod val="95000"/>
                    <a:lumOff val="5000"/>
                  </a:schemeClr>
                </a:solidFill>
                <a:latin typeface="Cambria" pitchFamily="34" charset="0"/>
                <a:ea typeface="Cambria" pitchFamily="34" charset="-122"/>
                <a:cs typeface="Cambria" pitchFamily="34" charset="-120"/>
              </a:rPr>
              <a:t>Problem &amp; Motivation</a:t>
            </a:r>
            <a:endParaRPr lang="en-US" sz="4000" dirty="0">
              <a:solidFill>
                <a:schemeClr val="tx1">
                  <a:lumMod val="95000"/>
                  <a:lumOff val="5000"/>
                </a:schemeClr>
              </a:solidFill>
            </a:endParaRPr>
          </a:p>
        </p:txBody>
      </p:sp>
      <p:sp>
        <p:nvSpPr>
          <p:cNvPr id="12" name="Text 5">
            <a:extLst>
              <a:ext uri="{FF2B5EF4-FFF2-40B4-BE49-F238E27FC236}">
                <a16:creationId xmlns:a16="http://schemas.microsoft.com/office/drawing/2014/main" id="{37D4BD7E-288A-90EB-6FEF-C5BE1FFCBA12}"/>
              </a:ext>
            </a:extLst>
          </p:cNvPr>
          <p:cNvSpPr/>
          <p:nvPr/>
        </p:nvSpPr>
        <p:spPr>
          <a:xfrm>
            <a:off x="978408" y="4451492"/>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Why mobile network Quality of Experience needed a dedicated tool in Cameroon</a:t>
            </a:r>
            <a:endParaRPr lang="en-US" sz="1500" dirty="0">
              <a:solidFill>
                <a:schemeClr val="tx1">
                  <a:lumMod val="95000"/>
                  <a:lumOff val="5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01 · PROBLEM &amp; MOTIVATION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A Real Problem, Felt Every Day</a:t>
            </a:r>
            <a:endParaRPr lang="en-US" sz="3000" dirty="0"/>
          </a:p>
        </p:txBody>
      </p:sp>
      <p:sp>
        <p:nvSpPr>
          <p:cNvPr id="4" name="Shape 2"/>
          <p:cNvSpPr/>
          <p:nvPr/>
        </p:nvSpPr>
        <p:spPr>
          <a:xfrm>
            <a:off x="640080" y="1691640"/>
            <a:ext cx="5212080" cy="4297680"/>
          </a:xfrm>
          <a:prstGeom prst="roundRect">
            <a:avLst>
              <a:gd name="adj" fmla="val 1702"/>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960120" y="2011680"/>
            <a:ext cx="594360" cy="594360"/>
          </a:xfrm>
          <a:prstGeom prst="ellipse">
            <a:avLst/>
          </a:prstGeom>
          <a:solidFill>
            <a:srgbClr val="5330D5"/>
          </a:solidFill>
          <a:ln/>
        </p:spPr>
      </p:sp>
      <p:pic>
        <p:nvPicPr>
          <p:cNvPr id="6" name="Image 0" descr="preencoded.png"/>
          <p:cNvPicPr>
            <a:picLocks noChangeAspect="1"/>
          </p:cNvPicPr>
          <p:nvPr/>
        </p:nvPicPr>
        <p:blipFill>
          <a:blip r:embed="rId3"/>
          <a:stretch>
            <a:fillRect/>
          </a:stretch>
        </p:blipFill>
        <p:spPr>
          <a:xfrm>
            <a:off x="1049274" y="2100834"/>
            <a:ext cx="416052" cy="416052"/>
          </a:xfrm>
          <a:prstGeom prst="rect">
            <a:avLst/>
          </a:prstGeom>
        </p:spPr>
      </p:pic>
      <p:sp>
        <p:nvSpPr>
          <p:cNvPr id="7" name="Text 4"/>
          <p:cNvSpPr/>
          <p:nvPr/>
        </p:nvSpPr>
        <p:spPr>
          <a:xfrm>
            <a:off x="1737360" y="2057400"/>
            <a:ext cx="3931920" cy="457200"/>
          </a:xfrm>
          <a:prstGeom prst="rect">
            <a:avLst/>
          </a:prstGeom>
          <a:noFill/>
          <a:ln/>
        </p:spPr>
        <p:txBody>
          <a:bodyPr wrap="square" lIns="0" tIns="0" rIns="0" bIns="0" rtlCol="0" anchor="ctr"/>
          <a:lstStyle/>
          <a:p>
            <a:pPr marL="0" indent="0">
              <a:buNone/>
            </a:pPr>
            <a:r>
              <a:rPr lang="en-US" sz="1800" b="1" dirty="0">
                <a:solidFill>
                  <a:srgbClr val="112141"/>
                </a:solidFill>
                <a:latin typeface="Cambria" pitchFamily="34" charset="0"/>
                <a:ea typeface="Cambria" pitchFamily="34" charset="-122"/>
                <a:cs typeface="Cambria" pitchFamily="34" charset="-120"/>
              </a:rPr>
              <a:t>The Context</a:t>
            </a:r>
            <a:endParaRPr lang="en-US" sz="1800" dirty="0"/>
          </a:p>
        </p:txBody>
      </p:sp>
      <p:sp>
        <p:nvSpPr>
          <p:cNvPr id="8" name="Text 5"/>
          <p:cNvSpPr/>
          <p:nvPr/>
        </p:nvSpPr>
        <p:spPr>
          <a:xfrm>
            <a:off x="960120" y="2788920"/>
            <a:ext cx="4572000" cy="1554480"/>
          </a:xfrm>
          <a:prstGeom prst="rect">
            <a:avLst/>
          </a:prstGeom>
          <a:noFill/>
          <a:ln/>
        </p:spPr>
        <p:txBody>
          <a:bodyPr wrap="square" lIns="0" tIns="0" rIns="0" bIns="0" rtlCol="0" anchor="ctr"/>
          <a:lstStyle/>
          <a:p>
            <a:pPr marL="0" indent="0">
              <a:lnSpc>
                <a:spcPct val="125000"/>
              </a:lnSpc>
              <a:buNone/>
            </a:pPr>
            <a:r>
              <a:rPr lang="en-US" sz="1350" dirty="0">
                <a:solidFill>
                  <a:srgbClr val="16213E"/>
                </a:solidFill>
                <a:latin typeface="Calibri" pitchFamily="34" charset="0"/>
                <a:ea typeface="Calibri" pitchFamily="34" charset="-122"/>
                <a:cs typeface="Calibri" pitchFamily="34" charset="-120"/>
              </a:rPr>
              <a:t>Mobile connectivity now underpins learning, mobile money and everyday communication in Cameroon. Operators run their own internal monitoring, but ordinary subscribers have no simple way to see their own connection quality, record it over time, or say how it actually feels to use.</a:t>
            </a:r>
            <a:endParaRPr lang="en-US" sz="1350" dirty="0"/>
          </a:p>
        </p:txBody>
      </p:sp>
      <p:sp>
        <p:nvSpPr>
          <p:cNvPr id="9" name="Text 6"/>
          <p:cNvSpPr/>
          <p:nvPr/>
        </p:nvSpPr>
        <p:spPr>
          <a:xfrm>
            <a:off x="960120" y="4434840"/>
            <a:ext cx="4572000" cy="1371600"/>
          </a:xfrm>
          <a:prstGeom prst="rect">
            <a:avLst/>
          </a:prstGeom>
          <a:noFill/>
          <a:ln/>
        </p:spPr>
        <p:txBody>
          <a:bodyPr wrap="square" lIns="0" tIns="0" rIns="0" bIns="0" rtlCol="0" anchor="ctr"/>
          <a:lstStyle/>
          <a:p>
            <a:pPr marL="0" indent="0">
              <a:lnSpc>
                <a:spcPct val="125000"/>
              </a:lnSpc>
              <a:buNone/>
            </a:pPr>
            <a:r>
              <a:rPr lang="en-US" sz="1300" i="1" dirty="0">
                <a:solidFill>
                  <a:srgbClr val="5330D5"/>
                </a:solidFill>
                <a:latin typeface="Calibri" pitchFamily="34" charset="0"/>
                <a:ea typeface="Calibri" pitchFamily="34" charset="-122"/>
                <a:cs typeface="Calibri" pitchFamily="34" charset="-120"/>
              </a:rPr>
              <a:t>SpeeDT targets Quality of Experience (QoE), not just Quality of Service (QoS) — how the connection performs technically and how it actually feels to the person using it.</a:t>
            </a:r>
            <a:endParaRPr lang="en-US" sz="1300" dirty="0"/>
          </a:p>
        </p:txBody>
      </p:sp>
      <p:sp>
        <p:nvSpPr>
          <p:cNvPr id="10" name="Shape 7"/>
          <p:cNvSpPr/>
          <p:nvPr/>
        </p:nvSpPr>
        <p:spPr>
          <a:xfrm>
            <a:off x="6217920" y="1691640"/>
            <a:ext cx="5212080" cy="4297680"/>
          </a:xfrm>
          <a:prstGeom prst="roundRect">
            <a:avLst>
              <a:gd name="adj" fmla="val 1702"/>
            </a:avLst>
          </a:prstGeom>
          <a:solidFill>
            <a:srgbClr val="EFEBFB"/>
          </a:solidFill>
          <a:ln/>
          <a:effectLst>
            <a:outerShdw blurRad="101600" dist="38100" dir="2700000" algn="bl" rotWithShape="0">
              <a:srgbClr val="000000">
                <a:alpha val="12000"/>
              </a:srgbClr>
            </a:outerShdw>
          </a:effectLst>
        </p:spPr>
      </p:sp>
      <p:sp>
        <p:nvSpPr>
          <p:cNvPr id="11" name="Shape 8"/>
          <p:cNvSpPr/>
          <p:nvPr/>
        </p:nvSpPr>
        <p:spPr>
          <a:xfrm>
            <a:off x="6537960" y="2011680"/>
            <a:ext cx="594360" cy="594360"/>
          </a:xfrm>
          <a:prstGeom prst="ellipse">
            <a:avLst/>
          </a:prstGeom>
          <a:solidFill>
            <a:srgbClr val="5330D5"/>
          </a:solidFill>
          <a:ln/>
        </p:spPr>
      </p:sp>
      <p:pic>
        <p:nvPicPr>
          <p:cNvPr id="12" name="Image 1" descr="preencoded.png"/>
          <p:cNvPicPr>
            <a:picLocks noChangeAspect="1"/>
          </p:cNvPicPr>
          <p:nvPr/>
        </p:nvPicPr>
        <p:blipFill>
          <a:blip r:embed="rId4"/>
          <a:stretch>
            <a:fillRect/>
          </a:stretch>
        </p:blipFill>
        <p:spPr>
          <a:xfrm>
            <a:off x="6627114" y="2100834"/>
            <a:ext cx="416052" cy="416052"/>
          </a:xfrm>
          <a:prstGeom prst="rect">
            <a:avLst/>
          </a:prstGeom>
        </p:spPr>
      </p:pic>
      <p:sp>
        <p:nvSpPr>
          <p:cNvPr id="13" name="Text 9"/>
          <p:cNvSpPr/>
          <p:nvPr/>
        </p:nvSpPr>
        <p:spPr>
          <a:xfrm>
            <a:off x="7315200" y="2057400"/>
            <a:ext cx="3931920" cy="457200"/>
          </a:xfrm>
          <a:prstGeom prst="rect">
            <a:avLst/>
          </a:prstGeom>
          <a:noFill/>
          <a:ln/>
        </p:spPr>
        <p:txBody>
          <a:bodyPr wrap="square" lIns="0" tIns="0" rIns="0" bIns="0" rtlCol="0" anchor="ctr"/>
          <a:lstStyle/>
          <a:p>
            <a:pPr marL="0" indent="0">
              <a:buNone/>
            </a:pPr>
            <a:r>
              <a:rPr lang="en-US" sz="1800" b="1" dirty="0">
                <a:solidFill>
                  <a:srgbClr val="112141"/>
                </a:solidFill>
                <a:latin typeface="Cambria" pitchFamily="34" charset="0"/>
                <a:ea typeface="Cambria" pitchFamily="34" charset="-122"/>
                <a:cs typeface="Cambria" pitchFamily="34" charset="-120"/>
              </a:rPr>
              <a:t>The Problem</a:t>
            </a:r>
            <a:endParaRPr lang="en-US" sz="1800" dirty="0"/>
          </a:p>
        </p:txBody>
      </p:sp>
      <p:sp>
        <p:nvSpPr>
          <p:cNvPr id="14" name="Text 10"/>
          <p:cNvSpPr/>
          <p:nvPr/>
        </p:nvSpPr>
        <p:spPr>
          <a:xfrm>
            <a:off x="6537960" y="2788920"/>
            <a:ext cx="4572000" cy="301752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50" dirty="0">
                <a:solidFill>
                  <a:srgbClr val="16213E"/>
                </a:solidFill>
                <a:latin typeface="Calibri" pitchFamily="34" charset="0"/>
                <a:ea typeface="Calibri" pitchFamily="34" charset="-122"/>
                <a:cs typeface="Calibri" pitchFamily="34" charset="-120"/>
              </a:rPr>
              <a:t>Slow speeds, weak signal, dropped connections and instability are noticed only when something important fails.</a:t>
            </a:r>
            <a:endParaRPr lang="en-US" sz="1250" dirty="0"/>
          </a:p>
          <a:p>
            <a:pPr marL="342900" indent="-342900">
              <a:lnSpc>
                <a:spcPct val="120000"/>
              </a:lnSpc>
              <a:spcAft>
                <a:spcPts val="1000"/>
              </a:spcAft>
              <a:buSzPct val="100000"/>
              <a:buChar char="✦"/>
            </a:pPr>
            <a:r>
              <a:rPr lang="en-US" sz="1250" dirty="0">
                <a:solidFill>
                  <a:srgbClr val="16213E"/>
                </a:solidFill>
                <a:latin typeface="Calibri" pitchFamily="34" charset="0"/>
                <a:ea typeface="Calibri" pitchFamily="34" charset="-122"/>
                <a:cs typeface="Calibri" pitchFamily="34" charset="-120"/>
              </a:rPr>
              <a:t>Users have no objective evidence of quality at the moment of failure — blame falls arbitrarily on device, app, bundle or operator.</a:t>
            </a:r>
            <a:endParaRPr lang="en-US" sz="1250" dirty="0"/>
          </a:p>
          <a:p>
            <a:pPr marL="342900" indent="-342900">
              <a:lnSpc>
                <a:spcPct val="120000"/>
              </a:lnSpc>
              <a:spcAft>
                <a:spcPts val="1000"/>
              </a:spcAft>
              <a:buSzPct val="100000"/>
              <a:buChar char="✦"/>
            </a:pPr>
            <a:r>
              <a:rPr lang="en-US" sz="1250" dirty="0">
                <a:solidFill>
                  <a:srgbClr val="16213E"/>
                </a:solidFill>
                <a:latin typeface="Calibri" pitchFamily="34" charset="0"/>
                <a:ea typeface="Calibri" pitchFamily="34" charset="-122"/>
                <a:cs typeface="Calibri" pitchFamily="34" charset="-120"/>
              </a:rPr>
              <a:t>Existing apps (OpenSignal, Network Cell Info, Speedtest) offer pieces of this, but none combines accessibility, passive monitoring, personal history and transparent, user-controlled privacy — grounded in Cameroonian subscriber concerns.</a:t>
            </a:r>
            <a:endParaRPr lang="en-US" sz="1250" dirty="0"/>
          </a:p>
        </p:txBody>
      </p:sp>
      <p:sp>
        <p:nvSpPr>
          <p:cNvPr id="15" name="Text 1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16"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141"/>
        </a:solidFill>
        <a:effectLst/>
      </p:bgPr>
    </p:bg>
    <p:spTree>
      <p:nvGrpSpPr>
        <p:cNvPr id="1" name=""/>
        <p:cNvGrpSpPr/>
        <p:nvPr/>
      </p:nvGrpSpPr>
      <p:grpSpPr>
        <a:xfrm>
          <a:off x="0" y="0"/>
          <a:ext cx="0" cy="0"/>
          <a:chOff x="0" y="0"/>
          <a:chExt cx="0" cy="0"/>
        </a:xfrm>
      </p:grpSpPr>
      <p:sp>
        <p:nvSpPr>
          <p:cNvPr id="2" name="Shape 0"/>
          <p:cNvSpPr/>
          <p:nvPr/>
        </p:nvSpPr>
        <p:spPr>
          <a:xfrm>
            <a:off x="-1828800" y="-2011680"/>
            <a:ext cx="5029200" cy="5029200"/>
          </a:xfrm>
          <a:prstGeom prst="ellipse">
            <a:avLst/>
          </a:prstGeom>
          <a:solidFill>
            <a:srgbClr val="5330D5">
              <a:alpha val="20000"/>
            </a:srgbClr>
          </a:solidFill>
          <a:ln/>
        </p:spPr>
      </p:sp>
      <p:sp>
        <p:nvSpPr>
          <p:cNvPr id="3" name="Text 1"/>
          <p:cNvSpPr/>
          <p:nvPr/>
        </p:nvSpPr>
        <p:spPr>
          <a:xfrm>
            <a:off x="640080" y="384048"/>
            <a:ext cx="7315200" cy="365760"/>
          </a:xfrm>
          <a:prstGeom prst="rect">
            <a:avLst/>
          </a:prstGeom>
          <a:noFill/>
          <a:ln/>
        </p:spPr>
        <p:txBody>
          <a:bodyPr wrap="square" lIns="0" tIns="0" rIns="0" bIns="0" rtlCol="0" anchor="ctr"/>
          <a:lstStyle/>
          <a:p>
            <a:pPr marL="0" indent="0">
              <a:buNone/>
            </a:pPr>
            <a:endParaRPr lang="en-US" sz="1250" dirty="0"/>
          </a:p>
        </p:txBody>
      </p:sp>
      <p:sp>
        <p:nvSpPr>
          <p:cNvPr id="4" name="Text 2"/>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94DBB8"/>
                </a:solidFill>
                <a:latin typeface="Calibri" pitchFamily="34" charset="0"/>
                <a:ea typeface="Calibri" pitchFamily="34" charset="-122"/>
                <a:cs typeface="Calibri" pitchFamily="34" charset="-120"/>
              </a:rPr>
              <a:t>01 · PROBLEM &amp; MOTIVATION</a:t>
            </a:r>
            <a:endParaRPr lang="en-US" sz="1250" dirty="0"/>
          </a:p>
        </p:txBody>
      </p:sp>
      <p:sp>
        <p:nvSpPr>
          <p:cNvPr id="5" name="Text 3"/>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93 Cameroonian Subscribers Told Us</a:t>
            </a:r>
            <a:endParaRPr lang="en-US" sz="3000" dirty="0"/>
          </a:p>
        </p:txBody>
      </p:sp>
      <p:sp>
        <p:nvSpPr>
          <p:cNvPr id="6" name="Text 4"/>
          <p:cNvSpPr/>
          <p:nvPr/>
        </p:nvSpPr>
        <p:spPr>
          <a:xfrm>
            <a:off x="640080" y="1371600"/>
            <a:ext cx="10058400" cy="365760"/>
          </a:xfrm>
          <a:prstGeom prst="rect">
            <a:avLst/>
          </a:prstGeom>
          <a:noFill/>
          <a:ln/>
        </p:spPr>
        <p:txBody>
          <a:bodyPr wrap="square" lIns="0" tIns="0" rIns="0" bIns="0" rtlCol="0" anchor="ctr"/>
          <a:lstStyle/>
          <a:p>
            <a:pPr marL="0" indent="0">
              <a:buNone/>
            </a:pPr>
            <a:r>
              <a:rPr lang="en-US" sz="1300" i="1" dirty="0">
                <a:solidFill>
                  <a:srgbClr val="C7CEE8"/>
                </a:solidFill>
                <a:latin typeface="Calibri" pitchFamily="34" charset="0"/>
                <a:ea typeface="Calibri" pitchFamily="34" charset="-122"/>
                <a:cs typeface="Calibri" pitchFamily="34" charset="-120"/>
              </a:rPr>
              <a:t>Verified, reproducible figures from a structured survey — not assumptions.</a:t>
            </a:r>
            <a:endParaRPr lang="en-US" sz="1300" dirty="0"/>
          </a:p>
        </p:txBody>
      </p:sp>
      <p:sp>
        <p:nvSpPr>
          <p:cNvPr id="7" name="Shape 5"/>
          <p:cNvSpPr/>
          <p:nvPr/>
        </p:nvSpPr>
        <p:spPr>
          <a:xfrm>
            <a:off x="640080" y="2057400"/>
            <a:ext cx="2606040" cy="3291840"/>
          </a:xfrm>
          <a:prstGeom prst="roundRect">
            <a:avLst>
              <a:gd name="adj" fmla="val 2807"/>
            </a:avLst>
          </a:prstGeom>
          <a:solidFill>
            <a:srgbClr val="1B2C56"/>
          </a:solidFill>
          <a:ln/>
        </p:spPr>
      </p:sp>
      <p:sp>
        <p:nvSpPr>
          <p:cNvPr id="8" name="Text 6"/>
          <p:cNvSpPr/>
          <p:nvPr/>
        </p:nvSpPr>
        <p:spPr>
          <a:xfrm>
            <a:off x="777240" y="2377440"/>
            <a:ext cx="2331720" cy="1005840"/>
          </a:xfrm>
          <a:prstGeom prst="rect">
            <a:avLst/>
          </a:prstGeom>
          <a:noFill/>
          <a:ln/>
        </p:spPr>
        <p:txBody>
          <a:bodyPr wrap="square" lIns="0" tIns="0" rIns="0" bIns="0" rtlCol="0" anchor="ctr"/>
          <a:lstStyle/>
          <a:p>
            <a:pPr marL="0" indent="0" algn="l">
              <a:buNone/>
            </a:pPr>
            <a:r>
              <a:rPr lang="en-US" sz="4000" b="1" dirty="0">
                <a:solidFill>
                  <a:srgbClr val="94DBB8"/>
                </a:solidFill>
                <a:latin typeface="Cambria" pitchFamily="34" charset="0"/>
                <a:ea typeface="Cambria" pitchFamily="34" charset="-122"/>
                <a:cs typeface="Cambria" pitchFamily="34" charset="-120"/>
              </a:rPr>
              <a:t>100%</a:t>
            </a:r>
            <a:endParaRPr lang="en-US" sz="4000" dirty="0"/>
          </a:p>
        </p:txBody>
      </p:sp>
      <p:sp>
        <p:nvSpPr>
          <p:cNvPr id="9" name="Text 7"/>
          <p:cNvSpPr/>
          <p:nvPr/>
        </p:nvSpPr>
        <p:spPr>
          <a:xfrm>
            <a:off x="841248" y="3474720"/>
            <a:ext cx="2203704" cy="1737360"/>
          </a:xfrm>
          <a:prstGeom prst="rect">
            <a:avLst/>
          </a:prstGeom>
          <a:noFill/>
          <a:ln/>
        </p:spPr>
        <p:txBody>
          <a:bodyPr wrap="square" lIns="0" tIns="0" rIns="0" bIns="0" rtlCol="0" anchor="ctr"/>
          <a:lstStyle/>
          <a:p>
            <a:pPr marL="0" indent="0">
              <a:lnSpc>
                <a:spcPct val="120000"/>
              </a:lnSpc>
              <a:buNone/>
            </a:pPr>
            <a:r>
              <a:rPr lang="en-US" sz="1200" dirty="0">
                <a:solidFill>
                  <a:srgbClr val="D7DCF3"/>
                </a:solidFill>
                <a:latin typeface="Calibri" pitchFamily="34" charset="0"/>
                <a:ea typeface="Calibri" pitchFamily="34" charset="-122"/>
                <a:cs typeface="Calibri" pitchFamily="34" charset="-120"/>
              </a:rPr>
              <a:t>of respondents report network problems at least “sometimes” (52.7% “often”, 16.1% “always”)</a:t>
            </a:r>
            <a:endParaRPr lang="en-US" sz="1200" dirty="0"/>
          </a:p>
        </p:txBody>
      </p:sp>
      <p:sp>
        <p:nvSpPr>
          <p:cNvPr id="10" name="Shape 8"/>
          <p:cNvSpPr/>
          <p:nvPr/>
        </p:nvSpPr>
        <p:spPr>
          <a:xfrm>
            <a:off x="3502152" y="2057400"/>
            <a:ext cx="2606040" cy="3291840"/>
          </a:xfrm>
          <a:prstGeom prst="roundRect">
            <a:avLst>
              <a:gd name="adj" fmla="val 2807"/>
            </a:avLst>
          </a:prstGeom>
          <a:solidFill>
            <a:srgbClr val="1B2C56"/>
          </a:solidFill>
          <a:ln/>
        </p:spPr>
      </p:sp>
      <p:sp>
        <p:nvSpPr>
          <p:cNvPr id="11" name="Text 9"/>
          <p:cNvSpPr/>
          <p:nvPr/>
        </p:nvSpPr>
        <p:spPr>
          <a:xfrm>
            <a:off x="3639312" y="2377440"/>
            <a:ext cx="2331720" cy="1005840"/>
          </a:xfrm>
          <a:prstGeom prst="rect">
            <a:avLst/>
          </a:prstGeom>
          <a:noFill/>
          <a:ln/>
        </p:spPr>
        <p:txBody>
          <a:bodyPr wrap="square" lIns="0" tIns="0" rIns="0" bIns="0" rtlCol="0" anchor="ctr"/>
          <a:lstStyle/>
          <a:p>
            <a:pPr marL="0" indent="0" algn="l">
              <a:buNone/>
            </a:pPr>
            <a:r>
              <a:rPr lang="en-US" sz="4000" b="1" dirty="0">
                <a:solidFill>
                  <a:srgbClr val="94DBB8"/>
                </a:solidFill>
                <a:latin typeface="Cambria" pitchFamily="34" charset="0"/>
                <a:ea typeface="Cambria" pitchFamily="34" charset="-122"/>
                <a:cs typeface="Cambria" pitchFamily="34" charset="-120"/>
              </a:rPr>
              <a:t>93.5%</a:t>
            </a:r>
            <a:endParaRPr lang="en-US" sz="4000" dirty="0"/>
          </a:p>
        </p:txBody>
      </p:sp>
      <p:sp>
        <p:nvSpPr>
          <p:cNvPr id="12" name="Text 10"/>
          <p:cNvSpPr/>
          <p:nvPr/>
        </p:nvSpPr>
        <p:spPr>
          <a:xfrm>
            <a:off x="3703320" y="3474720"/>
            <a:ext cx="2203704" cy="1737360"/>
          </a:xfrm>
          <a:prstGeom prst="rect">
            <a:avLst/>
          </a:prstGeom>
          <a:noFill/>
          <a:ln/>
        </p:spPr>
        <p:txBody>
          <a:bodyPr wrap="square" lIns="0" tIns="0" rIns="0" bIns="0" rtlCol="0" anchor="ctr"/>
          <a:lstStyle/>
          <a:p>
            <a:pPr marL="0" indent="0">
              <a:lnSpc>
                <a:spcPct val="120000"/>
              </a:lnSpc>
              <a:buNone/>
            </a:pPr>
            <a:r>
              <a:rPr lang="en-US" sz="1200" dirty="0">
                <a:solidFill>
                  <a:srgbClr val="D7DCF3"/>
                </a:solidFill>
                <a:latin typeface="Calibri" pitchFamily="34" charset="0"/>
                <a:ea typeface="Calibri" pitchFamily="34" charset="-122"/>
                <a:cs typeface="Calibri" pitchFamily="34" charset="-120"/>
              </a:rPr>
              <a:t>want to see reports of their own network performance — a core, not optional, feature</a:t>
            </a:r>
            <a:endParaRPr lang="en-US" sz="1200" dirty="0"/>
          </a:p>
        </p:txBody>
      </p:sp>
      <p:sp>
        <p:nvSpPr>
          <p:cNvPr id="13" name="Shape 11"/>
          <p:cNvSpPr/>
          <p:nvPr/>
        </p:nvSpPr>
        <p:spPr>
          <a:xfrm>
            <a:off x="6364224" y="2057400"/>
            <a:ext cx="2606040" cy="3291840"/>
          </a:xfrm>
          <a:prstGeom prst="roundRect">
            <a:avLst>
              <a:gd name="adj" fmla="val 2807"/>
            </a:avLst>
          </a:prstGeom>
          <a:solidFill>
            <a:srgbClr val="1B2C56"/>
          </a:solidFill>
          <a:ln/>
        </p:spPr>
      </p:sp>
      <p:sp>
        <p:nvSpPr>
          <p:cNvPr id="14" name="Text 12"/>
          <p:cNvSpPr/>
          <p:nvPr/>
        </p:nvSpPr>
        <p:spPr>
          <a:xfrm>
            <a:off x="6501384" y="2377440"/>
            <a:ext cx="2331720" cy="1005840"/>
          </a:xfrm>
          <a:prstGeom prst="rect">
            <a:avLst/>
          </a:prstGeom>
          <a:noFill/>
          <a:ln/>
        </p:spPr>
        <p:txBody>
          <a:bodyPr wrap="square" lIns="0" tIns="0" rIns="0" bIns="0" rtlCol="0" anchor="ctr"/>
          <a:lstStyle/>
          <a:p>
            <a:pPr marL="0" indent="0" algn="l">
              <a:buNone/>
            </a:pPr>
            <a:r>
              <a:rPr lang="en-US" sz="4000" b="1" dirty="0">
                <a:solidFill>
                  <a:srgbClr val="94DBB8"/>
                </a:solidFill>
                <a:latin typeface="Cambria" pitchFamily="34" charset="0"/>
                <a:ea typeface="Cambria" pitchFamily="34" charset="-122"/>
                <a:cs typeface="Cambria" pitchFamily="34" charset="-120"/>
              </a:rPr>
              <a:t>83.9%</a:t>
            </a:r>
            <a:endParaRPr lang="en-US" sz="4000" dirty="0"/>
          </a:p>
        </p:txBody>
      </p:sp>
      <p:sp>
        <p:nvSpPr>
          <p:cNvPr id="15" name="Text 13"/>
          <p:cNvSpPr/>
          <p:nvPr/>
        </p:nvSpPr>
        <p:spPr>
          <a:xfrm>
            <a:off x="6565392" y="3474720"/>
            <a:ext cx="2203704" cy="1737360"/>
          </a:xfrm>
          <a:prstGeom prst="rect">
            <a:avLst/>
          </a:prstGeom>
          <a:noFill/>
          <a:ln/>
        </p:spPr>
        <p:txBody>
          <a:bodyPr wrap="square" lIns="0" tIns="0" rIns="0" bIns="0" rtlCol="0" anchor="ctr"/>
          <a:lstStyle/>
          <a:p>
            <a:pPr marL="0" indent="0">
              <a:lnSpc>
                <a:spcPct val="120000"/>
              </a:lnSpc>
              <a:buNone/>
            </a:pPr>
            <a:r>
              <a:rPr lang="en-US" sz="1200" dirty="0">
                <a:solidFill>
                  <a:srgbClr val="D7DCF3"/>
                </a:solidFill>
                <a:latin typeface="Calibri" pitchFamily="34" charset="0"/>
                <a:ea typeface="Calibri" pitchFamily="34" charset="-122"/>
                <a:cs typeface="Calibri" pitchFamily="34" charset="-120"/>
              </a:rPr>
              <a:t>use MTN as their primary operator, followed by Orange (9.7%) and CAMTEL (6.5%)</a:t>
            </a:r>
            <a:endParaRPr lang="en-US" sz="1200" dirty="0"/>
          </a:p>
        </p:txBody>
      </p:sp>
      <p:sp>
        <p:nvSpPr>
          <p:cNvPr id="16" name="Shape 14"/>
          <p:cNvSpPr/>
          <p:nvPr/>
        </p:nvSpPr>
        <p:spPr>
          <a:xfrm>
            <a:off x="9226296" y="2057400"/>
            <a:ext cx="2606040" cy="3291840"/>
          </a:xfrm>
          <a:prstGeom prst="roundRect">
            <a:avLst>
              <a:gd name="adj" fmla="val 2807"/>
            </a:avLst>
          </a:prstGeom>
          <a:solidFill>
            <a:srgbClr val="1B2C56"/>
          </a:solidFill>
          <a:ln/>
        </p:spPr>
      </p:sp>
      <p:sp>
        <p:nvSpPr>
          <p:cNvPr id="17" name="Text 15"/>
          <p:cNvSpPr/>
          <p:nvPr/>
        </p:nvSpPr>
        <p:spPr>
          <a:xfrm>
            <a:off x="9363456" y="2377440"/>
            <a:ext cx="2331720" cy="1005840"/>
          </a:xfrm>
          <a:prstGeom prst="rect">
            <a:avLst/>
          </a:prstGeom>
          <a:noFill/>
          <a:ln/>
        </p:spPr>
        <p:txBody>
          <a:bodyPr wrap="square" lIns="0" tIns="0" rIns="0" bIns="0" rtlCol="0" anchor="ctr"/>
          <a:lstStyle/>
          <a:p>
            <a:pPr marL="0" indent="0" algn="l">
              <a:buNone/>
            </a:pPr>
            <a:r>
              <a:rPr lang="en-US" sz="3000" b="1" dirty="0">
                <a:solidFill>
                  <a:srgbClr val="94DBB8"/>
                </a:solidFill>
                <a:latin typeface="Cambria" pitchFamily="34" charset="0"/>
                <a:ea typeface="Cambria" pitchFamily="34" charset="-122"/>
                <a:cs typeface="Cambria" pitchFamily="34" charset="-120"/>
              </a:rPr>
              <a:t>55% / 45%</a:t>
            </a:r>
            <a:endParaRPr lang="en-US" sz="3000" dirty="0"/>
          </a:p>
        </p:txBody>
      </p:sp>
      <p:sp>
        <p:nvSpPr>
          <p:cNvPr id="18" name="Text 16"/>
          <p:cNvSpPr/>
          <p:nvPr/>
        </p:nvSpPr>
        <p:spPr>
          <a:xfrm>
            <a:off x="9427464" y="3474720"/>
            <a:ext cx="2203704" cy="1737360"/>
          </a:xfrm>
          <a:prstGeom prst="rect">
            <a:avLst/>
          </a:prstGeom>
          <a:noFill/>
          <a:ln/>
        </p:spPr>
        <p:txBody>
          <a:bodyPr wrap="square" lIns="0" tIns="0" rIns="0" bIns="0" rtlCol="0" anchor="ctr"/>
          <a:lstStyle/>
          <a:p>
            <a:pPr marL="0" indent="0">
              <a:lnSpc>
                <a:spcPct val="120000"/>
              </a:lnSpc>
              <a:buNone/>
            </a:pPr>
            <a:r>
              <a:rPr lang="en-US" sz="1200" dirty="0">
                <a:solidFill>
                  <a:srgbClr val="D7DCF3"/>
                </a:solidFill>
                <a:latin typeface="Calibri" pitchFamily="34" charset="0"/>
                <a:ea typeface="Calibri" pitchFamily="34" charset="-122"/>
                <a:cs typeface="Calibri" pitchFamily="34" charset="-120"/>
              </a:rPr>
              <a:t>Android-to-iOS platform split, confirming the need for genuine cross-platform support</a:t>
            </a:r>
            <a:endParaRPr lang="en-US" sz="1200" dirty="0"/>
          </a:p>
        </p:txBody>
      </p:sp>
      <p:sp>
        <p:nvSpPr>
          <p:cNvPr id="19" name="Text 1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 Final Presentation</a:t>
            </a:r>
            <a:endParaRPr lang="en-US" sz="9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sp>
          <p:nvSpPr>
            <p:cNvPr id="5" name="object 5"/>
            <p:cNvSpPr/>
            <p:nvPr/>
          </p:nvSpPr>
          <p:spPr>
            <a:xfrm>
              <a:off x="640080" y="2331720"/>
              <a:ext cx="1188720" cy="1188720"/>
            </a:xfrm>
            <a:custGeom>
              <a:avLst/>
              <a:gdLst/>
              <a:ahLst/>
              <a:cxnLst/>
              <a:rect l="l" t="t" r="r" b="b"/>
              <a:pathLst>
                <a:path w="1188720" h="1188720">
                  <a:moveTo>
                    <a:pt x="594360" y="0"/>
                  </a:moveTo>
                  <a:lnTo>
                    <a:pt x="545613" y="1970"/>
                  </a:lnTo>
                  <a:lnTo>
                    <a:pt x="497951" y="7778"/>
                  </a:lnTo>
                  <a:lnTo>
                    <a:pt x="451528" y="17271"/>
                  </a:lnTo>
                  <a:lnTo>
                    <a:pt x="406495" y="30297"/>
                  </a:lnTo>
                  <a:lnTo>
                    <a:pt x="363007" y="46702"/>
                  </a:lnTo>
                  <a:lnTo>
                    <a:pt x="321216" y="66334"/>
                  </a:lnTo>
                  <a:lnTo>
                    <a:pt x="281276" y="89039"/>
                  </a:lnTo>
                  <a:lnTo>
                    <a:pt x="243338" y="114665"/>
                  </a:lnTo>
                  <a:lnTo>
                    <a:pt x="207556" y="143060"/>
                  </a:lnTo>
                  <a:lnTo>
                    <a:pt x="174083" y="174069"/>
                  </a:lnTo>
                  <a:lnTo>
                    <a:pt x="143072" y="207540"/>
                  </a:lnTo>
                  <a:lnTo>
                    <a:pt x="114676" y="243321"/>
                  </a:lnTo>
                  <a:lnTo>
                    <a:pt x="89048" y="281259"/>
                  </a:lnTo>
                  <a:lnTo>
                    <a:pt x="66341" y="321200"/>
                  </a:lnTo>
                  <a:lnTo>
                    <a:pt x="46707" y="362991"/>
                  </a:lnTo>
                  <a:lnTo>
                    <a:pt x="30300" y="406481"/>
                  </a:lnTo>
                  <a:lnTo>
                    <a:pt x="17273" y="451515"/>
                  </a:lnTo>
                  <a:lnTo>
                    <a:pt x="7779" y="497942"/>
                  </a:lnTo>
                  <a:lnTo>
                    <a:pt x="1970" y="545607"/>
                  </a:lnTo>
                  <a:lnTo>
                    <a:pt x="0" y="594359"/>
                  </a:lnTo>
                  <a:lnTo>
                    <a:pt x="1970" y="643112"/>
                  </a:lnTo>
                  <a:lnTo>
                    <a:pt x="7779" y="690777"/>
                  </a:lnTo>
                  <a:lnTo>
                    <a:pt x="17273" y="737204"/>
                  </a:lnTo>
                  <a:lnTo>
                    <a:pt x="30300" y="782238"/>
                  </a:lnTo>
                  <a:lnTo>
                    <a:pt x="46707" y="825728"/>
                  </a:lnTo>
                  <a:lnTo>
                    <a:pt x="66341" y="867519"/>
                  </a:lnTo>
                  <a:lnTo>
                    <a:pt x="89048" y="907460"/>
                  </a:lnTo>
                  <a:lnTo>
                    <a:pt x="114676" y="945398"/>
                  </a:lnTo>
                  <a:lnTo>
                    <a:pt x="143072" y="981179"/>
                  </a:lnTo>
                  <a:lnTo>
                    <a:pt x="174083" y="1014650"/>
                  </a:lnTo>
                  <a:lnTo>
                    <a:pt x="207556" y="1045659"/>
                  </a:lnTo>
                  <a:lnTo>
                    <a:pt x="243338" y="1074054"/>
                  </a:lnTo>
                  <a:lnTo>
                    <a:pt x="281276" y="1099680"/>
                  </a:lnTo>
                  <a:lnTo>
                    <a:pt x="321216" y="1122385"/>
                  </a:lnTo>
                  <a:lnTo>
                    <a:pt x="363007" y="1142017"/>
                  </a:lnTo>
                  <a:lnTo>
                    <a:pt x="406495" y="1158422"/>
                  </a:lnTo>
                  <a:lnTo>
                    <a:pt x="451528" y="1171448"/>
                  </a:lnTo>
                  <a:lnTo>
                    <a:pt x="497951" y="1180941"/>
                  </a:lnTo>
                  <a:lnTo>
                    <a:pt x="545613" y="1186749"/>
                  </a:lnTo>
                  <a:lnTo>
                    <a:pt x="594360" y="1188719"/>
                  </a:lnTo>
                  <a:lnTo>
                    <a:pt x="643112" y="1186749"/>
                  </a:lnTo>
                  <a:lnTo>
                    <a:pt x="690777" y="1180941"/>
                  </a:lnTo>
                  <a:lnTo>
                    <a:pt x="737204" y="1171448"/>
                  </a:lnTo>
                  <a:lnTo>
                    <a:pt x="782238" y="1158422"/>
                  </a:lnTo>
                  <a:lnTo>
                    <a:pt x="825728" y="1142017"/>
                  </a:lnTo>
                  <a:lnTo>
                    <a:pt x="867519" y="1122385"/>
                  </a:lnTo>
                  <a:lnTo>
                    <a:pt x="907460" y="1099680"/>
                  </a:lnTo>
                  <a:lnTo>
                    <a:pt x="945398" y="1074054"/>
                  </a:lnTo>
                  <a:lnTo>
                    <a:pt x="981179" y="1045659"/>
                  </a:lnTo>
                  <a:lnTo>
                    <a:pt x="1014650" y="1014650"/>
                  </a:lnTo>
                  <a:lnTo>
                    <a:pt x="1045659" y="981179"/>
                  </a:lnTo>
                  <a:lnTo>
                    <a:pt x="1074054" y="945398"/>
                  </a:lnTo>
                  <a:lnTo>
                    <a:pt x="1099680" y="907460"/>
                  </a:lnTo>
                  <a:lnTo>
                    <a:pt x="1122385" y="867519"/>
                  </a:lnTo>
                  <a:lnTo>
                    <a:pt x="1142017" y="825728"/>
                  </a:lnTo>
                  <a:lnTo>
                    <a:pt x="1158422" y="782238"/>
                  </a:lnTo>
                  <a:lnTo>
                    <a:pt x="1171448" y="737204"/>
                  </a:lnTo>
                  <a:lnTo>
                    <a:pt x="1180941" y="690777"/>
                  </a:lnTo>
                  <a:lnTo>
                    <a:pt x="1186749" y="643112"/>
                  </a:lnTo>
                  <a:lnTo>
                    <a:pt x="1188720" y="594359"/>
                  </a:lnTo>
                  <a:lnTo>
                    <a:pt x="1186749" y="545607"/>
                  </a:lnTo>
                  <a:lnTo>
                    <a:pt x="1180941" y="497942"/>
                  </a:lnTo>
                  <a:lnTo>
                    <a:pt x="1171448" y="451515"/>
                  </a:lnTo>
                  <a:lnTo>
                    <a:pt x="1158422" y="406481"/>
                  </a:lnTo>
                  <a:lnTo>
                    <a:pt x="1142017" y="362991"/>
                  </a:lnTo>
                  <a:lnTo>
                    <a:pt x="1122385" y="321200"/>
                  </a:lnTo>
                  <a:lnTo>
                    <a:pt x="1099680" y="281259"/>
                  </a:lnTo>
                  <a:lnTo>
                    <a:pt x="1074054" y="243321"/>
                  </a:lnTo>
                  <a:lnTo>
                    <a:pt x="1045659" y="207540"/>
                  </a:lnTo>
                  <a:lnTo>
                    <a:pt x="1014650" y="174069"/>
                  </a:lnTo>
                  <a:lnTo>
                    <a:pt x="981179" y="143060"/>
                  </a:lnTo>
                  <a:lnTo>
                    <a:pt x="945398" y="114665"/>
                  </a:lnTo>
                  <a:lnTo>
                    <a:pt x="907460" y="89039"/>
                  </a:lnTo>
                  <a:lnTo>
                    <a:pt x="867519" y="66334"/>
                  </a:lnTo>
                  <a:lnTo>
                    <a:pt x="825728" y="46702"/>
                  </a:lnTo>
                  <a:lnTo>
                    <a:pt x="782238" y="30297"/>
                  </a:lnTo>
                  <a:lnTo>
                    <a:pt x="737204" y="17271"/>
                  </a:lnTo>
                  <a:lnTo>
                    <a:pt x="690777" y="7778"/>
                  </a:lnTo>
                  <a:lnTo>
                    <a:pt x="643112" y="1970"/>
                  </a:lnTo>
                  <a:lnTo>
                    <a:pt x="594360" y="0"/>
                  </a:lnTo>
                  <a:close/>
                </a:path>
              </a:pathLst>
            </a:custGeom>
            <a:solidFill>
              <a:srgbClr val="7B39EC"/>
            </a:solidFill>
          </p:spPr>
          <p:txBody>
            <a:bodyPr wrap="square" lIns="0" tIns="0" rIns="0" bIns="0" rtlCol="0"/>
            <a:lstStyle/>
            <a:p>
              <a:endParaRPr/>
            </a:p>
          </p:txBody>
        </p:sp>
        <p:pic>
          <p:nvPicPr>
            <p:cNvPr id="6" name="object 6"/>
            <p:cNvPicPr/>
            <p:nvPr/>
          </p:nvPicPr>
          <p:blipFill>
            <a:blip r:embed="rId4" cstate="print"/>
            <a:stretch>
              <a:fillRect/>
            </a:stretch>
          </p:blipFill>
          <p:spPr>
            <a:xfrm>
              <a:off x="978408" y="2670048"/>
              <a:ext cx="512064" cy="512063"/>
            </a:xfrm>
            <a:prstGeom prst="rect">
              <a:avLst/>
            </a:prstGeom>
          </p:spPr>
        </p:pic>
      </p:grpSp>
      <p:sp>
        <p:nvSpPr>
          <p:cNvPr id="7" name="object 7" descr="$PPTXTitle"/>
          <p:cNvSpPr txBox="1">
            <a:spLocks noGrp="1"/>
          </p:cNvSpPr>
          <p:nvPr>
            <p:ph type="title"/>
          </p:nvPr>
        </p:nvSpPr>
        <p:spPr>
          <a:xfrm>
            <a:off x="2090673" y="2179141"/>
            <a:ext cx="796925" cy="940435"/>
          </a:xfrm>
          <a:prstGeom prst="rect">
            <a:avLst/>
          </a:prstGeom>
        </p:spPr>
        <p:txBody>
          <a:bodyPr vert="horz" wrap="square" lIns="0" tIns="12700" rIns="0" bIns="0" rtlCol="0">
            <a:spAutoFit/>
          </a:bodyPr>
          <a:lstStyle/>
          <a:p>
            <a:pPr marL="12700">
              <a:lnSpc>
                <a:spcPct val="100000"/>
              </a:lnSpc>
              <a:spcBef>
                <a:spcPts val="100"/>
              </a:spcBef>
            </a:pPr>
            <a:r>
              <a:rPr sz="6000" spc="-25" dirty="0">
                <a:solidFill>
                  <a:srgbClr val="7B39EC"/>
                </a:solidFill>
              </a:rPr>
              <a:t>02</a:t>
            </a:r>
            <a:endParaRPr sz="6000"/>
          </a:p>
        </p:txBody>
      </p:sp>
      <p:sp>
        <p:nvSpPr>
          <p:cNvPr id="10" name="Text 4">
            <a:extLst>
              <a:ext uri="{FF2B5EF4-FFF2-40B4-BE49-F238E27FC236}">
                <a16:creationId xmlns:a16="http://schemas.microsoft.com/office/drawing/2014/main" id="{933E091B-C3AC-240C-1A00-3503CA5A91BC}"/>
              </a:ext>
            </a:extLst>
          </p:cNvPr>
          <p:cNvSpPr/>
          <p:nvPr/>
        </p:nvSpPr>
        <p:spPr>
          <a:xfrm>
            <a:off x="1234440" y="3480027"/>
            <a:ext cx="9601200" cy="1005840"/>
          </a:xfrm>
          <a:prstGeom prst="rect">
            <a:avLst/>
          </a:prstGeom>
          <a:noFill/>
          <a:ln/>
        </p:spPr>
        <p:txBody>
          <a:bodyPr wrap="square" lIns="0" tIns="0" rIns="0" bIns="0" rtlCol="0" anchor="ctr"/>
          <a:lstStyle/>
          <a:p>
            <a:pPr marL="0" indent="0">
              <a:buNone/>
            </a:pPr>
            <a:r>
              <a:rPr lang="en-US" sz="4000" b="1" dirty="0">
                <a:solidFill>
                  <a:schemeClr val="tx1">
                    <a:lumMod val="95000"/>
                    <a:lumOff val="5000"/>
                  </a:schemeClr>
                </a:solidFill>
                <a:latin typeface="Cambria" pitchFamily="34" charset="0"/>
                <a:ea typeface="Cambria" pitchFamily="34" charset="-122"/>
                <a:cs typeface="Cambria" pitchFamily="34" charset="-120"/>
              </a:rPr>
              <a:t>Requirements &amp; Design</a:t>
            </a:r>
            <a:endParaRPr lang="en-US" sz="4000" dirty="0">
              <a:solidFill>
                <a:schemeClr val="tx1">
                  <a:lumMod val="95000"/>
                  <a:lumOff val="5000"/>
                </a:schemeClr>
              </a:solidFill>
            </a:endParaRPr>
          </a:p>
        </p:txBody>
      </p:sp>
      <p:sp>
        <p:nvSpPr>
          <p:cNvPr id="12" name="Text 5">
            <a:extLst>
              <a:ext uri="{FF2B5EF4-FFF2-40B4-BE49-F238E27FC236}">
                <a16:creationId xmlns:a16="http://schemas.microsoft.com/office/drawing/2014/main" id="{FA7766F4-4A98-C503-7669-F37FC3763C7A}"/>
              </a:ext>
            </a:extLst>
          </p:cNvPr>
          <p:cNvSpPr/>
          <p:nvPr/>
        </p:nvSpPr>
        <p:spPr>
          <a:xfrm>
            <a:off x="822960" y="4160520"/>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Translating verified survey findings into functional and non-functional requirements</a:t>
            </a:r>
            <a:endParaRPr lang="en-US" sz="1500" dirty="0">
              <a:solidFill>
                <a:schemeClr val="tx1">
                  <a:lumMod val="95000"/>
                  <a:lumOff val="5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02 · REQUIREMENTS &amp; DESIGN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Core Functional Requirements</a:t>
            </a:r>
            <a:endParaRPr lang="en-US" sz="3000" dirty="0"/>
          </a:p>
        </p:txBody>
      </p:sp>
      <p:sp>
        <p:nvSpPr>
          <p:cNvPr id="4" name="Shape 2"/>
          <p:cNvSpPr/>
          <p:nvPr/>
        </p:nvSpPr>
        <p:spPr>
          <a:xfrm>
            <a:off x="64008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868680" y="1965960"/>
            <a:ext cx="566928" cy="566928"/>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959388" y="2056668"/>
            <a:ext cx="385511" cy="385511"/>
          </a:xfrm>
          <a:prstGeom prst="rect">
            <a:avLst/>
          </a:prstGeom>
        </p:spPr>
      </p:pic>
      <p:sp>
        <p:nvSpPr>
          <p:cNvPr id="7" name="Text 4"/>
          <p:cNvSpPr/>
          <p:nvPr/>
        </p:nvSpPr>
        <p:spPr>
          <a:xfrm>
            <a:off x="868680" y="265176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FR-01 · Background Collection</a:t>
            </a:r>
            <a:endParaRPr lang="en-US" sz="1350" dirty="0"/>
          </a:p>
        </p:txBody>
      </p:sp>
      <p:sp>
        <p:nvSpPr>
          <p:cNvPr id="8" name="Text 5"/>
          <p:cNvSpPr/>
          <p:nvPr/>
        </p:nvSpPr>
        <p:spPr>
          <a:xfrm>
            <a:off x="868680" y="306324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Best-effort automatic capture of network type, speed, latency and jitter.</a:t>
            </a:r>
            <a:endParaRPr lang="en-US" sz="1050" dirty="0"/>
          </a:p>
        </p:txBody>
      </p:sp>
      <p:sp>
        <p:nvSpPr>
          <p:cNvPr id="9" name="Shape 6"/>
          <p:cNvSpPr/>
          <p:nvPr/>
        </p:nvSpPr>
        <p:spPr>
          <a:xfrm>
            <a:off x="438912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10" name="Shape 7"/>
          <p:cNvSpPr/>
          <p:nvPr/>
        </p:nvSpPr>
        <p:spPr>
          <a:xfrm>
            <a:off x="4617720" y="1965960"/>
            <a:ext cx="566928" cy="566928"/>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4708428" y="2056668"/>
            <a:ext cx="385511" cy="385511"/>
          </a:xfrm>
          <a:prstGeom prst="rect">
            <a:avLst/>
          </a:prstGeom>
        </p:spPr>
      </p:pic>
      <p:sp>
        <p:nvSpPr>
          <p:cNvPr id="12" name="Text 8"/>
          <p:cNvSpPr/>
          <p:nvPr/>
        </p:nvSpPr>
        <p:spPr>
          <a:xfrm>
            <a:off x="4617720" y="265176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FR-02 / FR-09 · Dashboard &amp; History</a:t>
            </a:r>
            <a:endParaRPr lang="en-US" sz="1350" dirty="0"/>
          </a:p>
        </p:txBody>
      </p:sp>
      <p:sp>
        <p:nvSpPr>
          <p:cNvPr id="13" name="Text 9"/>
          <p:cNvSpPr/>
          <p:nvPr/>
        </p:nvSpPr>
        <p:spPr>
          <a:xfrm>
            <a:off x="4617720" y="306324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Real-time quality view plus historical charts and trend statistics.</a:t>
            </a:r>
            <a:endParaRPr lang="en-US" sz="1050" dirty="0"/>
          </a:p>
        </p:txBody>
      </p:sp>
      <p:sp>
        <p:nvSpPr>
          <p:cNvPr id="14" name="Shape 10"/>
          <p:cNvSpPr/>
          <p:nvPr/>
        </p:nvSpPr>
        <p:spPr>
          <a:xfrm>
            <a:off x="813816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15" name="Shape 11"/>
          <p:cNvSpPr/>
          <p:nvPr/>
        </p:nvSpPr>
        <p:spPr>
          <a:xfrm>
            <a:off x="8366760" y="1965960"/>
            <a:ext cx="566928" cy="566928"/>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8457468" y="2056668"/>
            <a:ext cx="385511" cy="385511"/>
          </a:xfrm>
          <a:prstGeom prst="rect">
            <a:avLst/>
          </a:prstGeom>
        </p:spPr>
      </p:pic>
      <p:sp>
        <p:nvSpPr>
          <p:cNvPr id="17" name="Text 12"/>
          <p:cNvSpPr/>
          <p:nvPr/>
        </p:nvSpPr>
        <p:spPr>
          <a:xfrm>
            <a:off x="8366760" y="265176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FR-03 · Quality Notifications</a:t>
            </a:r>
            <a:endParaRPr lang="en-US" sz="1350" dirty="0"/>
          </a:p>
        </p:txBody>
      </p:sp>
      <p:sp>
        <p:nvSpPr>
          <p:cNvPr id="18" name="Text 13"/>
          <p:cNvSpPr/>
          <p:nvPr/>
        </p:nvSpPr>
        <p:spPr>
          <a:xfrm>
            <a:off x="8366760" y="306324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Threshold-based alerts when measured quality drops, subject to permission.</a:t>
            </a:r>
            <a:endParaRPr lang="en-US" sz="1050" dirty="0"/>
          </a:p>
        </p:txBody>
      </p:sp>
      <p:sp>
        <p:nvSpPr>
          <p:cNvPr id="19" name="Shape 14"/>
          <p:cNvSpPr/>
          <p:nvPr/>
        </p:nvSpPr>
        <p:spPr>
          <a:xfrm>
            <a:off x="64008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20" name="Shape 15"/>
          <p:cNvSpPr/>
          <p:nvPr/>
        </p:nvSpPr>
        <p:spPr>
          <a:xfrm>
            <a:off x="868680" y="4206240"/>
            <a:ext cx="566928" cy="566928"/>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959388" y="4296948"/>
            <a:ext cx="385511" cy="385511"/>
          </a:xfrm>
          <a:prstGeom prst="rect">
            <a:avLst/>
          </a:prstGeom>
        </p:spPr>
      </p:pic>
      <p:sp>
        <p:nvSpPr>
          <p:cNvPr id="22" name="Text 16"/>
          <p:cNvSpPr/>
          <p:nvPr/>
        </p:nvSpPr>
        <p:spPr>
          <a:xfrm>
            <a:off x="868680" y="489204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FR-05 · Subjective Feedback</a:t>
            </a:r>
            <a:endParaRPr lang="en-US" sz="1350" dirty="0"/>
          </a:p>
        </p:txBody>
      </p:sp>
      <p:sp>
        <p:nvSpPr>
          <p:cNvPr id="23" name="Text 17"/>
          <p:cNvSpPr/>
          <p:nvPr/>
        </p:nvSpPr>
        <p:spPr>
          <a:xfrm>
            <a:off x="868680" y="530352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Four-dimension QoE rating — overall, speed, delay, reliability — plus comments.</a:t>
            </a:r>
            <a:endParaRPr lang="en-US" sz="1050" dirty="0"/>
          </a:p>
        </p:txBody>
      </p:sp>
      <p:sp>
        <p:nvSpPr>
          <p:cNvPr id="24" name="Shape 18"/>
          <p:cNvSpPr/>
          <p:nvPr/>
        </p:nvSpPr>
        <p:spPr>
          <a:xfrm>
            <a:off x="438912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25" name="Shape 19"/>
          <p:cNvSpPr/>
          <p:nvPr/>
        </p:nvSpPr>
        <p:spPr>
          <a:xfrm>
            <a:off x="4617720" y="4206240"/>
            <a:ext cx="566928" cy="566928"/>
          </a:xfrm>
          <a:prstGeom prst="ellipse">
            <a:avLst/>
          </a:prstGeom>
          <a:solidFill>
            <a:srgbClr val="FFFFFF"/>
          </a:solidFill>
          <a:ln/>
        </p:spPr>
      </p:sp>
      <p:pic>
        <p:nvPicPr>
          <p:cNvPr id="26" name="Image 4" descr="preencoded.png"/>
          <p:cNvPicPr>
            <a:picLocks noChangeAspect="1"/>
          </p:cNvPicPr>
          <p:nvPr/>
        </p:nvPicPr>
        <p:blipFill>
          <a:blip r:embed="rId7"/>
          <a:stretch>
            <a:fillRect/>
          </a:stretch>
        </p:blipFill>
        <p:spPr>
          <a:xfrm>
            <a:off x="4708428" y="4296948"/>
            <a:ext cx="385511" cy="385511"/>
          </a:xfrm>
          <a:prstGeom prst="rect">
            <a:avLst/>
          </a:prstGeom>
        </p:spPr>
      </p:pic>
      <p:sp>
        <p:nvSpPr>
          <p:cNvPr id="27" name="Text 20"/>
          <p:cNvSpPr/>
          <p:nvPr/>
        </p:nvSpPr>
        <p:spPr>
          <a:xfrm>
            <a:off x="4617720" y="489204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FR-06 · Location-Aware Context</a:t>
            </a:r>
            <a:endParaRPr lang="en-US" sz="1350" dirty="0"/>
          </a:p>
        </p:txBody>
      </p:sp>
      <p:sp>
        <p:nvSpPr>
          <p:cNvPr id="28" name="Text 21"/>
          <p:cNvSpPr/>
          <p:nvPr/>
        </p:nvSpPr>
        <p:spPr>
          <a:xfrm>
            <a:off x="4617720" y="530352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Generalised GPS captured only after explicit, separate user consent.</a:t>
            </a:r>
            <a:endParaRPr lang="en-US" sz="1050" dirty="0"/>
          </a:p>
        </p:txBody>
      </p:sp>
      <p:sp>
        <p:nvSpPr>
          <p:cNvPr id="29" name="Shape 22"/>
          <p:cNvSpPr/>
          <p:nvPr/>
        </p:nvSpPr>
        <p:spPr>
          <a:xfrm>
            <a:off x="813816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30" name="Shape 23"/>
          <p:cNvSpPr/>
          <p:nvPr/>
        </p:nvSpPr>
        <p:spPr>
          <a:xfrm>
            <a:off x="8366760" y="4206240"/>
            <a:ext cx="566928" cy="566928"/>
          </a:xfrm>
          <a:prstGeom prst="ellipse">
            <a:avLst/>
          </a:prstGeom>
          <a:solidFill>
            <a:srgbClr val="FFFFFF"/>
          </a:solidFill>
          <a:ln/>
        </p:spPr>
      </p:sp>
      <p:pic>
        <p:nvPicPr>
          <p:cNvPr id="31" name="Image 5" descr="preencoded.png"/>
          <p:cNvPicPr>
            <a:picLocks noChangeAspect="1"/>
          </p:cNvPicPr>
          <p:nvPr/>
        </p:nvPicPr>
        <p:blipFill>
          <a:blip r:embed="rId8"/>
          <a:stretch>
            <a:fillRect/>
          </a:stretch>
        </p:blipFill>
        <p:spPr>
          <a:xfrm>
            <a:off x="8457468" y="4296948"/>
            <a:ext cx="385511" cy="385511"/>
          </a:xfrm>
          <a:prstGeom prst="rect">
            <a:avLst/>
          </a:prstGeom>
        </p:spPr>
      </p:pic>
      <p:sp>
        <p:nvSpPr>
          <p:cNvPr id="32" name="Text 24"/>
          <p:cNvSpPr/>
          <p:nvPr/>
        </p:nvSpPr>
        <p:spPr>
          <a:xfrm>
            <a:off x="8366760" y="4892040"/>
            <a:ext cx="3063240" cy="457200"/>
          </a:xfrm>
          <a:prstGeom prst="rect">
            <a:avLst/>
          </a:prstGeom>
          <a:noFill/>
          <a:ln/>
        </p:spPr>
        <p:txBody>
          <a:bodyPr wrap="square" lIns="0" tIns="0" rIns="0" bIns="0" rtlCol="0" anchor="ctr"/>
          <a:lstStyle/>
          <a:p>
            <a:pPr marL="0" indent="0">
              <a:buNone/>
            </a:pPr>
            <a:r>
              <a:rPr lang="en-US" sz="1350" b="1" dirty="0">
                <a:solidFill>
                  <a:srgbClr val="112141"/>
                </a:solidFill>
                <a:latin typeface="Cambria" pitchFamily="34" charset="0"/>
                <a:ea typeface="Cambria" pitchFamily="34" charset="-122"/>
                <a:cs typeface="Cambria" pitchFamily="34" charset="-120"/>
              </a:rPr>
              <a:t>FR-08 · Offline Queue &amp; Sync</a:t>
            </a:r>
            <a:endParaRPr lang="en-US" sz="1350" dirty="0"/>
          </a:p>
        </p:txBody>
      </p:sp>
      <p:sp>
        <p:nvSpPr>
          <p:cNvPr id="33" name="Text 25"/>
          <p:cNvSpPr/>
          <p:nvPr/>
        </p:nvSpPr>
        <p:spPr>
          <a:xfrm>
            <a:off x="8366760" y="5303520"/>
            <a:ext cx="3063240" cy="594360"/>
          </a:xfrm>
          <a:prstGeom prst="rect">
            <a:avLst/>
          </a:prstGeom>
          <a:noFill/>
          <a:ln/>
        </p:spPr>
        <p:txBody>
          <a:bodyPr wrap="square" lIns="0" tIns="0" rIns="0" bIns="0" rtlCol="0" anchor="ctr"/>
          <a:lstStyle/>
          <a:p>
            <a:pPr marL="0" indent="0">
              <a:lnSpc>
                <a:spcPct val="115000"/>
              </a:lnSpc>
              <a:buNone/>
            </a:pPr>
            <a:r>
              <a:rPr lang="en-US" sz="1050" dirty="0">
                <a:solidFill>
                  <a:srgbClr val="6B7794"/>
                </a:solidFill>
                <a:latin typeface="Calibri" pitchFamily="34" charset="0"/>
                <a:ea typeface="Calibri" pitchFamily="34" charset="-122"/>
                <a:cs typeface="Calibri" pitchFamily="34" charset="-120"/>
              </a:rPr>
              <a:t>Local queuing when offline, automatic sync once connectivity returns.</a:t>
            </a:r>
            <a:endParaRPr lang="en-US" sz="1050" dirty="0"/>
          </a:p>
        </p:txBody>
      </p:sp>
      <p:sp>
        <p:nvSpPr>
          <p:cNvPr id="34" name="Text 26"/>
          <p:cNvSpPr/>
          <p:nvPr/>
        </p:nvSpPr>
        <p:spPr>
          <a:xfrm>
            <a:off x="640080" y="6263640"/>
            <a:ext cx="10881360" cy="320040"/>
          </a:xfrm>
          <a:prstGeom prst="rect">
            <a:avLst/>
          </a:prstGeom>
          <a:noFill/>
          <a:ln/>
        </p:spPr>
        <p:txBody>
          <a:bodyPr wrap="square" lIns="0" tIns="0" rIns="0" bIns="0" rtlCol="0" anchor="ctr"/>
          <a:lstStyle/>
          <a:p>
            <a:pPr marL="0" indent="0">
              <a:buNone/>
            </a:pPr>
            <a:r>
              <a:rPr lang="en-US" sz="1050" i="1" dirty="0">
                <a:solidFill>
                  <a:srgbClr val="6B7794"/>
                </a:solidFill>
                <a:latin typeface="Calibri" pitchFamily="34" charset="0"/>
                <a:ea typeface="Calibri" pitchFamily="34" charset="-122"/>
                <a:cs typeface="Calibri" pitchFamily="34" charset="-120"/>
              </a:rPr>
              <a:t>Full set: FR-01 through FR-12, each traceable to a specific verified survey finding (Table 6 → Table 7).</a:t>
            </a:r>
            <a:endParaRPr lang="en-US" sz="1050" dirty="0"/>
          </a:p>
        </p:txBody>
      </p:sp>
      <p:sp>
        <p:nvSpPr>
          <p:cNvPr id="35"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36" name="Text 28"/>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02 · REQUIREMENTS &amp; DESIGN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Non-Functional Requirements &amp; Priority</a:t>
            </a:r>
            <a:endParaRPr lang="en-US" sz="3000" dirty="0"/>
          </a:p>
        </p:txBody>
      </p:sp>
      <p:sp>
        <p:nvSpPr>
          <p:cNvPr id="4" name="Shape 2"/>
          <p:cNvSpPr/>
          <p:nvPr/>
        </p:nvSpPr>
        <p:spPr>
          <a:xfrm>
            <a:off x="640080" y="1737360"/>
            <a:ext cx="6035040" cy="4297680"/>
          </a:xfrm>
          <a:prstGeom prst="roundRect">
            <a:avLst>
              <a:gd name="adj" fmla="val 1702"/>
            </a:avLst>
          </a:prstGeom>
          <a:solidFill>
            <a:srgbClr val="F4F6FC"/>
          </a:solidFill>
          <a:ln/>
          <a:effectLst>
            <a:outerShdw blurRad="101600" dist="38100" dir="2700000" algn="bl" rotWithShape="0">
              <a:srgbClr val="000000">
                <a:alpha val="12000"/>
              </a:srgbClr>
            </a:outerShdw>
          </a:effectLst>
        </p:spPr>
      </p:sp>
      <p:sp>
        <p:nvSpPr>
          <p:cNvPr id="5" name="Text 3"/>
          <p:cNvSpPr/>
          <p:nvPr/>
        </p:nvSpPr>
        <p:spPr>
          <a:xfrm>
            <a:off x="960120" y="2011680"/>
            <a:ext cx="5394960" cy="365760"/>
          </a:xfrm>
          <a:prstGeom prst="rect">
            <a:avLst/>
          </a:prstGeom>
          <a:noFill/>
          <a:ln/>
        </p:spPr>
        <p:txBody>
          <a:bodyPr wrap="square" lIns="0" tIns="0" rIns="0" bIns="0" rtlCol="0" anchor="ctr"/>
          <a:lstStyle/>
          <a:p>
            <a:pPr marL="0" indent="0">
              <a:buNone/>
            </a:pPr>
            <a:r>
              <a:rPr lang="en-US" sz="1600" b="1" dirty="0">
                <a:solidFill>
                  <a:srgbClr val="112141"/>
                </a:solidFill>
                <a:latin typeface="Cambria" pitchFamily="34" charset="0"/>
                <a:ea typeface="Cambria" pitchFamily="34" charset="-122"/>
                <a:cs typeface="Cambria" pitchFamily="34" charset="-120"/>
              </a:rPr>
              <a:t>Non-Functional Requirements</a:t>
            </a:r>
            <a:endParaRPr lang="en-US" sz="1600" dirty="0"/>
          </a:p>
        </p:txBody>
      </p:sp>
      <p:sp>
        <p:nvSpPr>
          <p:cNvPr id="6" name="Text 4"/>
          <p:cNvSpPr/>
          <p:nvPr/>
        </p:nvSpPr>
        <p:spPr>
          <a:xfrm>
            <a:off x="960120" y="2514600"/>
            <a:ext cx="5394960" cy="777240"/>
          </a:xfrm>
          <a:prstGeom prst="rect">
            <a:avLst/>
          </a:prstGeom>
          <a:noFill/>
          <a:ln/>
        </p:spPr>
        <p:txBody>
          <a:bodyPr wrap="square" lIns="0" tIns="0" rIns="0" bIns="0" rtlCol="0" anchor="ctr"/>
          <a:lstStyle/>
          <a:p>
            <a:pPr marL="0" indent="0">
              <a:lnSpc>
                <a:spcPct val="120000"/>
              </a:lnSpc>
              <a:buNone/>
            </a:pPr>
            <a:r>
              <a:rPr lang="en-US" sz="1200" b="1" dirty="0">
                <a:solidFill>
                  <a:srgbClr val="5330D5"/>
                </a:solidFill>
                <a:latin typeface="Calibri" pitchFamily="34" charset="0"/>
                <a:ea typeface="Calibri" pitchFamily="34" charset="-122"/>
                <a:cs typeface="Calibri" pitchFamily="34" charset="-120"/>
              </a:rPr>
              <a:t>NFR-02  </a:t>
            </a:r>
            <a:r>
              <a:rPr lang="en-US" sz="1200" dirty="0">
                <a:solidFill>
                  <a:srgbClr val="16213E"/>
                </a:solidFill>
                <a:latin typeface="Calibri" pitchFamily="34" charset="0"/>
                <a:ea typeface="Calibri" pitchFamily="34" charset="-122"/>
                <a:cs typeface="Calibri" pitchFamily="34" charset="-120"/>
              </a:rPr>
              <a:t>Granular consent for location, notifications and background collection — captured separately.</a:t>
            </a:r>
            <a:endParaRPr lang="en-US" sz="1200" dirty="0"/>
          </a:p>
        </p:txBody>
      </p:sp>
      <p:sp>
        <p:nvSpPr>
          <p:cNvPr id="7" name="Text 5"/>
          <p:cNvSpPr/>
          <p:nvPr/>
        </p:nvSpPr>
        <p:spPr>
          <a:xfrm>
            <a:off x="960120" y="3355848"/>
            <a:ext cx="5394960" cy="777240"/>
          </a:xfrm>
          <a:prstGeom prst="rect">
            <a:avLst/>
          </a:prstGeom>
          <a:noFill/>
          <a:ln/>
        </p:spPr>
        <p:txBody>
          <a:bodyPr wrap="square" lIns="0" tIns="0" rIns="0" bIns="0" rtlCol="0" anchor="ctr"/>
          <a:lstStyle/>
          <a:p>
            <a:pPr marL="0" indent="0">
              <a:lnSpc>
                <a:spcPct val="120000"/>
              </a:lnSpc>
              <a:buNone/>
            </a:pPr>
            <a:r>
              <a:rPr lang="en-US" sz="1200" b="1" dirty="0">
                <a:solidFill>
                  <a:srgbClr val="5330D5"/>
                </a:solidFill>
                <a:latin typeface="Calibri" pitchFamily="34" charset="0"/>
                <a:ea typeface="Calibri" pitchFamily="34" charset="-122"/>
                <a:cs typeface="Calibri" pitchFamily="34" charset="-120"/>
              </a:rPr>
              <a:t>NFR-03 / 04  </a:t>
            </a:r>
            <a:r>
              <a:rPr lang="en-US" sz="1200" dirty="0">
                <a:solidFill>
                  <a:srgbClr val="16213E"/>
                </a:solidFill>
                <a:latin typeface="Calibri" pitchFamily="34" charset="0"/>
                <a:ea typeface="Calibri" pitchFamily="34" charset="-122"/>
                <a:cs typeface="Calibri" pitchFamily="34" charset="-120"/>
              </a:rPr>
              <a:t>Battery- and data-efficient: lightweight passive collection, batched and Wi-Fi-restrictable uploads.</a:t>
            </a:r>
            <a:endParaRPr lang="en-US" sz="1200" dirty="0"/>
          </a:p>
        </p:txBody>
      </p:sp>
      <p:sp>
        <p:nvSpPr>
          <p:cNvPr id="8" name="Text 6"/>
          <p:cNvSpPr/>
          <p:nvPr/>
        </p:nvSpPr>
        <p:spPr>
          <a:xfrm>
            <a:off x="960120" y="4197096"/>
            <a:ext cx="5394960" cy="777240"/>
          </a:xfrm>
          <a:prstGeom prst="rect">
            <a:avLst/>
          </a:prstGeom>
          <a:noFill/>
          <a:ln/>
        </p:spPr>
        <p:txBody>
          <a:bodyPr wrap="square" lIns="0" tIns="0" rIns="0" bIns="0" rtlCol="0" anchor="ctr"/>
          <a:lstStyle/>
          <a:p>
            <a:pPr marL="0" indent="0">
              <a:lnSpc>
                <a:spcPct val="120000"/>
              </a:lnSpc>
              <a:buNone/>
            </a:pPr>
            <a:r>
              <a:rPr lang="en-US" sz="1200" b="1" dirty="0">
                <a:solidFill>
                  <a:srgbClr val="5330D5"/>
                </a:solidFill>
                <a:latin typeface="Calibri" pitchFamily="34" charset="0"/>
                <a:ea typeface="Calibri" pitchFamily="34" charset="-122"/>
                <a:cs typeface="Calibri" pitchFamily="34" charset="-120"/>
              </a:rPr>
              <a:t>NFR-06 / 07  </a:t>
            </a:r>
            <a:r>
              <a:rPr lang="en-US" sz="1200" dirty="0">
                <a:solidFill>
                  <a:srgbClr val="16213E"/>
                </a:solidFill>
                <a:latin typeface="Calibri" pitchFamily="34" charset="0"/>
                <a:ea typeface="Calibri" pitchFamily="34" charset="-122"/>
                <a:cs typeface="Calibri" pitchFamily="34" charset="-120"/>
              </a:rPr>
              <a:t>Reliable under poor connectivity; anonymous device identity protects subscriber privacy.</a:t>
            </a:r>
            <a:endParaRPr lang="en-US" sz="1200" dirty="0"/>
          </a:p>
        </p:txBody>
      </p:sp>
      <p:sp>
        <p:nvSpPr>
          <p:cNvPr id="9" name="Text 7"/>
          <p:cNvSpPr/>
          <p:nvPr/>
        </p:nvSpPr>
        <p:spPr>
          <a:xfrm>
            <a:off x="960120" y="5038344"/>
            <a:ext cx="5394960" cy="777240"/>
          </a:xfrm>
          <a:prstGeom prst="rect">
            <a:avLst/>
          </a:prstGeom>
          <a:noFill/>
          <a:ln/>
        </p:spPr>
        <p:txBody>
          <a:bodyPr wrap="square" lIns="0" tIns="0" rIns="0" bIns="0" rtlCol="0" anchor="ctr"/>
          <a:lstStyle/>
          <a:p>
            <a:pPr marL="0" indent="0">
              <a:lnSpc>
                <a:spcPct val="120000"/>
              </a:lnSpc>
              <a:buNone/>
            </a:pPr>
            <a:r>
              <a:rPr lang="en-US" sz="1200" b="1" dirty="0">
                <a:solidFill>
                  <a:srgbClr val="5330D5"/>
                </a:solidFill>
                <a:latin typeface="Calibri" pitchFamily="34" charset="0"/>
                <a:ea typeface="Calibri" pitchFamily="34" charset="-122"/>
                <a:cs typeface="Calibri" pitchFamily="34" charset="-120"/>
              </a:rPr>
              <a:t>NFR-08  </a:t>
            </a:r>
            <a:r>
              <a:rPr lang="en-US" sz="1200" dirty="0">
                <a:solidFill>
                  <a:srgbClr val="16213E"/>
                </a:solidFill>
                <a:latin typeface="Calibri" pitchFamily="34" charset="0"/>
                <a:ea typeface="Calibri" pitchFamily="34" charset="-122"/>
                <a:cs typeface="Calibri" pitchFamily="34" charset="-120"/>
              </a:rPr>
              <a:t>Layered, maintainable code with reusable modules and typed interfaces throughout.</a:t>
            </a:r>
            <a:endParaRPr lang="en-US" sz="1200" dirty="0"/>
          </a:p>
        </p:txBody>
      </p:sp>
      <p:sp>
        <p:nvSpPr>
          <p:cNvPr id="10" name="Shape 8"/>
          <p:cNvSpPr/>
          <p:nvPr/>
        </p:nvSpPr>
        <p:spPr>
          <a:xfrm>
            <a:off x="6995160" y="1737360"/>
            <a:ext cx="4572000" cy="1325880"/>
          </a:xfrm>
          <a:prstGeom prst="roundRect">
            <a:avLst>
              <a:gd name="adj" fmla="val 4828"/>
            </a:avLst>
          </a:prstGeom>
          <a:solidFill>
            <a:srgbClr val="112141"/>
          </a:solidFill>
          <a:ln/>
        </p:spPr>
      </p:sp>
      <p:sp>
        <p:nvSpPr>
          <p:cNvPr id="11" name="Shape 9"/>
          <p:cNvSpPr/>
          <p:nvPr/>
        </p:nvSpPr>
        <p:spPr>
          <a:xfrm>
            <a:off x="7251192" y="1993392"/>
            <a:ext cx="201168" cy="201168"/>
          </a:xfrm>
          <a:prstGeom prst="ellipse">
            <a:avLst/>
          </a:prstGeom>
          <a:solidFill>
            <a:srgbClr val="E06251"/>
          </a:solidFill>
          <a:ln/>
        </p:spPr>
      </p:sp>
      <p:sp>
        <p:nvSpPr>
          <p:cNvPr id="12" name="Text 10"/>
          <p:cNvSpPr/>
          <p:nvPr/>
        </p:nvSpPr>
        <p:spPr>
          <a:xfrm>
            <a:off x="7562088" y="1883664"/>
            <a:ext cx="3749040" cy="365760"/>
          </a:xfrm>
          <a:prstGeom prst="rect">
            <a:avLst/>
          </a:prstGeom>
          <a:noFill/>
          <a:ln/>
        </p:spPr>
        <p:txBody>
          <a:bodyPr wrap="square" lIns="0" tIns="0" rIns="0" bIns="0" rtlCol="0" anchor="ctr"/>
          <a:lstStyle/>
          <a:p>
            <a:pPr marL="0" indent="0">
              <a:buNone/>
            </a:pPr>
            <a:r>
              <a:rPr lang="en-US" sz="1350" b="1" kern="0" spc="100" dirty="0">
                <a:solidFill>
                  <a:srgbClr val="FFFFFF"/>
                </a:solidFill>
                <a:latin typeface="Cambria" pitchFamily="34" charset="0"/>
                <a:ea typeface="Cambria" pitchFamily="34" charset="-122"/>
                <a:cs typeface="Cambria" pitchFamily="34" charset="-120"/>
              </a:rPr>
              <a:t>CRITICAL</a:t>
            </a:r>
            <a:endParaRPr lang="en-US" sz="1350" dirty="0"/>
          </a:p>
        </p:txBody>
      </p:sp>
      <p:sp>
        <p:nvSpPr>
          <p:cNvPr id="13" name="Text 11"/>
          <p:cNvSpPr/>
          <p:nvPr/>
        </p:nvSpPr>
        <p:spPr>
          <a:xfrm>
            <a:off x="7251192" y="2304288"/>
            <a:ext cx="4059936" cy="685800"/>
          </a:xfrm>
          <a:prstGeom prst="rect">
            <a:avLst/>
          </a:prstGeom>
          <a:noFill/>
          <a:ln/>
        </p:spPr>
        <p:txBody>
          <a:bodyPr wrap="square" lIns="0" tIns="0" rIns="0" bIns="0" rtlCol="0" anchor="ctr"/>
          <a:lstStyle/>
          <a:p>
            <a:pPr marL="0" indent="0">
              <a:lnSpc>
                <a:spcPct val="115000"/>
              </a:lnSpc>
              <a:buNone/>
            </a:pPr>
            <a:r>
              <a:rPr lang="en-US" sz="1050" dirty="0">
                <a:solidFill>
                  <a:srgbClr val="C7CEE8"/>
                </a:solidFill>
                <a:latin typeface="Calibri" pitchFamily="34" charset="0"/>
                <a:ea typeface="Calibri" pitchFamily="34" charset="-122"/>
                <a:cs typeface="Calibri" pitchFamily="34" charset="-120"/>
              </a:rPr>
              <a:t>Consent, device identity, metric collection, local storage, sync, database storage</a:t>
            </a:r>
            <a:endParaRPr lang="en-US" sz="1050" dirty="0"/>
          </a:p>
        </p:txBody>
      </p:sp>
      <p:sp>
        <p:nvSpPr>
          <p:cNvPr id="14" name="Shape 12"/>
          <p:cNvSpPr/>
          <p:nvPr/>
        </p:nvSpPr>
        <p:spPr>
          <a:xfrm>
            <a:off x="6995160" y="3319272"/>
            <a:ext cx="4572000" cy="1325880"/>
          </a:xfrm>
          <a:prstGeom prst="roundRect">
            <a:avLst>
              <a:gd name="adj" fmla="val 4828"/>
            </a:avLst>
          </a:prstGeom>
          <a:solidFill>
            <a:srgbClr val="112141"/>
          </a:solidFill>
          <a:ln/>
        </p:spPr>
      </p:sp>
      <p:sp>
        <p:nvSpPr>
          <p:cNvPr id="15" name="Shape 13"/>
          <p:cNvSpPr/>
          <p:nvPr/>
        </p:nvSpPr>
        <p:spPr>
          <a:xfrm>
            <a:off x="7251192" y="3575304"/>
            <a:ext cx="201168" cy="201168"/>
          </a:xfrm>
          <a:prstGeom prst="ellipse">
            <a:avLst/>
          </a:prstGeom>
          <a:solidFill>
            <a:srgbClr val="5330D5"/>
          </a:solidFill>
          <a:ln/>
        </p:spPr>
      </p:sp>
      <p:sp>
        <p:nvSpPr>
          <p:cNvPr id="16" name="Text 14"/>
          <p:cNvSpPr/>
          <p:nvPr/>
        </p:nvSpPr>
        <p:spPr>
          <a:xfrm>
            <a:off x="7562088" y="3465576"/>
            <a:ext cx="3749040" cy="365760"/>
          </a:xfrm>
          <a:prstGeom prst="rect">
            <a:avLst/>
          </a:prstGeom>
          <a:noFill/>
          <a:ln/>
        </p:spPr>
        <p:txBody>
          <a:bodyPr wrap="square" lIns="0" tIns="0" rIns="0" bIns="0" rtlCol="0" anchor="ctr"/>
          <a:lstStyle/>
          <a:p>
            <a:pPr marL="0" indent="0">
              <a:buNone/>
            </a:pPr>
            <a:r>
              <a:rPr lang="en-US" sz="1350" b="1" kern="0" spc="100" dirty="0">
                <a:solidFill>
                  <a:srgbClr val="FFFFFF"/>
                </a:solidFill>
                <a:latin typeface="Cambria" pitchFamily="34" charset="0"/>
                <a:ea typeface="Cambria" pitchFamily="34" charset="-122"/>
                <a:cs typeface="Cambria" pitchFamily="34" charset="-120"/>
              </a:rPr>
              <a:t>HIGH</a:t>
            </a:r>
            <a:endParaRPr lang="en-US" sz="1350" dirty="0"/>
          </a:p>
        </p:txBody>
      </p:sp>
      <p:sp>
        <p:nvSpPr>
          <p:cNvPr id="17" name="Text 15"/>
          <p:cNvSpPr/>
          <p:nvPr/>
        </p:nvSpPr>
        <p:spPr>
          <a:xfrm>
            <a:off x="7251192" y="3886200"/>
            <a:ext cx="4059936" cy="685800"/>
          </a:xfrm>
          <a:prstGeom prst="rect">
            <a:avLst/>
          </a:prstGeom>
          <a:noFill/>
          <a:ln/>
        </p:spPr>
        <p:txBody>
          <a:bodyPr wrap="square" lIns="0" tIns="0" rIns="0" bIns="0" rtlCol="0" anchor="ctr"/>
          <a:lstStyle/>
          <a:p>
            <a:pPr marL="0" indent="0">
              <a:lnSpc>
                <a:spcPct val="115000"/>
              </a:lnSpc>
              <a:buNone/>
            </a:pPr>
            <a:r>
              <a:rPr lang="en-US" sz="1050" dirty="0">
                <a:solidFill>
                  <a:srgbClr val="C7CEE8"/>
                </a:solidFill>
                <a:latin typeface="Calibri" pitchFamily="34" charset="0"/>
                <a:ea typeface="Calibri" pitchFamily="34" charset="-122"/>
                <a:cs typeface="Calibri" pitchFamily="34" charset="-120"/>
              </a:rPr>
              <a:t>Dashboard, history, notifications, manual speed test, backend validation</a:t>
            </a:r>
            <a:endParaRPr lang="en-US" sz="1050" dirty="0"/>
          </a:p>
        </p:txBody>
      </p:sp>
      <p:sp>
        <p:nvSpPr>
          <p:cNvPr id="18" name="Shape 16"/>
          <p:cNvSpPr/>
          <p:nvPr/>
        </p:nvSpPr>
        <p:spPr>
          <a:xfrm>
            <a:off x="6995160" y="4901184"/>
            <a:ext cx="4572000" cy="1325880"/>
          </a:xfrm>
          <a:prstGeom prst="roundRect">
            <a:avLst>
              <a:gd name="adj" fmla="val 4828"/>
            </a:avLst>
          </a:prstGeom>
          <a:solidFill>
            <a:srgbClr val="112141"/>
          </a:solidFill>
          <a:ln/>
        </p:spPr>
      </p:sp>
      <p:sp>
        <p:nvSpPr>
          <p:cNvPr id="19" name="Shape 17"/>
          <p:cNvSpPr/>
          <p:nvPr/>
        </p:nvSpPr>
        <p:spPr>
          <a:xfrm>
            <a:off x="7251192" y="5157216"/>
            <a:ext cx="201168" cy="201168"/>
          </a:xfrm>
          <a:prstGeom prst="ellipse">
            <a:avLst/>
          </a:prstGeom>
          <a:solidFill>
            <a:srgbClr val="94DBB8"/>
          </a:solidFill>
          <a:ln/>
        </p:spPr>
      </p:sp>
      <p:sp>
        <p:nvSpPr>
          <p:cNvPr id="20" name="Text 18"/>
          <p:cNvSpPr/>
          <p:nvPr/>
        </p:nvSpPr>
        <p:spPr>
          <a:xfrm>
            <a:off x="7562088" y="5047488"/>
            <a:ext cx="3749040" cy="365760"/>
          </a:xfrm>
          <a:prstGeom prst="rect">
            <a:avLst/>
          </a:prstGeom>
          <a:noFill/>
          <a:ln/>
        </p:spPr>
        <p:txBody>
          <a:bodyPr wrap="square" lIns="0" tIns="0" rIns="0" bIns="0" rtlCol="0" anchor="ctr"/>
          <a:lstStyle/>
          <a:p>
            <a:pPr marL="0" indent="0">
              <a:buNone/>
            </a:pPr>
            <a:r>
              <a:rPr lang="en-US" sz="1350" b="1" kern="0" spc="100" dirty="0">
                <a:solidFill>
                  <a:srgbClr val="FFFFFF"/>
                </a:solidFill>
                <a:latin typeface="Cambria" pitchFamily="34" charset="0"/>
                <a:ea typeface="Cambria" pitchFamily="34" charset="-122"/>
                <a:cs typeface="Cambria" pitchFamily="34" charset="-120"/>
              </a:rPr>
              <a:t>MEDIUM / LOW</a:t>
            </a:r>
            <a:endParaRPr lang="en-US" sz="1350" dirty="0"/>
          </a:p>
        </p:txBody>
      </p:sp>
      <p:sp>
        <p:nvSpPr>
          <p:cNvPr id="21" name="Text 19"/>
          <p:cNvSpPr/>
          <p:nvPr/>
        </p:nvSpPr>
        <p:spPr>
          <a:xfrm>
            <a:off x="7251192" y="5468112"/>
            <a:ext cx="4059936" cy="685800"/>
          </a:xfrm>
          <a:prstGeom prst="rect">
            <a:avLst/>
          </a:prstGeom>
          <a:noFill/>
          <a:ln/>
        </p:spPr>
        <p:txBody>
          <a:bodyPr wrap="square" lIns="0" tIns="0" rIns="0" bIns="0" rtlCol="0" anchor="ctr"/>
          <a:lstStyle/>
          <a:p>
            <a:pPr marL="0" indent="0">
              <a:lnSpc>
                <a:spcPct val="115000"/>
              </a:lnSpc>
              <a:buNone/>
            </a:pPr>
            <a:r>
              <a:rPr lang="en-US" sz="1050" dirty="0">
                <a:solidFill>
                  <a:srgbClr val="C7CEE8"/>
                </a:solidFill>
                <a:latin typeface="Calibri" pitchFamily="34" charset="0"/>
                <a:ea typeface="Calibri" pitchFamily="34" charset="-122"/>
                <a:cs typeface="Calibri" pitchFamily="34" charset="-120"/>
              </a:rPr>
              <a:t>Advanced analytics, data-usage counters, heat maps, app-store release automation</a:t>
            </a:r>
            <a:endParaRPr lang="en-US" sz="1050" dirty="0"/>
          </a:p>
        </p:txBody>
      </p:sp>
      <p:sp>
        <p:nvSpPr>
          <p:cNvPr id="22" name="Text 2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23" name="Text 2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sp>
          <p:nvSpPr>
            <p:cNvPr id="5" name="object 5"/>
            <p:cNvSpPr/>
            <p:nvPr/>
          </p:nvSpPr>
          <p:spPr>
            <a:xfrm>
              <a:off x="640080" y="2331720"/>
              <a:ext cx="1188720" cy="1188720"/>
            </a:xfrm>
            <a:custGeom>
              <a:avLst/>
              <a:gdLst/>
              <a:ahLst/>
              <a:cxnLst/>
              <a:rect l="l" t="t" r="r" b="b"/>
              <a:pathLst>
                <a:path w="1188720" h="1188720">
                  <a:moveTo>
                    <a:pt x="594360" y="0"/>
                  </a:moveTo>
                  <a:lnTo>
                    <a:pt x="545613" y="1970"/>
                  </a:lnTo>
                  <a:lnTo>
                    <a:pt x="497951" y="7778"/>
                  </a:lnTo>
                  <a:lnTo>
                    <a:pt x="451528" y="17271"/>
                  </a:lnTo>
                  <a:lnTo>
                    <a:pt x="406495" y="30297"/>
                  </a:lnTo>
                  <a:lnTo>
                    <a:pt x="363007" y="46702"/>
                  </a:lnTo>
                  <a:lnTo>
                    <a:pt x="321216" y="66334"/>
                  </a:lnTo>
                  <a:lnTo>
                    <a:pt x="281276" y="89039"/>
                  </a:lnTo>
                  <a:lnTo>
                    <a:pt x="243338" y="114665"/>
                  </a:lnTo>
                  <a:lnTo>
                    <a:pt x="207556" y="143060"/>
                  </a:lnTo>
                  <a:lnTo>
                    <a:pt x="174083" y="174069"/>
                  </a:lnTo>
                  <a:lnTo>
                    <a:pt x="143072" y="207540"/>
                  </a:lnTo>
                  <a:lnTo>
                    <a:pt x="114676" y="243321"/>
                  </a:lnTo>
                  <a:lnTo>
                    <a:pt x="89048" y="281259"/>
                  </a:lnTo>
                  <a:lnTo>
                    <a:pt x="66341" y="321200"/>
                  </a:lnTo>
                  <a:lnTo>
                    <a:pt x="46707" y="362991"/>
                  </a:lnTo>
                  <a:lnTo>
                    <a:pt x="30300" y="406481"/>
                  </a:lnTo>
                  <a:lnTo>
                    <a:pt x="17273" y="451515"/>
                  </a:lnTo>
                  <a:lnTo>
                    <a:pt x="7779" y="497942"/>
                  </a:lnTo>
                  <a:lnTo>
                    <a:pt x="1970" y="545607"/>
                  </a:lnTo>
                  <a:lnTo>
                    <a:pt x="0" y="594359"/>
                  </a:lnTo>
                  <a:lnTo>
                    <a:pt x="1970" y="643112"/>
                  </a:lnTo>
                  <a:lnTo>
                    <a:pt x="7779" y="690777"/>
                  </a:lnTo>
                  <a:lnTo>
                    <a:pt x="17273" y="737204"/>
                  </a:lnTo>
                  <a:lnTo>
                    <a:pt x="30300" y="782238"/>
                  </a:lnTo>
                  <a:lnTo>
                    <a:pt x="46707" y="825728"/>
                  </a:lnTo>
                  <a:lnTo>
                    <a:pt x="66341" y="867519"/>
                  </a:lnTo>
                  <a:lnTo>
                    <a:pt x="89048" y="907460"/>
                  </a:lnTo>
                  <a:lnTo>
                    <a:pt x="114676" y="945398"/>
                  </a:lnTo>
                  <a:lnTo>
                    <a:pt x="143072" y="981179"/>
                  </a:lnTo>
                  <a:lnTo>
                    <a:pt x="174083" y="1014650"/>
                  </a:lnTo>
                  <a:lnTo>
                    <a:pt x="207556" y="1045659"/>
                  </a:lnTo>
                  <a:lnTo>
                    <a:pt x="243338" y="1074054"/>
                  </a:lnTo>
                  <a:lnTo>
                    <a:pt x="281276" y="1099680"/>
                  </a:lnTo>
                  <a:lnTo>
                    <a:pt x="321216" y="1122385"/>
                  </a:lnTo>
                  <a:lnTo>
                    <a:pt x="363007" y="1142017"/>
                  </a:lnTo>
                  <a:lnTo>
                    <a:pt x="406495" y="1158422"/>
                  </a:lnTo>
                  <a:lnTo>
                    <a:pt x="451528" y="1171448"/>
                  </a:lnTo>
                  <a:lnTo>
                    <a:pt x="497951" y="1180941"/>
                  </a:lnTo>
                  <a:lnTo>
                    <a:pt x="545613" y="1186749"/>
                  </a:lnTo>
                  <a:lnTo>
                    <a:pt x="594360" y="1188719"/>
                  </a:lnTo>
                  <a:lnTo>
                    <a:pt x="643112" y="1186749"/>
                  </a:lnTo>
                  <a:lnTo>
                    <a:pt x="690777" y="1180941"/>
                  </a:lnTo>
                  <a:lnTo>
                    <a:pt x="737204" y="1171448"/>
                  </a:lnTo>
                  <a:lnTo>
                    <a:pt x="782238" y="1158422"/>
                  </a:lnTo>
                  <a:lnTo>
                    <a:pt x="825728" y="1142017"/>
                  </a:lnTo>
                  <a:lnTo>
                    <a:pt x="867519" y="1122385"/>
                  </a:lnTo>
                  <a:lnTo>
                    <a:pt x="907460" y="1099680"/>
                  </a:lnTo>
                  <a:lnTo>
                    <a:pt x="945398" y="1074054"/>
                  </a:lnTo>
                  <a:lnTo>
                    <a:pt x="981179" y="1045659"/>
                  </a:lnTo>
                  <a:lnTo>
                    <a:pt x="1014650" y="1014650"/>
                  </a:lnTo>
                  <a:lnTo>
                    <a:pt x="1045659" y="981179"/>
                  </a:lnTo>
                  <a:lnTo>
                    <a:pt x="1074054" y="945398"/>
                  </a:lnTo>
                  <a:lnTo>
                    <a:pt x="1099680" y="907460"/>
                  </a:lnTo>
                  <a:lnTo>
                    <a:pt x="1122385" y="867519"/>
                  </a:lnTo>
                  <a:lnTo>
                    <a:pt x="1142017" y="825728"/>
                  </a:lnTo>
                  <a:lnTo>
                    <a:pt x="1158422" y="782238"/>
                  </a:lnTo>
                  <a:lnTo>
                    <a:pt x="1171448" y="737204"/>
                  </a:lnTo>
                  <a:lnTo>
                    <a:pt x="1180941" y="690777"/>
                  </a:lnTo>
                  <a:lnTo>
                    <a:pt x="1186749" y="643112"/>
                  </a:lnTo>
                  <a:lnTo>
                    <a:pt x="1188720" y="594359"/>
                  </a:lnTo>
                  <a:lnTo>
                    <a:pt x="1186749" y="545607"/>
                  </a:lnTo>
                  <a:lnTo>
                    <a:pt x="1180941" y="497942"/>
                  </a:lnTo>
                  <a:lnTo>
                    <a:pt x="1171448" y="451515"/>
                  </a:lnTo>
                  <a:lnTo>
                    <a:pt x="1158422" y="406481"/>
                  </a:lnTo>
                  <a:lnTo>
                    <a:pt x="1142017" y="362991"/>
                  </a:lnTo>
                  <a:lnTo>
                    <a:pt x="1122385" y="321200"/>
                  </a:lnTo>
                  <a:lnTo>
                    <a:pt x="1099680" y="281259"/>
                  </a:lnTo>
                  <a:lnTo>
                    <a:pt x="1074054" y="243321"/>
                  </a:lnTo>
                  <a:lnTo>
                    <a:pt x="1045659" y="207540"/>
                  </a:lnTo>
                  <a:lnTo>
                    <a:pt x="1014650" y="174069"/>
                  </a:lnTo>
                  <a:lnTo>
                    <a:pt x="981179" y="143060"/>
                  </a:lnTo>
                  <a:lnTo>
                    <a:pt x="945398" y="114665"/>
                  </a:lnTo>
                  <a:lnTo>
                    <a:pt x="907460" y="89039"/>
                  </a:lnTo>
                  <a:lnTo>
                    <a:pt x="867519" y="66334"/>
                  </a:lnTo>
                  <a:lnTo>
                    <a:pt x="825728" y="46702"/>
                  </a:lnTo>
                  <a:lnTo>
                    <a:pt x="782238" y="30297"/>
                  </a:lnTo>
                  <a:lnTo>
                    <a:pt x="737204" y="17271"/>
                  </a:lnTo>
                  <a:lnTo>
                    <a:pt x="690777" y="7778"/>
                  </a:lnTo>
                  <a:lnTo>
                    <a:pt x="643112" y="1970"/>
                  </a:lnTo>
                  <a:lnTo>
                    <a:pt x="594360" y="0"/>
                  </a:lnTo>
                  <a:close/>
                </a:path>
              </a:pathLst>
            </a:custGeom>
            <a:solidFill>
              <a:srgbClr val="049569"/>
            </a:solidFill>
          </p:spPr>
          <p:txBody>
            <a:bodyPr wrap="square" lIns="0" tIns="0" rIns="0" bIns="0" rtlCol="0"/>
            <a:lstStyle/>
            <a:p>
              <a:endParaRPr/>
            </a:p>
          </p:txBody>
        </p:sp>
        <p:pic>
          <p:nvPicPr>
            <p:cNvPr id="6" name="object 6"/>
            <p:cNvPicPr/>
            <p:nvPr/>
          </p:nvPicPr>
          <p:blipFill>
            <a:blip r:embed="rId4" cstate="print"/>
            <a:stretch>
              <a:fillRect/>
            </a:stretch>
          </p:blipFill>
          <p:spPr>
            <a:xfrm>
              <a:off x="978408" y="2670048"/>
              <a:ext cx="512064" cy="512063"/>
            </a:xfrm>
            <a:prstGeom prst="rect">
              <a:avLst/>
            </a:prstGeom>
          </p:spPr>
        </p:pic>
      </p:grpSp>
      <p:sp>
        <p:nvSpPr>
          <p:cNvPr id="7" name="object 7" descr="$PPTXTitle"/>
          <p:cNvSpPr txBox="1">
            <a:spLocks noGrp="1"/>
          </p:cNvSpPr>
          <p:nvPr>
            <p:ph type="title"/>
          </p:nvPr>
        </p:nvSpPr>
        <p:spPr>
          <a:xfrm>
            <a:off x="2090673" y="2179141"/>
            <a:ext cx="796925" cy="940435"/>
          </a:xfrm>
          <a:prstGeom prst="rect">
            <a:avLst/>
          </a:prstGeom>
        </p:spPr>
        <p:txBody>
          <a:bodyPr vert="horz" wrap="square" lIns="0" tIns="12700" rIns="0" bIns="0" rtlCol="0">
            <a:spAutoFit/>
          </a:bodyPr>
          <a:lstStyle/>
          <a:p>
            <a:pPr marL="12700">
              <a:lnSpc>
                <a:spcPct val="100000"/>
              </a:lnSpc>
              <a:spcBef>
                <a:spcPts val="100"/>
              </a:spcBef>
            </a:pPr>
            <a:r>
              <a:rPr sz="6000" spc="-25" dirty="0">
                <a:solidFill>
                  <a:srgbClr val="049569"/>
                </a:solidFill>
              </a:rPr>
              <a:t>03</a:t>
            </a:r>
            <a:endParaRPr sz="6000" dirty="0"/>
          </a:p>
        </p:txBody>
      </p:sp>
      <p:sp>
        <p:nvSpPr>
          <p:cNvPr id="10" name="Text 4">
            <a:extLst>
              <a:ext uri="{FF2B5EF4-FFF2-40B4-BE49-F238E27FC236}">
                <a16:creationId xmlns:a16="http://schemas.microsoft.com/office/drawing/2014/main" id="{9EE8C303-C49F-27DF-8329-59F04957A293}"/>
              </a:ext>
            </a:extLst>
          </p:cNvPr>
          <p:cNvSpPr/>
          <p:nvPr/>
        </p:nvSpPr>
        <p:spPr>
          <a:xfrm>
            <a:off x="640080" y="3656184"/>
            <a:ext cx="9601200" cy="1005840"/>
          </a:xfrm>
          <a:prstGeom prst="rect">
            <a:avLst/>
          </a:prstGeom>
          <a:noFill/>
          <a:ln/>
        </p:spPr>
        <p:txBody>
          <a:bodyPr wrap="square" lIns="0" tIns="0" rIns="0" bIns="0" rtlCol="0" anchor="ctr"/>
          <a:lstStyle/>
          <a:p>
            <a:pPr marL="0" indent="0">
              <a:buNone/>
            </a:pPr>
            <a:r>
              <a:rPr lang="en-US" sz="4000" b="1" dirty="0">
                <a:solidFill>
                  <a:schemeClr val="tx1">
                    <a:lumMod val="95000"/>
                    <a:lumOff val="5000"/>
                  </a:schemeClr>
                </a:solidFill>
                <a:latin typeface="Cambria" pitchFamily="34" charset="0"/>
                <a:ea typeface="Cambria" pitchFamily="34" charset="-122"/>
                <a:cs typeface="Cambria" pitchFamily="34" charset="-120"/>
              </a:rPr>
              <a:t>System Architecture</a:t>
            </a:r>
            <a:endParaRPr lang="en-US" sz="4000" dirty="0">
              <a:solidFill>
                <a:schemeClr val="tx1">
                  <a:lumMod val="95000"/>
                  <a:lumOff val="5000"/>
                </a:schemeClr>
              </a:solidFill>
            </a:endParaRPr>
          </a:p>
        </p:txBody>
      </p:sp>
      <p:sp>
        <p:nvSpPr>
          <p:cNvPr id="12" name="Text 5">
            <a:extLst>
              <a:ext uri="{FF2B5EF4-FFF2-40B4-BE49-F238E27FC236}">
                <a16:creationId xmlns:a16="http://schemas.microsoft.com/office/drawing/2014/main" id="{7266F354-5D69-356D-B0BF-20F5ECF6C592}"/>
              </a:ext>
            </a:extLst>
          </p:cNvPr>
          <p:cNvSpPr/>
          <p:nvPr/>
        </p:nvSpPr>
        <p:spPr>
          <a:xfrm>
            <a:off x="822960" y="4344110"/>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Three-tier design, relational data model and offline-first data flow</a:t>
            </a:r>
            <a:endParaRPr lang="en-US" sz="1500" dirty="0">
              <a:solidFill>
                <a:schemeClr val="tx1">
                  <a:lumMod val="95000"/>
                  <a:lumOff val="5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03 · SYSTEM ARCHITECTURE</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A Three-Tier, Offline-Aware System</a:t>
            </a:r>
            <a:endParaRPr lang="en-US" sz="3000" dirty="0"/>
          </a:p>
        </p:txBody>
      </p:sp>
      <p:sp>
        <p:nvSpPr>
          <p:cNvPr id="4" name="Shape 2"/>
          <p:cNvSpPr/>
          <p:nvPr/>
        </p:nvSpPr>
        <p:spPr>
          <a:xfrm>
            <a:off x="502920" y="1783080"/>
            <a:ext cx="6675120" cy="3245465"/>
          </a:xfrm>
          <a:prstGeom prst="roundRect">
            <a:avLst>
              <a:gd name="adj" fmla="val 2254"/>
            </a:avLst>
          </a:prstGeom>
          <a:solidFill>
            <a:srgbClr val="F4F6FC"/>
          </a:solidFill>
          <a:ln/>
          <a:effectLst>
            <a:outerShdw blurRad="101600" dist="38100" dir="2700000" algn="bl" rotWithShape="0">
              <a:srgbClr val="000000">
                <a:alpha val="12000"/>
              </a:srgbClr>
            </a:outerShdw>
          </a:effectLst>
        </p:spPr>
      </p:sp>
      <p:pic>
        <p:nvPicPr>
          <p:cNvPr id="5" name="Image 0" descr="/home/claude/work/assets/architecture.png"/>
          <p:cNvPicPr>
            <a:picLocks noChangeAspect="1"/>
          </p:cNvPicPr>
          <p:nvPr/>
        </p:nvPicPr>
        <p:blipFill>
          <a:blip r:embed="rId3"/>
          <a:stretch>
            <a:fillRect/>
          </a:stretch>
        </p:blipFill>
        <p:spPr>
          <a:xfrm>
            <a:off x="640080" y="1920240"/>
            <a:ext cx="6400800" cy="2971145"/>
          </a:xfrm>
          <a:prstGeom prst="rect">
            <a:avLst/>
          </a:prstGeom>
        </p:spPr>
      </p:pic>
      <p:sp>
        <p:nvSpPr>
          <p:cNvPr id="6" name="Shape 3"/>
          <p:cNvSpPr/>
          <p:nvPr/>
        </p:nvSpPr>
        <p:spPr>
          <a:xfrm>
            <a:off x="7498080" y="1874520"/>
            <a:ext cx="502920" cy="502920"/>
          </a:xfrm>
          <a:prstGeom prst="ellipse">
            <a:avLst/>
          </a:prstGeom>
          <a:solidFill>
            <a:srgbClr val="FFFFFF"/>
          </a:solidFill>
          <a:ln/>
        </p:spPr>
      </p:sp>
      <p:pic>
        <p:nvPicPr>
          <p:cNvPr id="7" name="Image 1" descr="preencoded.png"/>
          <p:cNvPicPr>
            <a:picLocks noChangeAspect="1"/>
          </p:cNvPicPr>
          <p:nvPr/>
        </p:nvPicPr>
        <p:blipFill>
          <a:blip r:embed="rId4"/>
          <a:stretch>
            <a:fillRect/>
          </a:stretch>
        </p:blipFill>
        <p:spPr>
          <a:xfrm>
            <a:off x="7578547" y="1954987"/>
            <a:ext cx="341986" cy="341986"/>
          </a:xfrm>
          <a:prstGeom prst="rect">
            <a:avLst/>
          </a:prstGeom>
        </p:spPr>
      </p:pic>
      <p:sp>
        <p:nvSpPr>
          <p:cNvPr id="8" name="Text 4"/>
          <p:cNvSpPr/>
          <p:nvPr/>
        </p:nvSpPr>
        <p:spPr>
          <a:xfrm>
            <a:off x="8138160" y="1856232"/>
            <a:ext cx="3413455" cy="365760"/>
          </a:xfrm>
          <a:prstGeom prst="rect">
            <a:avLst/>
          </a:prstGeom>
          <a:noFill/>
          <a:ln/>
        </p:spPr>
        <p:txBody>
          <a:bodyPr wrap="square" lIns="0" tIns="0" rIns="0" bIns="0" rtlCol="0" anchor="ctr"/>
          <a:lstStyle/>
          <a:p>
            <a:pPr marL="0" indent="0">
              <a:buNone/>
            </a:pPr>
            <a:r>
              <a:rPr lang="en-US" sz="1400" b="1" dirty="0">
                <a:solidFill>
                  <a:srgbClr val="112141"/>
                </a:solidFill>
                <a:latin typeface="Cambria" pitchFamily="34" charset="0"/>
                <a:ea typeface="Cambria" pitchFamily="34" charset="-122"/>
                <a:cs typeface="Cambria" pitchFamily="34" charset="-120"/>
              </a:rPr>
              <a:t>Mobile Tier</a:t>
            </a:r>
            <a:endParaRPr lang="en-US" sz="1400" dirty="0"/>
          </a:p>
        </p:txBody>
      </p:sp>
      <p:sp>
        <p:nvSpPr>
          <p:cNvPr id="9" name="Text 5"/>
          <p:cNvSpPr/>
          <p:nvPr/>
        </p:nvSpPr>
        <p:spPr>
          <a:xfrm>
            <a:off x="8138160" y="2221992"/>
            <a:ext cx="3413455" cy="685800"/>
          </a:xfrm>
          <a:prstGeom prst="rect">
            <a:avLst/>
          </a:prstGeom>
          <a:noFill/>
          <a:ln/>
        </p:spPr>
        <p:txBody>
          <a:bodyPr wrap="square" lIns="0" tIns="0" rIns="0" bIns="0" rtlCol="0" anchor="ctr"/>
          <a:lstStyle/>
          <a:p>
            <a:pPr marL="0" indent="0">
              <a:lnSpc>
                <a:spcPct val="118000"/>
              </a:lnSpc>
              <a:buNone/>
            </a:pPr>
            <a:r>
              <a:rPr lang="en-US" sz="1100" dirty="0">
                <a:solidFill>
                  <a:srgbClr val="6B7794"/>
                </a:solidFill>
                <a:latin typeface="Calibri" pitchFamily="34" charset="0"/>
                <a:ea typeface="Calibri" pitchFamily="34" charset="-122"/>
                <a:cs typeface="Calibri" pitchFamily="34" charset="-120"/>
              </a:rPr>
              <a:t>React Native / Expo app with an on-device SQLite queue for unsynchronised data.</a:t>
            </a:r>
            <a:endParaRPr lang="en-US" sz="1100" dirty="0"/>
          </a:p>
        </p:txBody>
      </p:sp>
      <p:sp>
        <p:nvSpPr>
          <p:cNvPr id="10" name="Shape 6"/>
          <p:cNvSpPr/>
          <p:nvPr/>
        </p:nvSpPr>
        <p:spPr>
          <a:xfrm>
            <a:off x="7498080" y="3063240"/>
            <a:ext cx="502920" cy="502920"/>
          </a:xfrm>
          <a:prstGeom prst="ellipse">
            <a:avLst/>
          </a:prstGeom>
          <a:solidFill>
            <a:srgbClr val="FFFFFF"/>
          </a:solidFill>
          <a:ln/>
        </p:spPr>
      </p:sp>
      <p:pic>
        <p:nvPicPr>
          <p:cNvPr id="11" name="Image 2" descr="preencoded.png"/>
          <p:cNvPicPr>
            <a:picLocks noChangeAspect="1"/>
          </p:cNvPicPr>
          <p:nvPr/>
        </p:nvPicPr>
        <p:blipFill>
          <a:blip r:embed="rId5"/>
          <a:stretch>
            <a:fillRect/>
          </a:stretch>
        </p:blipFill>
        <p:spPr>
          <a:xfrm>
            <a:off x="7578547" y="3143707"/>
            <a:ext cx="341986" cy="341986"/>
          </a:xfrm>
          <a:prstGeom prst="rect">
            <a:avLst/>
          </a:prstGeom>
        </p:spPr>
      </p:pic>
      <p:sp>
        <p:nvSpPr>
          <p:cNvPr id="12" name="Text 7"/>
          <p:cNvSpPr/>
          <p:nvPr/>
        </p:nvSpPr>
        <p:spPr>
          <a:xfrm>
            <a:off x="8138160" y="3044952"/>
            <a:ext cx="3413455" cy="365760"/>
          </a:xfrm>
          <a:prstGeom prst="rect">
            <a:avLst/>
          </a:prstGeom>
          <a:noFill/>
          <a:ln/>
        </p:spPr>
        <p:txBody>
          <a:bodyPr wrap="square" lIns="0" tIns="0" rIns="0" bIns="0" rtlCol="0" anchor="ctr"/>
          <a:lstStyle/>
          <a:p>
            <a:pPr marL="0" indent="0">
              <a:buNone/>
            </a:pPr>
            <a:r>
              <a:rPr lang="en-US" sz="1400" b="1" dirty="0">
                <a:solidFill>
                  <a:srgbClr val="112141"/>
                </a:solidFill>
                <a:latin typeface="Cambria" pitchFamily="34" charset="0"/>
                <a:ea typeface="Cambria" pitchFamily="34" charset="-122"/>
                <a:cs typeface="Cambria" pitchFamily="34" charset="-120"/>
              </a:rPr>
              <a:t>Application Tier</a:t>
            </a:r>
            <a:endParaRPr lang="en-US" sz="1400" dirty="0"/>
          </a:p>
        </p:txBody>
      </p:sp>
      <p:sp>
        <p:nvSpPr>
          <p:cNvPr id="13" name="Text 8"/>
          <p:cNvSpPr/>
          <p:nvPr/>
        </p:nvSpPr>
        <p:spPr>
          <a:xfrm>
            <a:off x="8138160" y="3410712"/>
            <a:ext cx="3413455" cy="685800"/>
          </a:xfrm>
          <a:prstGeom prst="rect">
            <a:avLst/>
          </a:prstGeom>
          <a:noFill/>
          <a:ln/>
        </p:spPr>
        <p:txBody>
          <a:bodyPr wrap="square" lIns="0" tIns="0" rIns="0" bIns="0" rtlCol="0" anchor="ctr"/>
          <a:lstStyle/>
          <a:p>
            <a:pPr marL="0" indent="0">
              <a:lnSpc>
                <a:spcPct val="118000"/>
              </a:lnSpc>
              <a:buNone/>
            </a:pPr>
            <a:r>
              <a:rPr lang="en-US" sz="1100" dirty="0">
                <a:solidFill>
                  <a:srgbClr val="6B7794"/>
                </a:solidFill>
                <a:latin typeface="Calibri" pitchFamily="34" charset="0"/>
                <a:ea typeface="Calibri" pitchFamily="34" charset="-122"/>
                <a:cs typeface="Calibri" pitchFamily="34" charset="-120"/>
              </a:rPr>
              <a:t>Node.js / Express REST API — routes, controllers, services, middleware.</a:t>
            </a:r>
            <a:endParaRPr lang="en-US" sz="1100" dirty="0"/>
          </a:p>
        </p:txBody>
      </p:sp>
      <p:sp>
        <p:nvSpPr>
          <p:cNvPr id="14" name="Shape 9"/>
          <p:cNvSpPr/>
          <p:nvPr/>
        </p:nvSpPr>
        <p:spPr>
          <a:xfrm>
            <a:off x="7498080" y="4251960"/>
            <a:ext cx="502920" cy="502920"/>
          </a:xfrm>
          <a:prstGeom prst="ellipse">
            <a:avLst/>
          </a:prstGeom>
          <a:solidFill>
            <a:srgbClr val="FFFFFF"/>
          </a:solidFill>
          <a:ln/>
        </p:spPr>
      </p:sp>
      <p:pic>
        <p:nvPicPr>
          <p:cNvPr id="15" name="Image 3" descr="preencoded.png"/>
          <p:cNvPicPr>
            <a:picLocks noChangeAspect="1"/>
          </p:cNvPicPr>
          <p:nvPr/>
        </p:nvPicPr>
        <p:blipFill>
          <a:blip r:embed="rId6"/>
          <a:stretch>
            <a:fillRect/>
          </a:stretch>
        </p:blipFill>
        <p:spPr>
          <a:xfrm>
            <a:off x="7578547" y="4332427"/>
            <a:ext cx="341986" cy="341986"/>
          </a:xfrm>
          <a:prstGeom prst="rect">
            <a:avLst/>
          </a:prstGeom>
        </p:spPr>
      </p:pic>
      <p:sp>
        <p:nvSpPr>
          <p:cNvPr id="16" name="Text 10"/>
          <p:cNvSpPr/>
          <p:nvPr/>
        </p:nvSpPr>
        <p:spPr>
          <a:xfrm>
            <a:off x="8138160" y="4233672"/>
            <a:ext cx="3413455" cy="365760"/>
          </a:xfrm>
          <a:prstGeom prst="rect">
            <a:avLst/>
          </a:prstGeom>
          <a:noFill/>
          <a:ln/>
        </p:spPr>
        <p:txBody>
          <a:bodyPr wrap="square" lIns="0" tIns="0" rIns="0" bIns="0" rtlCol="0" anchor="ctr"/>
          <a:lstStyle/>
          <a:p>
            <a:pPr marL="0" indent="0">
              <a:buNone/>
            </a:pPr>
            <a:r>
              <a:rPr lang="en-US" sz="1400" b="1" dirty="0">
                <a:solidFill>
                  <a:srgbClr val="112141"/>
                </a:solidFill>
                <a:latin typeface="Cambria" pitchFamily="34" charset="0"/>
                <a:ea typeface="Cambria" pitchFamily="34" charset="-122"/>
                <a:cs typeface="Cambria" pitchFamily="34" charset="-120"/>
              </a:rPr>
              <a:t>Database Tier</a:t>
            </a:r>
            <a:endParaRPr lang="en-US" sz="1400" dirty="0"/>
          </a:p>
        </p:txBody>
      </p:sp>
      <p:sp>
        <p:nvSpPr>
          <p:cNvPr id="17" name="Text 11"/>
          <p:cNvSpPr/>
          <p:nvPr/>
        </p:nvSpPr>
        <p:spPr>
          <a:xfrm>
            <a:off x="8138160" y="4599432"/>
            <a:ext cx="3413455" cy="685800"/>
          </a:xfrm>
          <a:prstGeom prst="rect">
            <a:avLst/>
          </a:prstGeom>
          <a:noFill/>
          <a:ln/>
        </p:spPr>
        <p:txBody>
          <a:bodyPr wrap="square" lIns="0" tIns="0" rIns="0" bIns="0" rtlCol="0" anchor="ctr"/>
          <a:lstStyle/>
          <a:p>
            <a:pPr marL="0" indent="0">
              <a:lnSpc>
                <a:spcPct val="118000"/>
              </a:lnSpc>
              <a:buNone/>
            </a:pPr>
            <a:r>
              <a:rPr lang="en-US" sz="1100" dirty="0">
                <a:solidFill>
                  <a:srgbClr val="6B7794"/>
                </a:solidFill>
                <a:latin typeface="Calibri" pitchFamily="34" charset="0"/>
                <a:ea typeface="Calibri" pitchFamily="34" charset="-122"/>
                <a:cs typeface="Calibri" pitchFamily="34" charset="-120"/>
              </a:rPr>
              <a:t>PostgreSQL on Neon DB stores every persistent server-side record.</a:t>
            </a:r>
            <a:endParaRPr lang="en-US" sz="1100" dirty="0"/>
          </a:p>
        </p:txBody>
      </p:sp>
      <p:sp>
        <p:nvSpPr>
          <p:cNvPr id="18" name="Text 1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19" name="Text 1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03 · SYSTEM ARCHITECTURE</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Database Design — Four Core Tables</a:t>
            </a:r>
            <a:endParaRPr lang="en-US" sz="3000" dirty="0"/>
          </a:p>
        </p:txBody>
      </p:sp>
      <p:sp>
        <p:nvSpPr>
          <p:cNvPr id="4" name="Shape 2"/>
          <p:cNvSpPr/>
          <p:nvPr/>
        </p:nvSpPr>
        <p:spPr>
          <a:xfrm>
            <a:off x="502920" y="1783080"/>
            <a:ext cx="6309360" cy="3075685"/>
          </a:xfrm>
          <a:prstGeom prst="roundRect">
            <a:avLst>
              <a:gd name="adj" fmla="val 2378"/>
            </a:avLst>
          </a:prstGeom>
          <a:solidFill>
            <a:srgbClr val="F4F6FC"/>
          </a:solidFill>
          <a:ln/>
          <a:effectLst>
            <a:outerShdw blurRad="101600" dist="38100" dir="2700000" algn="bl" rotWithShape="0">
              <a:srgbClr val="000000">
                <a:alpha val="12000"/>
              </a:srgbClr>
            </a:outerShdw>
          </a:effectLst>
        </p:spPr>
      </p:sp>
      <p:pic>
        <p:nvPicPr>
          <p:cNvPr id="5" name="Image 0" descr="/home/claude/work/assets/erd.png"/>
          <p:cNvPicPr>
            <a:picLocks noChangeAspect="1"/>
          </p:cNvPicPr>
          <p:nvPr/>
        </p:nvPicPr>
        <p:blipFill>
          <a:blip r:embed="rId3"/>
          <a:stretch>
            <a:fillRect/>
          </a:stretch>
        </p:blipFill>
        <p:spPr>
          <a:xfrm>
            <a:off x="640080" y="1920240"/>
            <a:ext cx="6035040" cy="2801365"/>
          </a:xfrm>
          <a:prstGeom prst="rect">
            <a:avLst/>
          </a:prstGeom>
        </p:spPr>
      </p:pic>
      <p:sp>
        <p:nvSpPr>
          <p:cNvPr id="6" name="Shape 3"/>
          <p:cNvSpPr/>
          <p:nvPr/>
        </p:nvSpPr>
        <p:spPr>
          <a:xfrm>
            <a:off x="7086600" y="2039112"/>
            <a:ext cx="128016" cy="128016"/>
          </a:xfrm>
          <a:prstGeom prst="ellipse">
            <a:avLst/>
          </a:prstGeom>
          <a:solidFill>
            <a:srgbClr val="5330D5"/>
          </a:solidFill>
          <a:ln/>
        </p:spPr>
      </p:sp>
      <p:sp>
        <p:nvSpPr>
          <p:cNvPr id="7" name="Text 4"/>
          <p:cNvSpPr/>
          <p:nvPr/>
        </p:nvSpPr>
        <p:spPr>
          <a:xfrm>
            <a:off x="7360920" y="1892808"/>
            <a:ext cx="4190695" cy="320040"/>
          </a:xfrm>
          <a:prstGeom prst="rect">
            <a:avLst/>
          </a:prstGeom>
          <a:noFill/>
          <a:ln/>
        </p:spPr>
        <p:txBody>
          <a:bodyPr wrap="square" lIns="0" tIns="0" rIns="0" bIns="0" rtlCol="0" anchor="ctr"/>
          <a:lstStyle/>
          <a:p>
            <a:pPr marL="0" indent="0">
              <a:buNone/>
            </a:pPr>
            <a:r>
              <a:rPr lang="en-US" sz="1300" b="1" dirty="0">
                <a:solidFill>
                  <a:srgbClr val="112141"/>
                </a:solidFill>
                <a:latin typeface="Calibri" pitchFamily="34" charset="0"/>
                <a:ea typeface="Calibri" pitchFamily="34" charset="-122"/>
                <a:cs typeface="Calibri" pitchFamily="34" charset="-120"/>
              </a:rPr>
              <a:t>subscriber_device</a:t>
            </a:r>
            <a:endParaRPr lang="en-US" sz="1300" dirty="0"/>
          </a:p>
        </p:txBody>
      </p:sp>
      <p:sp>
        <p:nvSpPr>
          <p:cNvPr id="8" name="Text 5"/>
          <p:cNvSpPr/>
          <p:nvPr/>
        </p:nvSpPr>
        <p:spPr>
          <a:xfrm>
            <a:off x="7360920" y="2221992"/>
            <a:ext cx="4190695" cy="548640"/>
          </a:xfrm>
          <a:prstGeom prst="rect">
            <a:avLst/>
          </a:prstGeom>
          <a:noFill/>
          <a:ln/>
        </p:spPr>
        <p:txBody>
          <a:bodyPr wrap="square" lIns="0" tIns="0" rIns="0" bIns="0" rtlCol="0" anchor="ctr"/>
          <a:lstStyle/>
          <a:p>
            <a:pPr marL="0" indent="0">
              <a:lnSpc>
                <a:spcPct val="115000"/>
              </a:lnSpc>
              <a:buNone/>
            </a:pPr>
            <a:r>
              <a:rPr lang="en-US" sz="1100" dirty="0">
                <a:solidFill>
                  <a:srgbClr val="6B7794"/>
                </a:solidFill>
                <a:latin typeface="Calibri" pitchFamily="34" charset="0"/>
                <a:ea typeface="Calibri" pitchFamily="34" charset="-122"/>
                <a:cs typeface="Calibri" pitchFamily="34" charset="-120"/>
              </a:rPr>
              <a:t>Anonymous device identity, consent flags and settings.</a:t>
            </a:r>
            <a:endParaRPr lang="en-US" sz="1100" dirty="0"/>
          </a:p>
        </p:txBody>
      </p:sp>
      <p:sp>
        <p:nvSpPr>
          <p:cNvPr id="9" name="Shape 6"/>
          <p:cNvSpPr/>
          <p:nvPr/>
        </p:nvSpPr>
        <p:spPr>
          <a:xfrm>
            <a:off x="7086600" y="2935224"/>
            <a:ext cx="128016" cy="128016"/>
          </a:xfrm>
          <a:prstGeom prst="ellipse">
            <a:avLst/>
          </a:prstGeom>
          <a:solidFill>
            <a:srgbClr val="5330D5"/>
          </a:solidFill>
          <a:ln/>
        </p:spPr>
      </p:sp>
      <p:sp>
        <p:nvSpPr>
          <p:cNvPr id="10" name="Text 7"/>
          <p:cNvSpPr/>
          <p:nvPr/>
        </p:nvSpPr>
        <p:spPr>
          <a:xfrm>
            <a:off x="7360920" y="2788920"/>
            <a:ext cx="4190695" cy="320040"/>
          </a:xfrm>
          <a:prstGeom prst="rect">
            <a:avLst/>
          </a:prstGeom>
          <a:noFill/>
          <a:ln/>
        </p:spPr>
        <p:txBody>
          <a:bodyPr wrap="square" lIns="0" tIns="0" rIns="0" bIns="0" rtlCol="0" anchor="ctr"/>
          <a:lstStyle/>
          <a:p>
            <a:pPr marL="0" indent="0">
              <a:buNone/>
            </a:pPr>
            <a:r>
              <a:rPr lang="en-US" sz="1300" b="1" dirty="0">
                <a:solidFill>
                  <a:srgbClr val="112141"/>
                </a:solidFill>
                <a:latin typeface="Calibri" pitchFamily="34" charset="0"/>
                <a:ea typeface="Calibri" pitchFamily="34" charset="-122"/>
                <a:cs typeface="Calibri" pitchFamily="34" charset="-120"/>
              </a:rPr>
              <a:t>network_metric</a:t>
            </a:r>
            <a:endParaRPr lang="en-US" sz="1300" dirty="0"/>
          </a:p>
        </p:txBody>
      </p:sp>
      <p:sp>
        <p:nvSpPr>
          <p:cNvPr id="11" name="Text 8"/>
          <p:cNvSpPr/>
          <p:nvPr/>
        </p:nvSpPr>
        <p:spPr>
          <a:xfrm>
            <a:off x="7360920" y="3118104"/>
            <a:ext cx="4190695" cy="548640"/>
          </a:xfrm>
          <a:prstGeom prst="rect">
            <a:avLst/>
          </a:prstGeom>
          <a:noFill/>
          <a:ln/>
        </p:spPr>
        <p:txBody>
          <a:bodyPr wrap="square" lIns="0" tIns="0" rIns="0" bIns="0" rtlCol="0" anchor="ctr"/>
          <a:lstStyle/>
          <a:p>
            <a:pPr marL="0" indent="0">
              <a:lnSpc>
                <a:spcPct val="115000"/>
              </a:lnSpc>
              <a:buNone/>
            </a:pPr>
            <a:r>
              <a:rPr lang="en-US" sz="1100" dirty="0">
                <a:solidFill>
                  <a:srgbClr val="6B7794"/>
                </a:solidFill>
                <a:latin typeface="Calibri" pitchFamily="34" charset="0"/>
                <a:ea typeface="Calibri" pitchFamily="34" charset="-122"/>
                <a:cs typeface="Calibri" pitchFamily="34" charset="-120"/>
              </a:rPr>
              <a:t>Objective performance readings — speed, latency, jitter, signal.</a:t>
            </a:r>
            <a:endParaRPr lang="en-US" sz="1100" dirty="0"/>
          </a:p>
        </p:txBody>
      </p:sp>
      <p:sp>
        <p:nvSpPr>
          <p:cNvPr id="12" name="Shape 9"/>
          <p:cNvSpPr/>
          <p:nvPr/>
        </p:nvSpPr>
        <p:spPr>
          <a:xfrm>
            <a:off x="7086600" y="3831336"/>
            <a:ext cx="128016" cy="128016"/>
          </a:xfrm>
          <a:prstGeom prst="ellipse">
            <a:avLst/>
          </a:prstGeom>
          <a:solidFill>
            <a:srgbClr val="5330D5"/>
          </a:solidFill>
          <a:ln/>
        </p:spPr>
      </p:sp>
      <p:sp>
        <p:nvSpPr>
          <p:cNvPr id="13" name="Text 10"/>
          <p:cNvSpPr/>
          <p:nvPr/>
        </p:nvSpPr>
        <p:spPr>
          <a:xfrm>
            <a:off x="7360920" y="3685032"/>
            <a:ext cx="4190695" cy="320040"/>
          </a:xfrm>
          <a:prstGeom prst="rect">
            <a:avLst/>
          </a:prstGeom>
          <a:noFill/>
          <a:ln/>
        </p:spPr>
        <p:txBody>
          <a:bodyPr wrap="square" lIns="0" tIns="0" rIns="0" bIns="0" rtlCol="0" anchor="ctr"/>
          <a:lstStyle/>
          <a:p>
            <a:pPr marL="0" indent="0">
              <a:buNone/>
            </a:pPr>
            <a:r>
              <a:rPr lang="en-US" sz="1300" b="1" dirty="0">
                <a:solidFill>
                  <a:srgbClr val="112141"/>
                </a:solidFill>
                <a:latin typeface="Calibri" pitchFamily="34" charset="0"/>
                <a:ea typeface="Calibri" pitchFamily="34" charset="-122"/>
                <a:cs typeface="Calibri" pitchFamily="34" charset="-120"/>
              </a:rPr>
              <a:t>location</a:t>
            </a:r>
            <a:endParaRPr lang="en-US" sz="1300" dirty="0"/>
          </a:p>
        </p:txBody>
      </p:sp>
      <p:sp>
        <p:nvSpPr>
          <p:cNvPr id="14" name="Text 11"/>
          <p:cNvSpPr/>
          <p:nvPr/>
        </p:nvSpPr>
        <p:spPr>
          <a:xfrm>
            <a:off x="7360920" y="4014216"/>
            <a:ext cx="4190695" cy="548640"/>
          </a:xfrm>
          <a:prstGeom prst="rect">
            <a:avLst/>
          </a:prstGeom>
          <a:noFill/>
          <a:ln/>
        </p:spPr>
        <p:txBody>
          <a:bodyPr wrap="square" lIns="0" tIns="0" rIns="0" bIns="0" rtlCol="0" anchor="ctr"/>
          <a:lstStyle/>
          <a:p>
            <a:pPr marL="0" indent="0">
              <a:lnSpc>
                <a:spcPct val="115000"/>
              </a:lnSpc>
              <a:buNone/>
            </a:pPr>
            <a:r>
              <a:rPr lang="en-US" sz="1100" dirty="0">
                <a:solidFill>
                  <a:srgbClr val="6B7794"/>
                </a:solidFill>
                <a:latin typeface="Calibri" pitchFamily="34" charset="0"/>
                <a:ea typeface="Calibri" pitchFamily="34" charset="-122"/>
                <a:cs typeface="Calibri" pitchFamily="34" charset="-120"/>
              </a:rPr>
              <a:t>Generalised location context, subject to explicit consent.</a:t>
            </a:r>
            <a:endParaRPr lang="en-US" sz="1100" dirty="0"/>
          </a:p>
        </p:txBody>
      </p:sp>
      <p:sp>
        <p:nvSpPr>
          <p:cNvPr id="15" name="Shape 12"/>
          <p:cNvSpPr/>
          <p:nvPr/>
        </p:nvSpPr>
        <p:spPr>
          <a:xfrm>
            <a:off x="7086600" y="4727448"/>
            <a:ext cx="128016" cy="128016"/>
          </a:xfrm>
          <a:prstGeom prst="ellipse">
            <a:avLst/>
          </a:prstGeom>
          <a:solidFill>
            <a:srgbClr val="5330D5"/>
          </a:solidFill>
          <a:ln/>
        </p:spPr>
      </p:sp>
      <p:sp>
        <p:nvSpPr>
          <p:cNvPr id="16" name="Text 13"/>
          <p:cNvSpPr/>
          <p:nvPr/>
        </p:nvSpPr>
        <p:spPr>
          <a:xfrm>
            <a:off x="7360920" y="4581144"/>
            <a:ext cx="4190695" cy="320040"/>
          </a:xfrm>
          <a:prstGeom prst="rect">
            <a:avLst/>
          </a:prstGeom>
          <a:noFill/>
          <a:ln/>
        </p:spPr>
        <p:txBody>
          <a:bodyPr wrap="square" lIns="0" tIns="0" rIns="0" bIns="0" rtlCol="0" anchor="ctr"/>
          <a:lstStyle/>
          <a:p>
            <a:pPr marL="0" indent="0">
              <a:buNone/>
            </a:pPr>
            <a:r>
              <a:rPr lang="en-US" sz="1300" b="1" dirty="0">
                <a:solidFill>
                  <a:srgbClr val="112141"/>
                </a:solidFill>
                <a:latin typeface="Calibri" pitchFamily="34" charset="0"/>
                <a:ea typeface="Calibri" pitchFamily="34" charset="-122"/>
                <a:cs typeface="Calibri" pitchFamily="34" charset="-120"/>
              </a:rPr>
              <a:t>feedback</a:t>
            </a:r>
            <a:endParaRPr lang="en-US" sz="1300" dirty="0"/>
          </a:p>
        </p:txBody>
      </p:sp>
      <p:sp>
        <p:nvSpPr>
          <p:cNvPr id="17" name="Text 14"/>
          <p:cNvSpPr/>
          <p:nvPr/>
        </p:nvSpPr>
        <p:spPr>
          <a:xfrm>
            <a:off x="7360920" y="4910328"/>
            <a:ext cx="4190695" cy="548640"/>
          </a:xfrm>
          <a:prstGeom prst="rect">
            <a:avLst/>
          </a:prstGeom>
          <a:noFill/>
          <a:ln/>
        </p:spPr>
        <p:txBody>
          <a:bodyPr wrap="square" lIns="0" tIns="0" rIns="0" bIns="0" rtlCol="0" anchor="ctr"/>
          <a:lstStyle/>
          <a:p>
            <a:pPr marL="0" indent="0">
              <a:lnSpc>
                <a:spcPct val="115000"/>
              </a:lnSpc>
              <a:buNone/>
            </a:pPr>
            <a:r>
              <a:rPr lang="en-US" sz="1100" dirty="0">
                <a:solidFill>
                  <a:srgbClr val="6B7794"/>
                </a:solidFill>
                <a:latin typeface="Calibri" pitchFamily="34" charset="0"/>
                <a:ea typeface="Calibri" pitchFamily="34" charset="-122"/>
                <a:cs typeface="Calibri" pitchFamily="34" charset="-120"/>
              </a:rPr>
              <a:t>Subjective QoE ratings across four dimensions, plus comments.</a:t>
            </a:r>
            <a:endParaRPr lang="en-US" sz="1100" dirty="0"/>
          </a:p>
        </p:txBody>
      </p:sp>
      <p:sp>
        <p:nvSpPr>
          <p:cNvPr id="18" name="Text 15"/>
          <p:cNvSpPr/>
          <p:nvPr/>
        </p:nvSpPr>
        <p:spPr>
          <a:xfrm>
            <a:off x="640080" y="6263640"/>
            <a:ext cx="10881360" cy="320040"/>
          </a:xfrm>
          <a:prstGeom prst="rect">
            <a:avLst/>
          </a:prstGeom>
          <a:noFill/>
          <a:ln/>
        </p:spPr>
        <p:txBody>
          <a:bodyPr wrap="square" lIns="0" tIns="0" rIns="0" bIns="0" rtlCol="0" anchor="ctr"/>
          <a:lstStyle/>
          <a:p>
            <a:pPr marL="0" indent="0">
              <a:buNone/>
            </a:pPr>
            <a:r>
              <a:rPr lang="en-US" sz="1050" i="1" dirty="0">
                <a:solidFill>
                  <a:srgbClr val="6B7794"/>
                </a:solidFill>
                <a:latin typeface="Calibri" pitchFamily="34" charset="0"/>
                <a:ea typeface="Calibri" pitchFamily="34" charset="-122"/>
                <a:cs typeface="Calibri" pitchFamily="34" charset="-120"/>
              </a:rPr>
              <a:t>Foreign keys use ON DELETE CASCADE, so removing a device cleanly removes its metrics, locations and feedback.</a:t>
            </a:r>
            <a:endParaRPr lang="en-US" sz="1050" dirty="0"/>
          </a:p>
        </p:txBody>
      </p:sp>
      <p:sp>
        <p:nvSpPr>
          <p:cNvPr id="19" name="Text 1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20" name="Text 1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03 · SYSTEM ARCHITECTURE</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Offline-First Collection &amp; Synchronisation</a:t>
            </a:r>
            <a:endParaRPr lang="en-US" sz="3000" dirty="0"/>
          </a:p>
        </p:txBody>
      </p:sp>
      <p:sp>
        <p:nvSpPr>
          <p:cNvPr id="4" name="Shape 2"/>
          <p:cNvSpPr/>
          <p:nvPr/>
        </p:nvSpPr>
        <p:spPr>
          <a:xfrm>
            <a:off x="502920" y="1737360"/>
            <a:ext cx="7223760" cy="3500135"/>
          </a:xfrm>
          <a:prstGeom prst="roundRect">
            <a:avLst>
              <a:gd name="adj" fmla="val 2090"/>
            </a:avLst>
          </a:prstGeom>
          <a:solidFill>
            <a:srgbClr val="F4F6FC"/>
          </a:solidFill>
          <a:ln/>
          <a:effectLst>
            <a:outerShdw blurRad="101600" dist="38100" dir="2700000" algn="bl" rotWithShape="0">
              <a:srgbClr val="000000">
                <a:alpha val="12000"/>
              </a:srgbClr>
            </a:outerShdw>
          </a:effectLst>
        </p:spPr>
      </p:sp>
      <p:pic>
        <p:nvPicPr>
          <p:cNvPr id="5" name="Image 0" descr="/home/claude/work/assets/syncflow.png"/>
          <p:cNvPicPr>
            <a:picLocks noChangeAspect="1"/>
          </p:cNvPicPr>
          <p:nvPr/>
        </p:nvPicPr>
        <p:blipFill>
          <a:blip r:embed="rId3"/>
          <a:stretch>
            <a:fillRect/>
          </a:stretch>
        </p:blipFill>
        <p:spPr>
          <a:xfrm>
            <a:off x="640080" y="1874520"/>
            <a:ext cx="6949440" cy="3225815"/>
          </a:xfrm>
          <a:prstGeom prst="rect">
            <a:avLst/>
          </a:prstGeom>
        </p:spPr>
      </p:pic>
      <p:sp>
        <p:nvSpPr>
          <p:cNvPr id="6" name="Text 3"/>
          <p:cNvSpPr/>
          <p:nvPr/>
        </p:nvSpPr>
        <p:spPr>
          <a:xfrm>
            <a:off x="8001000" y="1965960"/>
            <a:ext cx="3550615" cy="3291840"/>
          </a:xfrm>
          <a:prstGeom prst="rect">
            <a:avLst/>
          </a:prstGeom>
          <a:noFill/>
          <a:ln/>
        </p:spPr>
        <p:txBody>
          <a:bodyPr wrap="square" lIns="0" tIns="0" rIns="0" bIns="0" rtlCol="0" anchor="ctr"/>
          <a:lstStyle/>
          <a:p>
            <a:pPr marL="342900" indent="-342900">
              <a:lnSpc>
                <a:spcPct val="125000"/>
              </a:lnSpc>
              <a:spcAft>
                <a:spcPts val="1400"/>
              </a:spcAft>
              <a:buSzPct val="100000"/>
              <a:buChar char="✦"/>
            </a:pPr>
            <a:r>
              <a:rPr lang="en-US" sz="1200" dirty="0">
                <a:solidFill>
                  <a:srgbClr val="16213E"/>
                </a:solidFill>
                <a:latin typeface="Calibri" pitchFamily="34" charset="0"/>
                <a:ea typeface="Calibri" pitchFamily="34" charset="-122"/>
                <a:cs typeface="Calibri" pitchFamily="34" charset="-120"/>
              </a:rPr>
              <a:t>Every measurement is written to a local SQLite queue with synced = 0 before any network call.</a:t>
            </a:r>
            <a:endParaRPr lang="en-US" sz="1200" dirty="0"/>
          </a:p>
          <a:p>
            <a:pPr marL="342900" indent="-342900">
              <a:lnSpc>
                <a:spcPct val="125000"/>
              </a:lnSpc>
              <a:spcAft>
                <a:spcPts val="1400"/>
              </a:spcAft>
              <a:buSzPct val="100000"/>
              <a:buChar char="✦"/>
            </a:pPr>
            <a:r>
              <a:rPr lang="en-US" sz="1200" dirty="0">
                <a:solidFill>
                  <a:srgbClr val="16213E"/>
                </a:solidFill>
                <a:latin typeface="Calibri" pitchFamily="34" charset="0"/>
                <a:ea typeface="Calibri" pitchFamily="34" charset="-122"/>
                <a:cs typeface="Calibri" pitchFamily="34" charset="-120"/>
              </a:rPr>
              <a:t>The sync module uploads unsynchronised rows once connectivity returns, marking them synced only after success.</a:t>
            </a:r>
            <a:endParaRPr lang="en-US" sz="1200" dirty="0"/>
          </a:p>
          <a:p>
            <a:pPr marL="342900" indent="-342900">
              <a:lnSpc>
                <a:spcPct val="125000"/>
              </a:lnSpc>
              <a:spcAft>
                <a:spcPts val="1400"/>
              </a:spcAft>
              <a:buSzPct val="100000"/>
              <a:buChar char="✦"/>
            </a:pPr>
            <a:r>
              <a:rPr lang="en-US" sz="1200" dirty="0">
                <a:solidFill>
                  <a:srgbClr val="16213E"/>
                </a:solidFill>
                <a:latin typeface="Calibri" pitchFamily="34" charset="0"/>
                <a:ea typeface="Calibri" pitchFamily="34" charset="-122"/>
                <a:cs typeface="Calibri" pitchFamily="34" charset="-120"/>
              </a:rPr>
              <a:t>A retention policy clears old synced rows; a Wi-Fi-only setting blocks automatic cellular uploads.</a:t>
            </a:r>
            <a:endParaRPr lang="en-US" sz="1200" dirty="0"/>
          </a:p>
        </p:txBody>
      </p:sp>
      <p:sp>
        <p:nvSpPr>
          <p:cNvPr id="7"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8" name="Text 5"/>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6042"/>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grpSp>
      <p:sp>
        <p:nvSpPr>
          <p:cNvPr id="7" name="object 7" descr="$PPTXTitle"/>
          <p:cNvSpPr txBox="1">
            <a:spLocks noGrp="1"/>
          </p:cNvSpPr>
          <p:nvPr>
            <p:ph type="title"/>
          </p:nvPr>
        </p:nvSpPr>
        <p:spPr>
          <a:xfrm>
            <a:off x="2127504" y="2415615"/>
            <a:ext cx="796925" cy="940435"/>
          </a:xfrm>
          <a:prstGeom prst="rect">
            <a:avLst/>
          </a:prstGeom>
        </p:spPr>
        <p:txBody>
          <a:bodyPr vert="horz" wrap="square" lIns="0" tIns="12700" rIns="0" bIns="0" rtlCol="0">
            <a:spAutoFit/>
          </a:bodyPr>
          <a:lstStyle/>
          <a:p>
            <a:pPr marL="12700">
              <a:lnSpc>
                <a:spcPct val="100000"/>
              </a:lnSpc>
              <a:spcBef>
                <a:spcPts val="100"/>
              </a:spcBef>
            </a:pPr>
            <a:r>
              <a:rPr sz="6000" spc="-25" dirty="0">
                <a:solidFill>
                  <a:srgbClr val="0033CC"/>
                </a:solidFill>
              </a:rPr>
              <a:t>04</a:t>
            </a:r>
            <a:endParaRPr sz="6000" dirty="0">
              <a:solidFill>
                <a:srgbClr val="0033CC"/>
              </a:solidFill>
            </a:endParaRPr>
          </a:p>
        </p:txBody>
      </p:sp>
      <p:sp>
        <p:nvSpPr>
          <p:cNvPr id="8" name="object 8"/>
          <p:cNvSpPr txBox="1"/>
          <p:nvPr/>
        </p:nvSpPr>
        <p:spPr>
          <a:xfrm>
            <a:off x="645668" y="3583304"/>
            <a:ext cx="5511165" cy="627736"/>
          </a:xfrm>
          <a:prstGeom prst="rect">
            <a:avLst/>
          </a:prstGeom>
        </p:spPr>
        <p:txBody>
          <a:bodyPr vert="horz" wrap="square" lIns="0" tIns="12065" rIns="0" bIns="0" rtlCol="0">
            <a:spAutoFit/>
          </a:bodyPr>
          <a:lstStyle/>
          <a:p>
            <a:pPr marL="12700">
              <a:lnSpc>
                <a:spcPct val="100000"/>
              </a:lnSpc>
              <a:spcBef>
                <a:spcPts val="95"/>
              </a:spcBef>
            </a:pPr>
            <a:r>
              <a:rPr sz="4000" b="1" spc="-10" dirty="0">
                <a:solidFill>
                  <a:srgbClr val="1E293A"/>
                </a:solidFill>
                <a:latin typeface="Calibri"/>
                <a:cs typeface="Calibri"/>
              </a:rPr>
              <a:t>Implementation</a:t>
            </a:r>
            <a:endParaRPr sz="4000" dirty="0">
              <a:latin typeface="Calibri"/>
              <a:cs typeface="Calibri"/>
            </a:endParaRPr>
          </a:p>
        </p:txBody>
      </p:sp>
      <p:sp>
        <p:nvSpPr>
          <p:cNvPr id="10" name="Shape 2">
            <a:extLst>
              <a:ext uri="{FF2B5EF4-FFF2-40B4-BE49-F238E27FC236}">
                <a16:creationId xmlns:a16="http://schemas.microsoft.com/office/drawing/2014/main" id="{96C459FA-5D69-2F34-9419-88E6952ECC7F}"/>
              </a:ext>
            </a:extLst>
          </p:cNvPr>
          <p:cNvSpPr/>
          <p:nvPr/>
        </p:nvSpPr>
        <p:spPr>
          <a:xfrm>
            <a:off x="822960" y="2514599"/>
            <a:ext cx="914400" cy="914400"/>
          </a:xfrm>
          <a:prstGeom prst="ellipse">
            <a:avLst/>
          </a:prstGeom>
          <a:solidFill>
            <a:srgbClr val="5330D5"/>
          </a:solidFill>
          <a:ln/>
        </p:spPr>
      </p:sp>
      <p:pic>
        <p:nvPicPr>
          <p:cNvPr id="12" name="Image 0" descr="preencoded.png">
            <a:extLst>
              <a:ext uri="{FF2B5EF4-FFF2-40B4-BE49-F238E27FC236}">
                <a16:creationId xmlns:a16="http://schemas.microsoft.com/office/drawing/2014/main" id="{74F3FBCE-2757-721C-497B-5B35276DC2A1}"/>
              </a:ext>
            </a:extLst>
          </p:cNvPr>
          <p:cNvPicPr>
            <a:picLocks noChangeAspect="1"/>
          </p:cNvPicPr>
          <p:nvPr/>
        </p:nvPicPr>
        <p:blipFill>
          <a:blip r:embed="rId4"/>
          <a:stretch>
            <a:fillRect/>
          </a:stretch>
        </p:blipFill>
        <p:spPr>
          <a:xfrm>
            <a:off x="964692" y="2707005"/>
            <a:ext cx="603504" cy="603504"/>
          </a:xfrm>
          <a:prstGeom prst="rect">
            <a:avLst/>
          </a:prstGeom>
        </p:spPr>
      </p:pic>
      <p:sp>
        <p:nvSpPr>
          <p:cNvPr id="14" name="Text 5">
            <a:extLst>
              <a:ext uri="{FF2B5EF4-FFF2-40B4-BE49-F238E27FC236}">
                <a16:creationId xmlns:a16="http://schemas.microsoft.com/office/drawing/2014/main" id="{FDC68C41-1321-BDF4-FD61-3B28C69B3FC6}"/>
              </a:ext>
            </a:extLst>
          </p:cNvPr>
          <p:cNvSpPr/>
          <p:nvPr/>
        </p:nvSpPr>
        <p:spPr>
          <a:xfrm>
            <a:off x="645668" y="4211040"/>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From design models to a working cross-platform mobile application</a:t>
            </a:r>
            <a:endParaRPr lang="en-US" sz="1500" dirty="0">
              <a:solidFill>
                <a:schemeClr val="tx1">
                  <a:lumMod val="95000"/>
                  <a:lumOff val="5000"/>
                </a:schemeClr>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04 · IMPLEMENTATION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Tools, Languages &amp; Technologies</a:t>
            </a:r>
            <a:endParaRPr lang="en-US" sz="3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3968496"/>
        </p:xfrm>
        <a:graphic>
          <a:graphicData uri="http://schemas.openxmlformats.org/drawingml/2006/table">
            <a:tbl>
              <a:tblPr/>
              <a:tblGrid>
                <a:gridCol w="23774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050792">
                  <a:extLst>
                    <a:ext uri="{9D8B030D-6E8A-4147-A177-3AD203B41FA5}">
                      <a16:colId xmlns:a16="http://schemas.microsoft.com/office/drawing/2014/main" val="20002"/>
                    </a:ext>
                  </a:extLst>
                </a:gridCol>
              </a:tblGrid>
              <a:tr h="56692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Tools Used</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Mobile Frontend</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React Native, Expo SDK, TypeScript, Expo Router</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Screens, navigation, UI components and app logic</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Device APIs</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NetInfo, Expo Location, Notifications, Background Fetch</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Network detection, GPS, alerts, best-effort background collection</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2"/>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Local Data Layer</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Expo SQLite, Expo Secure Store</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Offline queues, settings and anonymous ID persistence</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Backend API</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Node.js, Express.js, CORS, dotenv</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REST endpoints, JSON handling, environment configuration</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4"/>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Database</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PostgreSQL, Neon DB, node-postgres</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Relational storage for devices, metrics, locations, feedback</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Dev Tools</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VS Code, npm, Postman, Git / GitHub</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50" dirty="0">
                          <a:solidFill>
                            <a:srgbClr val="16213E"/>
                          </a:solidFill>
                          <a:latin typeface="Calibri" pitchFamily="34" charset="0"/>
                          <a:ea typeface="Calibri" pitchFamily="34" charset="-122"/>
                          <a:cs typeface="Calibri" pitchFamily="34" charset="-120"/>
                        </a:rPr>
                        <a:t>Coding, dependency management, API testing, version control</a:t>
                      </a:r>
                      <a:endParaRPr lang="en-US" sz="115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6"/>
                  </a:ext>
                </a:extLst>
              </a:tr>
            </a:tbl>
          </a:graphicData>
        </a:graphic>
      </p:graphicFrame>
      <p:sp>
        <p:nvSpPr>
          <p:cNvPr id="5" name="Text 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6" name="Text 3"/>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04 · IMPLEMENTATION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Onboarding, Consent &amp; Home Dashboard</a:t>
            </a:r>
            <a:endParaRPr lang="en-US" sz="3000" dirty="0"/>
          </a:p>
        </p:txBody>
      </p:sp>
      <p:sp>
        <p:nvSpPr>
          <p:cNvPr id="4" name="Shape 2"/>
          <p:cNvSpPr/>
          <p:nvPr/>
        </p:nvSpPr>
        <p:spPr>
          <a:xfrm>
            <a:off x="632308" y="1828800"/>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5" name="Image 0" descr="/home/claude/work/assets/onboarding.jpg"/>
          <p:cNvPicPr>
            <a:picLocks noChangeAspect="1"/>
          </p:cNvPicPr>
          <p:nvPr/>
        </p:nvPicPr>
        <p:blipFill>
          <a:blip r:embed="rId3"/>
          <a:srcRect t="3947"/>
          <a:stretch>
            <a:fillRect/>
          </a:stretch>
        </p:blipFill>
        <p:spPr>
          <a:xfrm>
            <a:off x="1575673" y="2121762"/>
            <a:ext cx="1542270" cy="2678837"/>
          </a:xfrm>
          <a:prstGeom prst="rect">
            <a:avLst/>
          </a:prstGeom>
        </p:spPr>
      </p:pic>
      <p:sp>
        <p:nvSpPr>
          <p:cNvPr id="6" name="Text 3"/>
          <p:cNvSpPr/>
          <p:nvPr/>
        </p:nvSpPr>
        <p:spPr>
          <a:xfrm>
            <a:off x="81518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Onboarding</a:t>
            </a:r>
            <a:endParaRPr lang="en-US" sz="1300" dirty="0"/>
          </a:p>
        </p:txBody>
      </p:sp>
      <p:sp>
        <p:nvSpPr>
          <p:cNvPr id="7" name="Text 4"/>
          <p:cNvSpPr/>
          <p:nvPr/>
        </p:nvSpPr>
        <p:spPr>
          <a:xfrm>
            <a:off x="86090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Explains SpeeDT's purpose before any permission prompt.</a:t>
            </a:r>
            <a:endParaRPr lang="en-US" sz="950" dirty="0"/>
          </a:p>
        </p:txBody>
      </p:sp>
      <p:sp>
        <p:nvSpPr>
          <p:cNvPr id="8" name="Shape 5"/>
          <p:cNvSpPr/>
          <p:nvPr/>
        </p:nvSpPr>
        <p:spPr>
          <a:xfrm>
            <a:off x="4381348" y="1828800"/>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9" name="Image 1" descr="/home/claude/work/assets/consent.jpg"/>
          <p:cNvPicPr>
            <a:picLocks noChangeAspect="1"/>
          </p:cNvPicPr>
          <p:nvPr/>
        </p:nvPicPr>
        <p:blipFill>
          <a:blip r:embed="rId4"/>
          <a:srcRect t="9378"/>
          <a:stretch>
            <a:fillRect/>
          </a:stretch>
        </p:blipFill>
        <p:spPr>
          <a:xfrm>
            <a:off x="5446391" y="2254928"/>
            <a:ext cx="1298914" cy="2527384"/>
          </a:xfrm>
          <a:prstGeom prst="rect">
            <a:avLst/>
          </a:prstGeom>
        </p:spPr>
      </p:pic>
      <p:sp>
        <p:nvSpPr>
          <p:cNvPr id="10" name="Text 6"/>
          <p:cNvSpPr/>
          <p:nvPr/>
        </p:nvSpPr>
        <p:spPr>
          <a:xfrm>
            <a:off x="456422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Granular Consent</a:t>
            </a:r>
            <a:endParaRPr lang="en-US" sz="1300" dirty="0"/>
          </a:p>
        </p:txBody>
      </p:sp>
      <p:sp>
        <p:nvSpPr>
          <p:cNvPr id="11" name="Text 7"/>
          <p:cNvSpPr/>
          <p:nvPr/>
        </p:nvSpPr>
        <p:spPr>
          <a:xfrm>
            <a:off x="460994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Separate toggles for location, notifications and background collection.</a:t>
            </a:r>
            <a:endParaRPr lang="en-US" sz="950" dirty="0"/>
          </a:p>
        </p:txBody>
      </p:sp>
      <p:sp>
        <p:nvSpPr>
          <p:cNvPr id="12" name="Shape 8"/>
          <p:cNvSpPr/>
          <p:nvPr/>
        </p:nvSpPr>
        <p:spPr>
          <a:xfrm>
            <a:off x="8130388" y="1837678"/>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13" name="Image 2" descr="/home/claude/work/assets/dashboard.jpg"/>
          <p:cNvPicPr>
            <a:picLocks noChangeAspect="1"/>
          </p:cNvPicPr>
          <p:nvPr/>
        </p:nvPicPr>
        <p:blipFill>
          <a:blip r:embed="rId5"/>
          <a:srcRect t="9378"/>
          <a:stretch>
            <a:fillRect/>
          </a:stretch>
        </p:blipFill>
        <p:spPr>
          <a:xfrm>
            <a:off x="9336270" y="2254928"/>
            <a:ext cx="1017235" cy="2527384"/>
          </a:xfrm>
          <a:prstGeom prst="rect">
            <a:avLst/>
          </a:prstGeom>
        </p:spPr>
      </p:pic>
      <p:sp>
        <p:nvSpPr>
          <p:cNvPr id="14" name="Text 9"/>
          <p:cNvSpPr/>
          <p:nvPr/>
        </p:nvSpPr>
        <p:spPr>
          <a:xfrm>
            <a:off x="831326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Home Dashboard</a:t>
            </a:r>
            <a:endParaRPr lang="en-US" sz="1300" dirty="0"/>
          </a:p>
        </p:txBody>
      </p:sp>
      <p:sp>
        <p:nvSpPr>
          <p:cNvPr id="15" name="Text 10"/>
          <p:cNvSpPr/>
          <p:nvPr/>
        </p:nvSpPr>
        <p:spPr>
          <a:xfrm>
            <a:off x="835898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Reads recent metrics from local storage and refreshes on focus.</a:t>
            </a:r>
            <a:endParaRPr lang="en-US" sz="950" dirty="0"/>
          </a:p>
        </p:txBody>
      </p:sp>
      <p:sp>
        <p:nvSpPr>
          <p:cNvPr id="16" name="Text 1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17"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04 · IMPLEMENTATION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Speed Test, History &amp; Settings</a:t>
            </a:r>
            <a:endParaRPr lang="en-US" sz="3000" dirty="0"/>
          </a:p>
        </p:txBody>
      </p:sp>
      <p:sp>
        <p:nvSpPr>
          <p:cNvPr id="4" name="Shape 2"/>
          <p:cNvSpPr/>
          <p:nvPr/>
        </p:nvSpPr>
        <p:spPr>
          <a:xfrm>
            <a:off x="632308" y="1828800"/>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5" name="Image 0" descr="/home/claude/work/assets/testscreen.jpg"/>
          <p:cNvPicPr>
            <a:picLocks noChangeAspect="1"/>
          </p:cNvPicPr>
          <p:nvPr/>
        </p:nvPicPr>
        <p:blipFill>
          <a:blip r:embed="rId3"/>
          <a:srcRect t="8741"/>
          <a:stretch>
            <a:fillRect/>
          </a:stretch>
        </p:blipFill>
        <p:spPr>
          <a:xfrm>
            <a:off x="1729630" y="2237172"/>
            <a:ext cx="1234355" cy="2545139"/>
          </a:xfrm>
          <a:prstGeom prst="rect">
            <a:avLst/>
          </a:prstGeom>
        </p:spPr>
      </p:pic>
      <p:sp>
        <p:nvSpPr>
          <p:cNvPr id="6" name="Text 3"/>
          <p:cNvSpPr/>
          <p:nvPr/>
        </p:nvSpPr>
        <p:spPr>
          <a:xfrm>
            <a:off x="81518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Speed Test</a:t>
            </a:r>
            <a:endParaRPr lang="en-US" sz="1300" dirty="0"/>
          </a:p>
        </p:txBody>
      </p:sp>
      <p:sp>
        <p:nvSpPr>
          <p:cNvPr id="7" name="Text 4"/>
          <p:cNvSpPr/>
          <p:nvPr/>
        </p:nvSpPr>
        <p:spPr>
          <a:xfrm>
            <a:off x="86090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Three sequential phases: latency, download and upload measurement.</a:t>
            </a:r>
            <a:endParaRPr lang="en-US" sz="950" dirty="0"/>
          </a:p>
        </p:txBody>
      </p:sp>
      <p:sp>
        <p:nvSpPr>
          <p:cNvPr id="8" name="Shape 5"/>
          <p:cNvSpPr/>
          <p:nvPr/>
        </p:nvSpPr>
        <p:spPr>
          <a:xfrm>
            <a:off x="4381348" y="1828800"/>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9" name="Image 1" descr="/home/claude/work/assets/history.jpg"/>
          <p:cNvPicPr>
            <a:picLocks noChangeAspect="1"/>
          </p:cNvPicPr>
          <p:nvPr/>
        </p:nvPicPr>
        <p:blipFill>
          <a:blip r:embed="rId4"/>
          <a:srcRect t="8741"/>
          <a:stretch>
            <a:fillRect/>
          </a:stretch>
        </p:blipFill>
        <p:spPr>
          <a:xfrm>
            <a:off x="5575095" y="2237172"/>
            <a:ext cx="1041505" cy="2545140"/>
          </a:xfrm>
          <a:prstGeom prst="rect">
            <a:avLst/>
          </a:prstGeom>
        </p:spPr>
      </p:pic>
      <p:sp>
        <p:nvSpPr>
          <p:cNvPr id="10" name="Text 6"/>
          <p:cNvSpPr/>
          <p:nvPr/>
        </p:nvSpPr>
        <p:spPr>
          <a:xfrm>
            <a:off x="456422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Performance History</a:t>
            </a:r>
            <a:endParaRPr lang="en-US" sz="1300" dirty="0"/>
          </a:p>
        </p:txBody>
      </p:sp>
      <p:sp>
        <p:nvSpPr>
          <p:cNvPr id="11" name="Text 7"/>
          <p:cNvSpPr/>
          <p:nvPr/>
        </p:nvSpPr>
        <p:spPr>
          <a:xfrm>
            <a:off x="460994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Real trend chart plus average and peak statistics from actual readings.</a:t>
            </a:r>
            <a:endParaRPr lang="en-US" sz="950" dirty="0"/>
          </a:p>
        </p:txBody>
      </p:sp>
      <p:sp>
        <p:nvSpPr>
          <p:cNvPr id="12" name="Shape 8"/>
          <p:cNvSpPr/>
          <p:nvPr/>
        </p:nvSpPr>
        <p:spPr>
          <a:xfrm>
            <a:off x="8130388" y="1828800"/>
            <a:ext cx="3429000" cy="4160520"/>
          </a:xfrm>
          <a:prstGeom prst="roundRect">
            <a:avLst>
              <a:gd name="adj" fmla="val 2133"/>
            </a:avLst>
          </a:prstGeom>
          <a:solidFill>
            <a:srgbClr val="F4F6FC"/>
          </a:solidFill>
          <a:ln/>
          <a:effectLst>
            <a:outerShdw blurRad="101600" dist="38100" dir="2700000" algn="bl" rotWithShape="0">
              <a:srgbClr val="000000">
                <a:alpha val="12000"/>
              </a:srgbClr>
            </a:outerShdw>
          </a:effectLst>
        </p:spPr>
      </p:sp>
      <p:pic>
        <p:nvPicPr>
          <p:cNvPr id="13" name="Image 2" descr="/home/claude/work/assets/settings.jpg"/>
          <p:cNvPicPr>
            <a:picLocks noChangeAspect="1"/>
          </p:cNvPicPr>
          <p:nvPr/>
        </p:nvPicPr>
        <p:blipFill>
          <a:blip r:embed="rId5"/>
          <a:srcRect t="8741"/>
          <a:stretch>
            <a:fillRect/>
          </a:stretch>
        </p:blipFill>
        <p:spPr>
          <a:xfrm>
            <a:off x="9303933" y="2237172"/>
            <a:ext cx="1081909" cy="2545139"/>
          </a:xfrm>
          <a:prstGeom prst="rect">
            <a:avLst/>
          </a:prstGeom>
        </p:spPr>
      </p:pic>
      <p:sp>
        <p:nvSpPr>
          <p:cNvPr id="14" name="Text 9"/>
          <p:cNvSpPr/>
          <p:nvPr/>
        </p:nvSpPr>
        <p:spPr>
          <a:xfrm>
            <a:off x="8313268" y="4892040"/>
            <a:ext cx="3063240" cy="320040"/>
          </a:xfrm>
          <a:prstGeom prst="rect">
            <a:avLst/>
          </a:prstGeom>
          <a:noFill/>
          <a:ln/>
        </p:spPr>
        <p:txBody>
          <a:bodyPr wrap="square" lIns="0" tIns="0" rIns="0" bIns="0" rtlCol="0" anchor="ctr"/>
          <a:lstStyle/>
          <a:p>
            <a:pPr marL="0" indent="0" algn="ctr">
              <a:buNone/>
            </a:pPr>
            <a:r>
              <a:rPr lang="en-US" sz="1300" b="1" dirty="0">
                <a:solidFill>
                  <a:srgbClr val="112141"/>
                </a:solidFill>
                <a:latin typeface="Cambria" pitchFamily="34" charset="0"/>
                <a:ea typeface="Cambria" pitchFamily="34" charset="-122"/>
                <a:cs typeface="Cambria" pitchFamily="34" charset="-120"/>
              </a:rPr>
              <a:t>Settings</a:t>
            </a:r>
            <a:endParaRPr lang="en-US" sz="1300" dirty="0"/>
          </a:p>
        </p:txBody>
      </p:sp>
      <p:sp>
        <p:nvSpPr>
          <p:cNvPr id="15" name="Text 10"/>
          <p:cNvSpPr/>
          <p:nvPr/>
        </p:nvSpPr>
        <p:spPr>
          <a:xfrm>
            <a:off x="8358988" y="5212080"/>
            <a:ext cx="2971800" cy="685800"/>
          </a:xfrm>
          <a:prstGeom prst="rect">
            <a:avLst/>
          </a:prstGeom>
          <a:noFill/>
          <a:ln/>
        </p:spPr>
        <p:txBody>
          <a:bodyPr wrap="square" lIns="0" tIns="0" rIns="0" bIns="0" rtlCol="0" anchor="ctr"/>
          <a:lstStyle/>
          <a:p>
            <a:pPr marL="0" indent="0" algn="ctr">
              <a:lnSpc>
                <a:spcPct val="110000"/>
              </a:lnSpc>
              <a:buNone/>
            </a:pPr>
            <a:r>
              <a:rPr lang="en-US" sz="950" dirty="0">
                <a:solidFill>
                  <a:srgbClr val="6B7794"/>
                </a:solidFill>
                <a:latin typeface="Calibri" pitchFamily="34" charset="0"/>
                <a:ea typeface="Calibri" pitchFamily="34" charset="-122"/>
                <a:cs typeface="Calibri" pitchFamily="34" charset="-120"/>
              </a:rPr>
              <a:t>Wi-Fi-only uploads, notifications and a working delete-all-data pipeline.</a:t>
            </a:r>
            <a:endParaRPr lang="en-US" sz="950" dirty="0"/>
          </a:p>
        </p:txBody>
      </p:sp>
      <p:sp>
        <p:nvSpPr>
          <p:cNvPr id="16" name="Text 11"/>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17" name="Text 12"/>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04 · IMPLEMENTATION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Backend API — Key Endpoints</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08792" cy="4096512"/>
        </p:xfrm>
        <a:graphic>
          <a:graphicData uri="http://schemas.openxmlformats.org/drawingml/2006/table">
            <a:tbl>
              <a:tblPr/>
              <a:tblGrid>
                <a:gridCol w="13716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5605272">
                  <a:extLst>
                    <a:ext uri="{9D8B030D-6E8A-4147-A177-3AD203B41FA5}">
                      <a16:colId xmlns:a16="http://schemas.microsoft.com/office/drawing/2014/main" val="20002"/>
                    </a:ext>
                  </a:extLst>
                </a:gridCol>
              </a:tblGrid>
              <a:tr h="51206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Endpoint</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112141"/>
                    </a:solidFill>
                  </a:tcPr>
                </a:tc>
                <a:extLst>
                  <a:ext uri="{0D108BD9-81ED-4DB2-BD59-A6C34878D82A}">
                    <a16:rowId xmlns:a16="http://schemas.microsoft.com/office/drawing/2014/main" val="10000"/>
                  </a:ext>
                </a:extLst>
              </a:tr>
              <a:tr h="512064">
                <a:tc>
                  <a:txBody>
                    <a:bodyPr/>
                    <a:lstStyle/>
                    <a:p>
                      <a:pPr marL="0" indent="0">
                        <a:buNone/>
                      </a:pPr>
                      <a:r>
                        <a:rPr lang="en-US" sz="1100" b="1" dirty="0">
                          <a:solidFill>
                            <a:srgbClr val="94DBB8"/>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/api/devices</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Register a subscriber device and create an anonymous ID</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1"/>
                  </a:ext>
                </a:extLst>
              </a:tr>
              <a:tr h="512064">
                <a:tc>
                  <a:txBody>
                    <a:bodyPr/>
                    <a:lstStyle/>
                    <a:p>
                      <a:pPr marL="0" indent="0">
                        <a:buNone/>
                      </a:pPr>
                      <a:r>
                        <a:rPr lang="en-US" sz="1100" b="1" dirty="0">
                          <a:solidFill>
                            <a:srgbClr val="F7E24F"/>
                          </a:solidFill>
                          <a:latin typeface="Calibri" pitchFamily="34" charset="0"/>
                          <a:ea typeface="Calibri" pitchFamily="34" charset="-122"/>
                          <a:cs typeface="Calibri" pitchFamily="34" charset="-120"/>
                        </a:rPr>
                        <a:t>PATCH</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/api/devices/:id</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Update consent, collection and notification settings</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100" b="1" dirty="0">
                          <a:solidFill>
                            <a:srgbClr val="E06251"/>
                          </a:solidFill>
                          <a:latin typeface="Calibri" pitchFamily="34" charset="0"/>
                          <a:ea typeface="Calibri" pitchFamily="34" charset="-122"/>
                          <a:cs typeface="Calibri" pitchFamily="34" charset="-120"/>
                        </a:rPr>
                        <a:t>DELETE</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/api/devices/:id</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Delete a device and cascade-delete its linked data</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3"/>
                  </a:ext>
                </a:extLst>
              </a:tr>
              <a:tr h="512064">
                <a:tc>
                  <a:txBody>
                    <a:bodyPr/>
                    <a:lstStyle/>
                    <a:p>
                      <a:pPr marL="0" indent="0">
                        <a:buNone/>
                      </a:pPr>
                      <a:r>
                        <a:rPr lang="en-US" sz="1100" b="1" dirty="0">
                          <a:solidFill>
                            <a:srgbClr val="94DBB8"/>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/api/metrics</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Ingest a network metric record</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100" b="1" dirty="0">
                          <a:solidFill>
                            <a:srgbClr val="5330D5"/>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/api/metrics/latest/:id</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Retrieve the latest metric for a device</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5"/>
                  </a:ext>
                </a:extLst>
              </a:tr>
              <a:tr h="512064">
                <a:tc>
                  <a:txBody>
                    <a:bodyPr/>
                    <a:lstStyle/>
                    <a:p>
                      <a:pPr marL="0" indent="0">
                        <a:buNone/>
                      </a:pPr>
                      <a:r>
                        <a:rPr lang="en-US" sz="1100" b="1" dirty="0">
                          <a:solidFill>
                            <a:srgbClr val="94DBB8"/>
                          </a:solidFill>
                          <a:latin typeface="Calibri" pitchFamily="34" charset="0"/>
                          <a:ea typeface="Calibri" pitchFamily="34" charset="-122"/>
                          <a:cs typeface="Calibri" pitchFamily="34" charset="-120"/>
                        </a:rPr>
                        <a:t>POST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/api/feedback</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Submit QoE feedback ratings and comment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12064">
                <a:tc>
                  <a:txBody>
                    <a:bodyPr/>
                    <a:lstStyle/>
                    <a:p>
                      <a:pPr marL="0" indent="0">
                        <a:buNone/>
                      </a:pPr>
                      <a:r>
                        <a:rPr lang="en-US" sz="1100" b="1" dirty="0">
                          <a:solidFill>
                            <a:srgbClr val="5330D5"/>
                          </a:solidFill>
                          <a:latin typeface="Calibri" pitchFamily="34" charset="0"/>
                          <a:ea typeface="Calibri" pitchFamily="34" charset="-122"/>
                          <a:cs typeface="Calibri" pitchFamily="34" charset="-120"/>
                        </a:rPr>
                        <a:t>GET</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ourier New" pitchFamily="34" charset="0"/>
                          <a:ea typeface="Courier New" pitchFamily="34" charset="-122"/>
                          <a:cs typeface="Courier New" pitchFamily="34" charset="-120"/>
                        </a:rPr>
                        <a:t>/api/analytics/average-speed/:id</a:t>
                      </a:r>
                      <a:endParaRPr lang="en-US" sz="1100" dirty="0">
                        <a:latin typeface="Courier New" charset="0"/>
                        <a:ea typeface="Courier New" charset="0"/>
                        <a:cs typeface="Courier New"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tc>
                  <a:txBody>
                    <a:bodyPr/>
                    <a:lstStyle/>
                    <a:p>
                      <a:pPr marL="0" indent="0">
                        <a:buNone/>
                      </a:pPr>
                      <a:r>
                        <a:rPr lang="en-US" sz="1100" dirty="0">
                          <a:solidFill>
                            <a:srgbClr val="16213E"/>
                          </a:solidFill>
                          <a:latin typeface="Calibri" pitchFamily="34" charset="0"/>
                          <a:ea typeface="Calibri" pitchFamily="34" charset="-122"/>
                          <a:cs typeface="Calibri" pitchFamily="34" charset="-120"/>
                        </a:rPr>
                        <a:t>Return average download and upload speeds</a:t>
                      </a:r>
                      <a:endParaRPr lang="en-US" sz="1100" dirty="0">
                        <a:latin typeface="Calibri" charset="0"/>
                        <a:ea typeface="Calibri" charset="0"/>
                        <a:cs typeface="Calibri" charset="0"/>
                      </a:endParaRPr>
                    </a:p>
                  </a:txBody>
                  <a:tcPr anchor="ctr">
                    <a:lnL w="6350" cap="flat" cmpd="sng" algn="ctr">
                      <a:solidFill>
                        <a:srgbClr val="E2E5F1"/>
                      </a:solidFill>
                      <a:prstDash val="solid"/>
                      <a:round/>
                      <a:headEnd type="none" w="med" len="med"/>
                      <a:tailEnd type="none" w="med" len="med"/>
                    </a:lnL>
                    <a:lnR w="6350" cap="flat" cmpd="sng" algn="ctr">
                      <a:solidFill>
                        <a:srgbClr val="E2E5F1"/>
                      </a:solidFill>
                      <a:prstDash val="solid"/>
                      <a:round/>
                      <a:headEnd type="none" w="med" len="med"/>
                      <a:tailEnd type="none" w="med" len="med"/>
                    </a:lnR>
                    <a:lnT w="6350" cap="flat" cmpd="sng" algn="ctr">
                      <a:solidFill>
                        <a:srgbClr val="E2E5F1"/>
                      </a:solidFill>
                      <a:prstDash val="solid"/>
                      <a:round/>
                      <a:headEnd type="none" w="med" len="med"/>
                      <a:tailEnd type="none" w="med" len="med"/>
                    </a:lnT>
                    <a:lnB w="6350" cap="flat" cmpd="sng" algn="ctr">
                      <a:solidFill>
                        <a:srgbClr val="E2E5F1"/>
                      </a:solidFill>
                      <a:prstDash val="solid"/>
                      <a:round/>
                      <a:headEnd type="none" w="med" len="med"/>
                      <a:tailEnd type="none" w="med" len="med"/>
                    </a:lnB>
                    <a:solidFill>
                      <a:srgbClr val="F4F6FC"/>
                    </a:solidFill>
                  </a:tcPr>
                </a:tc>
                <a:extLst>
                  <a:ext uri="{0D108BD9-81ED-4DB2-BD59-A6C34878D82A}">
                    <a16:rowId xmlns:a16="http://schemas.microsoft.com/office/drawing/2014/main" val="10007"/>
                  </a:ext>
                </a:extLst>
              </a:tr>
            </a:tbl>
          </a:graphicData>
        </a:graphic>
      </p:graphicFrame>
      <p:sp>
        <p:nvSpPr>
          <p:cNvPr id="5" name="Text 2"/>
          <p:cNvSpPr/>
          <p:nvPr/>
        </p:nvSpPr>
        <p:spPr>
          <a:xfrm>
            <a:off x="640080" y="6263640"/>
            <a:ext cx="10881360" cy="320040"/>
          </a:xfrm>
          <a:prstGeom prst="rect">
            <a:avLst/>
          </a:prstGeom>
          <a:noFill/>
          <a:ln/>
        </p:spPr>
        <p:txBody>
          <a:bodyPr wrap="square" lIns="0" tIns="0" rIns="0" bIns="0" rtlCol="0" anchor="ctr"/>
          <a:lstStyle/>
          <a:p>
            <a:pPr marL="0" indent="0">
              <a:buNone/>
            </a:pPr>
            <a:r>
              <a:rPr lang="en-US" sz="1050" i="1" dirty="0">
                <a:solidFill>
                  <a:srgbClr val="6B7794"/>
                </a:solidFill>
                <a:latin typeface="Calibri" pitchFamily="34" charset="0"/>
                <a:ea typeface="Calibri" pitchFamily="34" charset="-122"/>
                <a:cs typeface="Calibri" pitchFamily="34" charset="-120"/>
              </a:rPr>
              <a:t>Full set includes device, metric, location, feedback and analytics endpoints validated with UUID and boolean-field checks.</a:t>
            </a:r>
            <a:endParaRPr lang="en-US" sz="1050" dirty="0"/>
          </a:p>
        </p:txBody>
      </p:sp>
      <p:sp>
        <p:nvSpPr>
          <p:cNvPr id="6" name="Text 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7" name="Text 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grpSp>
      <p:sp>
        <p:nvSpPr>
          <p:cNvPr id="22" name="Title 21">
            <a:extLst>
              <a:ext uri="{FF2B5EF4-FFF2-40B4-BE49-F238E27FC236}">
                <a16:creationId xmlns:a16="http://schemas.microsoft.com/office/drawing/2014/main" id="{7889F40A-6331-F67B-E5D4-0599A2EB6051}"/>
              </a:ext>
            </a:extLst>
          </p:cNvPr>
          <p:cNvSpPr>
            <a:spLocks noGrp="1"/>
          </p:cNvSpPr>
          <p:nvPr>
            <p:ph type="title"/>
          </p:nvPr>
        </p:nvSpPr>
        <p:spPr/>
        <p:txBody>
          <a:bodyPr/>
          <a:lstStyle/>
          <a:p>
            <a:r>
              <a:rPr lang="en-US" dirty="0"/>
              <a:t>h</a:t>
            </a:r>
            <a:endParaRPr lang="en-GB" dirty="0"/>
          </a:p>
        </p:txBody>
      </p:sp>
      <p:sp>
        <p:nvSpPr>
          <p:cNvPr id="24" name="Shape 2">
            <a:extLst>
              <a:ext uri="{FF2B5EF4-FFF2-40B4-BE49-F238E27FC236}">
                <a16:creationId xmlns:a16="http://schemas.microsoft.com/office/drawing/2014/main" id="{3DDA956C-D482-E8F4-A54B-F74A385DCB1F}"/>
              </a:ext>
            </a:extLst>
          </p:cNvPr>
          <p:cNvSpPr/>
          <p:nvPr/>
        </p:nvSpPr>
        <p:spPr>
          <a:xfrm>
            <a:off x="822960" y="2514600"/>
            <a:ext cx="914400" cy="914400"/>
          </a:xfrm>
          <a:prstGeom prst="ellipse">
            <a:avLst/>
          </a:prstGeom>
          <a:solidFill>
            <a:srgbClr val="5330D5"/>
          </a:solidFill>
          <a:ln/>
        </p:spPr>
      </p:sp>
      <p:pic>
        <p:nvPicPr>
          <p:cNvPr id="26" name="Image 0" descr="preencoded.png">
            <a:extLst>
              <a:ext uri="{FF2B5EF4-FFF2-40B4-BE49-F238E27FC236}">
                <a16:creationId xmlns:a16="http://schemas.microsoft.com/office/drawing/2014/main" id="{3B466CE3-27E8-AD5B-A0CA-A9F5C179A667}"/>
              </a:ext>
            </a:extLst>
          </p:cNvPr>
          <p:cNvPicPr>
            <a:picLocks noChangeAspect="1"/>
          </p:cNvPicPr>
          <p:nvPr/>
        </p:nvPicPr>
        <p:blipFill>
          <a:blip r:embed="rId4"/>
          <a:stretch>
            <a:fillRect/>
          </a:stretch>
        </p:blipFill>
        <p:spPr>
          <a:xfrm>
            <a:off x="978408" y="2670048"/>
            <a:ext cx="603504" cy="603504"/>
          </a:xfrm>
          <a:prstGeom prst="rect">
            <a:avLst/>
          </a:prstGeom>
        </p:spPr>
      </p:pic>
      <p:sp>
        <p:nvSpPr>
          <p:cNvPr id="28" name="Text 3">
            <a:extLst>
              <a:ext uri="{FF2B5EF4-FFF2-40B4-BE49-F238E27FC236}">
                <a16:creationId xmlns:a16="http://schemas.microsoft.com/office/drawing/2014/main" id="{2623CDA2-3775-D1EF-CE88-52459D7BB7D6}"/>
              </a:ext>
            </a:extLst>
          </p:cNvPr>
          <p:cNvSpPr/>
          <p:nvPr/>
        </p:nvSpPr>
        <p:spPr>
          <a:xfrm>
            <a:off x="2013204" y="2363723"/>
            <a:ext cx="2743200" cy="1188720"/>
          </a:xfrm>
          <a:prstGeom prst="rect">
            <a:avLst/>
          </a:prstGeom>
          <a:noFill/>
          <a:ln/>
        </p:spPr>
        <p:txBody>
          <a:bodyPr wrap="square" lIns="0" tIns="0" rIns="0" bIns="0" rtlCol="0" anchor="ctr"/>
          <a:lstStyle/>
          <a:p>
            <a:pPr marL="0" indent="0">
              <a:buNone/>
            </a:pPr>
            <a:r>
              <a:rPr lang="en-US" sz="7200" b="1" dirty="0">
                <a:solidFill>
                  <a:srgbClr val="6357FB"/>
                </a:solidFill>
                <a:latin typeface="Cambria" pitchFamily="34" charset="0"/>
                <a:ea typeface="Cambria" pitchFamily="34" charset="-122"/>
                <a:cs typeface="Cambria" pitchFamily="34" charset="-120"/>
              </a:rPr>
              <a:t>05</a:t>
            </a:r>
            <a:endParaRPr lang="en-US" sz="7200" dirty="0"/>
          </a:p>
        </p:txBody>
      </p:sp>
      <p:sp>
        <p:nvSpPr>
          <p:cNvPr id="30" name="Text 4">
            <a:extLst>
              <a:ext uri="{FF2B5EF4-FFF2-40B4-BE49-F238E27FC236}">
                <a16:creationId xmlns:a16="http://schemas.microsoft.com/office/drawing/2014/main" id="{0B6945EF-0060-C68C-BFC8-0144E3ECA948}"/>
              </a:ext>
            </a:extLst>
          </p:cNvPr>
          <p:cNvSpPr/>
          <p:nvPr/>
        </p:nvSpPr>
        <p:spPr>
          <a:xfrm>
            <a:off x="822960" y="3677411"/>
            <a:ext cx="9601200" cy="1005840"/>
          </a:xfrm>
          <a:prstGeom prst="rect">
            <a:avLst/>
          </a:prstGeom>
          <a:noFill/>
          <a:ln/>
        </p:spPr>
        <p:txBody>
          <a:bodyPr wrap="square" lIns="0" tIns="0" rIns="0" bIns="0" rtlCol="0" anchor="ctr"/>
          <a:lstStyle/>
          <a:p>
            <a:pPr marL="0" indent="0">
              <a:buNone/>
            </a:pPr>
            <a:r>
              <a:rPr lang="en-US" sz="4000" b="1" dirty="0">
                <a:solidFill>
                  <a:schemeClr val="tx1">
                    <a:lumMod val="95000"/>
                    <a:lumOff val="5000"/>
                  </a:schemeClr>
                </a:solidFill>
                <a:latin typeface="Cambria" pitchFamily="34" charset="0"/>
                <a:ea typeface="Cambria" pitchFamily="34" charset="-122"/>
                <a:cs typeface="Cambria" pitchFamily="34" charset="-120"/>
              </a:rPr>
              <a:t>Results &amp; Evaluation</a:t>
            </a:r>
            <a:endParaRPr lang="en-US" sz="4000" dirty="0">
              <a:solidFill>
                <a:schemeClr val="tx1">
                  <a:lumMod val="95000"/>
                  <a:lumOff val="5000"/>
                </a:schemeClr>
              </a:solidFill>
            </a:endParaRPr>
          </a:p>
        </p:txBody>
      </p:sp>
      <p:sp>
        <p:nvSpPr>
          <p:cNvPr id="32" name="Text 5">
            <a:extLst>
              <a:ext uri="{FF2B5EF4-FFF2-40B4-BE49-F238E27FC236}">
                <a16:creationId xmlns:a16="http://schemas.microsoft.com/office/drawing/2014/main" id="{18ED8984-E830-B0CB-D6A4-8197F1793C41}"/>
              </a:ext>
            </a:extLst>
          </p:cNvPr>
          <p:cNvSpPr/>
          <p:nvPr/>
        </p:nvSpPr>
        <p:spPr>
          <a:xfrm>
            <a:off x="822960" y="4625339"/>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An honest account of what was achieved — and what remains open</a:t>
            </a:r>
            <a:endParaRPr lang="en-US" sz="1500" dirty="0">
              <a:solidFill>
                <a:schemeClr val="tx1">
                  <a:lumMod val="95000"/>
                  <a:lumOff val="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05 · RESULTS &amp; EVALUATION</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Achieved vs. Honest Limitations</a:t>
            </a:r>
            <a:endParaRPr lang="en-US" sz="3000" dirty="0"/>
          </a:p>
        </p:txBody>
      </p:sp>
      <p:sp>
        <p:nvSpPr>
          <p:cNvPr id="4" name="Shape 2"/>
          <p:cNvSpPr/>
          <p:nvPr/>
        </p:nvSpPr>
        <p:spPr>
          <a:xfrm>
            <a:off x="640080" y="1737360"/>
            <a:ext cx="5212080" cy="4343400"/>
          </a:xfrm>
          <a:prstGeom prst="roundRect">
            <a:avLst>
              <a:gd name="adj" fmla="val 1684"/>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932688" y="2029968"/>
            <a:ext cx="548640" cy="548640"/>
          </a:xfrm>
          <a:prstGeom prst="ellipse">
            <a:avLst/>
          </a:prstGeom>
          <a:solidFill>
            <a:srgbClr val="94DBB8"/>
          </a:solidFill>
          <a:ln/>
        </p:spPr>
      </p:sp>
      <p:pic>
        <p:nvPicPr>
          <p:cNvPr id="6" name="Image 0" descr="preencoded.png"/>
          <p:cNvPicPr>
            <a:picLocks noChangeAspect="1"/>
          </p:cNvPicPr>
          <p:nvPr/>
        </p:nvPicPr>
        <p:blipFill>
          <a:blip r:embed="rId3"/>
          <a:stretch>
            <a:fillRect/>
          </a:stretch>
        </p:blipFill>
        <p:spPr>
          <a:xfrm>
            <a:off x="1020470" y="2117750"/>
            <a:ext cx="373075" cy="373075"/>
          </a:xfrm>
          <a:prstGeom prst="rect">
            <a:avLst/>
          </a:prstGeom>
        </p:spPr>
      </p:pic>
      <p:sp>
        <p:nvSpPr>
          <p:cNvPr id="7" name="Text 4"/>
          <p:cNvSpPr/>
          <p:nvPr/>
        </p:nvSpPr>
        <p:spPr>
          <a:xfrm>
            <a:off x="1645920" y="2103120"/>
            <a:ext cx="4023360" cy="411480"/>
          </a:xfrm>
          <a:prstGeom prst="rect">
            <a:avLst/>
          </a:prstGeom>
          <a:noFill/>
          <a:ln/>
        </p:spPr>
        <p:txBody>
          <a:bodyPr wrap="square" lIns="0" tIns="0" rIns="0" bIns="0" rtlCol="0" anchor="ctr"/>
          <a:lstStyle/>
          <a:p>
            <a:pPr marL="0" indent="0">
              <a:buNone/>
            </a:pPr>
            <a:r>
              <a:rPr lang="en-US" sz="1700" b="1" dirty="0">
                <a:solidFill>
                  <a:srgbClr val="112141"/>
                </a:solidFill>
                <a:latin typeface="Cambria" pitchFamily="34" charset="0"/>
                <a:ea typeface="Cambria" pitchFamily="34" charset="-122"/>
                <a:cs typeface="Cambria" pitchFamily="34" charset="-120"/>
              </a:rPr>
              <a:t>Achieved</a:t>
            </a:r>
            <a:endParaRPr lang="en-US" sz="1700" dirty="0"/>
          </a:p>
        </p:txBody>
      </p:sp>
      <p:sp>
        <p:nvSpPr>
          <p:cNvPr id="8" name="Text 5"/>
          <p:cNvSpPr/>
          <p:nvPr/>
        </p:nvSpPr>
        <p:spPr>
          <a:xfrm>
            <a:off x="960120" y="2697480"/>
            <a:ext cx="4572000" cy="3200400"/>
          </a:xfrm>
          <a:prstGeom prst="rect">
            <a:avLst/>
          </a:prstGeom>
          <a:noFill/>
          <a:ln/>
        </p:spPr>
        <p:txBody>
          <a:bodyPr wrap="square" lIns="0" tIns="0" rIns="0" bIns="0" rtlCol="0" anchor="ctr"/>
          <a:lstStyle/>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Cross-platform React Native/Expo app across Android and iOS</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Consent, anonymous ID and working delete-all-data pipeline</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Offline SQLite queue with connectivity-triggered sync</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Four-dimension QoE feedback modal</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Full PostgreSQL schema with cascading deletes</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Device, metric, location, feedback &amp; analytics REST endpoints</a:t>
            </a:r>
            <a:endParaRPr lang="en-US" sz="1150" dirty="0"/>
          </a:p>
        </p:txBody>
      </p:sp>
      <p:sp>
        <p:nvSpPr>
          <p:cNvPr id="9" name="Shape 6"/>
          <p:cNvSpPr/>
          <p:nvPr/>
        </p:nvSpPr>
        <p:spPr>
          <a:xfrm>
            <a:off x="6217920" y="1737360"/>
            <a:ext cx="5212080" cy="4343400"/>
          </a:xfrm>
          <a:prstGeom prst="roundRect">
            <a:avLst>
              <a:gd name="adj" fmla="val 1684"/>
            </a:avLst>
          </a:prstGeom>
          <a:solidFill>
            <a:srgbClr val="EFEBFB"/>
          </a:solidFill>
          <a:ln/>
          <a:effectLst>
            <a:outerShdw blurRad="101600" dist="38100" dir="2700000" algn="bl" rotWithShape="0">
              <a:srgbClr val="000000">
                <a:alpha val="12000"/>
              </a:srgbClr>
            </a:outerShdw>
          </a:effectLst>
        </p:spPr>
      </p:sp>
      <p:sp>
        <p:nvSpPr>
          <p:cNvPr id="10" name="Shape 7"/>
          <p:cNvSpPr/>
          <p:nvPr/>
        </p:nvSpPr>
        <p:spPr>
          <a:xfrm>
            <a:off x="6510528" y="2029968"/>
            <a:ext cx="548640" cy="548640"/>
          </a:xfrm>
          <a:prstGeom prst="ellipse">
            <a:avLst/>
          </a:prstGeom>
          <a:solidFill>
            <a:srgbClr val="E06251"/>
          </a:solidFill>
          <a:ln/>
        </p:spPr>
      </p:sp>
      <p:pic>
        <p:nvPicPr>
          <p:cNvPr id="11" name="Image 1" descr="preencoded.png"/>
          <p:cNvPicPr>
            <a:picLocks noChangeAspect="1"/>
          </p:cNvPicPr>
          <p:nvPr/>
        </p:nvPicPr>
        <p:blipFill>
          <a:blip r:embed="rId4"/>
          <a:stretch>
            <a:fillRect/>
          </a:stretch>
        </p:blipFill>
        <p:spPr>
          <a:xfrm>
            <a:off x="6598310" y="2117750"/>
            <a:ext cx="373075" cy="373075"/>
          </a:xfrm>
          <a:prstGeom prst="rect">
            <a:avLst/>
          </a:prstGeom>
        </p:spPr>
      </p:pic>
      <p:sp>
        <p:nvSpPr>
          <p:cNvPr id="12" name="Text 8"/>
          <p:cNvSpPr/>
          <p:nvPr/>
        </p:nvSpPr>
        <p:spPr>
          <a:xfrm>
            <a:off x="7223760" y="2103120"/>
            <a:ext cx="4023360" cy="411480"/>
          </a:xfrm>
          <a:prstGeom prst="rect">
            <a:avLst/>
          </a:prstGeom>
          <a:noFill/>
          <a:ln/>
        </p:spPr>
        <p:txBody>
          <a:bodyPr wrap="square" lIns="0" tIns="0" rIns="0" bIns="0" rtlCol="0" anchor="ctr"/>
          <a:lstStyle/>
          <a:p>
            <a:pPr marL="0" indent="0">
              <a:buNone/>
            </a:pPr>
            <a:r>
              <a:rPr lang="en-US" sz="1700" b="1" dirty="0">
                <a:solidFill>
                  <a:srgbClr val="112141"/>
                </a:solidFill>
                <a:latin typeface="Cambria" pitchFamily="34" charset="0"/>
                <a:ea typeface="Cambria" pitchFamily="34" charset="-122"/>
                <a:cs typeface="Cambria" pitchFamily="34" charset="-120"/>
              </a:rPr>
              <a:t>Honest Limitations</a:t>
            </a:r>
            <a:endParaRPr lang="en-US" sz="1700" dirty="0"/>
          </a:p>
        </p:txBody>
      </p:sp>
      <p:sp>
        <p:nvSpPr>
          <p:cNvPr id="13" name="Text 9"/>
          <p:cNvSpPr/>
          <p:nvPr/>
        </p:nvSpPr>
        <p:spPr>
          <a:xfrm>
            <a:off x="6537960" y="2697480"/>
            <a:ext cx="4572000" cy="3200400"/>
          </a:xfrm>
          <a:prstGeom prst="rect">
            <a:avLst/>
          </a:prstGeom>
          <a:noFill/>
          <a:ln/>
        </p:spPr>
        <p:txBody>
          <a:bodyPr wrap="square" lIns="0" tIns="0" rIns="0" bIns="0" rtlCol="0" anchor="ctr"/>
          <a:lstStyle/>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Raw cellular signal strength is unreliable on iOS without native modules</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Background execution timing is controlled by the OS, not guaranteed</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Speed tests use public endpoints, not dedicated regional servers</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No encryption-at-rest yet for local SQLite data (needs SQLCipher)</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Exact data-usage counters are platform-limited</a:t>
            </a:r>
            <a:endParaRPr lang="en-US" sz="1150" dirty="0"/>
          </a:p>
          <a:p>
            <a:pPr marL="342900" indent="-342900">
              <a:lnSpc>
                <a:spcPct val="120000"/>
              </a:lnSpc>
              <a:spcAft>
                <a:spcPts val="900"/>
              </a:spcAft>
              <a:buSzPct val="100000"/>
              <a:buChar char="✦"/>
            </a:pPr>
            <a:r>
              <a:rPr lang="en-US" sz="1150" dirty="0">
                <a:solidFill>
                  <a:srgbClr val="16213E"/>
                </a:solidFill>
                <a:latin typeface="Calibri" pitchFamily="34" charset="0"/>
                <a:ea typeface="Calibri" pitchFamily="34" charset="-122"/>
                <a:cs typeface="Calibri" pitchFamily="34" charset="-120"/>
              </a:rPr>
              <a:t>Operator dashboards and heat maps remain future work</a:t>
            </a:r>
            <a:endParaRPr lang="en-US" sz="1150" dirty="0"/>
          </a:p>
        </p:txBody>
      </p:sp>
      <p:sp>
        <p:nvSpPr>
          <p:cNvPr id="14" name="Text 10"/>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15" name="Text 11"/>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47116" y="2238755"/>
              <a:ext cx="1438656" cy="1438656"/>
            </a:xfrm>
            <a:prstGeom prst="rect">
              <a:avLst/>
            </a:prstGeom>
          </p:spPr>
        </p:pic>
      </p:grpSp>
      <p:sp>
        <p:nvSpPr>
          <p:cNvPr id="10" name="Title 9">
            <a:extLst>
              <a:ext uri="{FF2B5EF4-FFF2-40B4-BE49-F238E27FC236}">
                <a16:creationId xmlns:a16="http://schemas.microsoft.com/office/drawing/2014/main" id="{2AE87EF7-C06C-108C-8DF6-19A05635F6A5}"/>
              </a:ext>
            </a:extLst>
          </p:cNvPr>
          <p:cNvSpPr>
            <a:spLocks noGrp="1"/>
          </p:cNvSpPr>
          <p:nvPr>
            <p:ph type="title"/>
          </p:nvPr>
        </p:nvSpPr>
        <p:spPr/>
        <p:txBody>
          <a:bodyPr/>
          <a:lstStyle/>
          <a:p>
            <a:r>
              <a:rPr lang="en-US" dirty="0"/>
              <a:t>h</a:t>
            </a:r>
            <a:endParaRPr lang="en-GB" dirty="0"/>
          </a:p>
        </p:txBody>
      </p:sp>
      <p:sp>
        <p:nvSpPr>
          <p:cNvPr id="12" name="Shape 2">
            <a:extLst>
              <a:ext uri="{FF2B5EF4-FFF2-40B4-BE49-F238E27FC236}">
                <a16:creationId xmlns:a16="http://schemas.microsoft.com/office/drawing/2014/main" id="{EC6AC3DC-2E74-6F19-FD8A-5D9578BF593B}"/>
              </a:ext>
            </a:extLst>
          </p:cNvPr>
          <p:cNvSpPr/>
          <p:nvPr/>
        </p:nvSpPr>
        <p:spPr>
          <a:xfrm>
            <a:off x="822960" y="2433065"/>
            <a:ext cx="914400" cy="914400"/>
          </a:xfrm>
          <a:prstGeom prst="ellipse">
            <a:avLst/>
          </a:prstGeom>
          <a:solidFill>
            <a:srgbClr val="5330D5"/>
          </a:solidFill>
          <a:ln/>
        </p:spPr>
      </p:sp>
      <p:pic>
        <p:nvPicPr>
          <p:cNvPr id="14" name="Image 0" descr="preencoded.png">
            <a:extLst>
              <a:ext uri="{FF2B5EF4-FFF2-40B4-BE49-F238E27FC236}">
                <a16:creationId xmlns:a16="http://schemas.microsoft.com/office/drawing/2014/main" id="{85E73BAA-5BB2-63A4-A7D5-76CE8B98CC48}"/>
              </a:ext>
            </a:extLst>
          </p:cNvPr>
          <p:cNvPicPr>
            <a:picLocks noChangeAspect="1"/>
          </p:cNvPicPr>
          <p:nvPr/>
        </p:nvPicPr>
        <p:blipFill>
          <a:blip r:embed="rId4"/>
          <a:stretch>
            <a:fillRect/>
          </a:stretch>
        </p:blipFill>
        <p:spPr>
          <a:xfrm>
            <a:off x="978408" y="2588513"/>
            <a:ext cx="603504" cy="603504"/>
          </a:xfrm>
          <a:prstGeom prst="rect">
            <a:avLst/>
          </a:prstGeom>
        </p:spPr>
      </p:pic>
      <p:sp>
        <p:nvSpPr>
          <p:cNvPr id="16" name="Text 3">
            <a:extLst>
              <a:ext uri="{FF2B5EF4-FFF2-40B4-BE49-F238E27FC236}">
                <a16:creationId xmlns:a16="http://schemas.microsoft.com/office/drawing/2014/main" id="{9D47CA42-CBFB-85BD-D6A3-5BB00BE8DBE8}"/>
              </a:ext>
            </a:extLst>
          </p:cNvPr>
          <p:cNvSpPr/>
          <p:nvPr/>
        </p:nvSpPr>
        <p:spPr>
          <a:xfrm>
            <a:off x="2141220" y="2191911"/>
            <a:ext cx="2743200" cy="1188720"/>
          </a:xfrm>
          <a:prstGeom prst="rect">
            <a:avLst/>
          </a:prstGeom>
          <a:noFill/>
          <a:ln/>
        </p:spPr>
        <p:txBody>
          <a:bodyPr wrap="square" lIns="0" tIns="0" rIns="0" bIns="0" rtlCol="0" anchor="ctr"/>
          <a:lstStyle/>
          <a:p>
            <a:pPr marL="0" indent="0">
              <a:buNone/>
            </a:pPr>
            <a:r>
              <a:rPr lang="en-US" sz="7200" b="1" dirty="0">
                <a:solidFill>
                  <a:srgbClr val="6357FB"/>
                </a:solidFill>
                <a:latin typeface="Cambria" pitchFamily="34" charset="0"/>
                <a:ea typeface="Cambria" pitchFamily="34" charset="-122"/>
                <a:cs typeface="Cambria" pitchFamily="34" charset="-120"/>
              </a:rPr>
              <a:t>06</a:t>
            </a:r>
            <a:endParaRPr lang="en-US" sz="7200" dirty="0"/>
          </a:p>
        </p:txBody>
      </p:sp>
      <p:sp>
        <p:nvSpPr>
          <p:cNvPr id="18" name="Text 4">
            <a:extLst>
              <a:ext uri="{FF2B5EF4-FFF2-40B4-BE49-F238E27FC236}">
                <a16:creationId xmlns:a16="http://schemas.microsoft.com/office/drawing/2014/main" id="{2AEE8917-5FC2-8354-A78C-9A19EA40EF3F}"/>
              </a:ext>
            </a:extLst>
          </p:cNvPr>
          <p:cNvSpPr/>
          <p:nvPr/>
        </p:nvSpPr>
        <p:spPr>
          <a:xfrm>
            <a:off x="822960" y="3603878"/>
            <a:ext cx="9601200" cy="1005840"/>
          </a:xfrm>
          <a:prstGeom prst="rect">
            <a:avLst/>
          </a:prstGeom>
          <a:noFill/>
          <a:ln/>
        </p:spPr>
        <p:txBody>
          <a:bodyPr wrap="square" lIns="0" tIns="0" rIns="0" bIns="0" rtlCol="0" anchor="ctr"/>
          <a:lstStyle/>
          <a:p>
            <a:pPr marL="0" indent="0">
              <a:buNone/>
            </a:pPr>
            <a:r>
              <a:rPr lang="en-US" sz="4000" b="1" dirty="0">
                <a:solidFill>
                  <a:schemeClr val="tx1">
                    <a:lumMod val="95000"/>
                    <a:lumOff val="5000"/>
                  </a:schemeClr>
                </a:solidFill>
                <a:latin typeface="Cambria" pitchFamily="34" charset="0"/>
                <a:ea typeface="Cambria" pitchFamily="34" charset="-122"/>
                <a:cs typeface="Cambria" pitchFamily="34" charset="-120"/>
              </a:rPr>
              <a:t>Conclusion &amp; Future Work</a:t>
            </a:r>
            <a:endParaRPr lang="en-US" sz="4000" dirty="0">
              <a:solidFill>
                <a:schemeClr val="tx1">
                  <a:lumMod val="95000"/>
                  <a:lumOff val="5000"/>
                </a:schemeClr>
              </a:solidFill>
            </a:endParaRPr>
          </a:p>
        </p:txBody>
      </p:sp>
      <p:sp>
        <p:nvSpPr>
          <p:cNvPr id="20" name="Text 5">
            <a:extLst>
              <a:ext uri="{FF2B5EF4-FFF2-40B4-BE49-F238E27FC236}">
                <a16:creationId xmlns:a16="http://schemas.microsoft.com/office/drawing/2014/main" id="{F0202F32-E233-99B0-7127-4DBD2C852CDA}"/>
              </a:ext>
            </a:extLst>
          </p:cNvPr>
          <p:cNvSpPr/>
          <p:nvPr/>
        </p:nvSpPr>
        <p:spPr>
          <a:xfrm>
            <a:off x="822960" y="4557140"/>
            <a:ext cx="8961120" cy="731520"/>
          </a:xfrm>
          <a:prstGeom prst="rect">
            <a:avLst/>
          </a:prstGeom>
          <a:noFill/>
          <a:ln/>
        </p:spPr>
        <p:txBody>
          <a:bodyPr wrap="square" lIns="0" tIns="0" rIns="0" bIns="0" rtlCol="0" anchor="ctr"/>
          <a:lstStyle/>
          <a:p>
            <a:pPr marL="0" indent="0">
              <a:buNone/>
            </a:pPr>
            <a:r>
              <a:rPr lang="en-US" sz="1500" dirty="0">
                <a:solidFill>
                  <a:schemeClr val="tx1">
                    <a:lumMod val="95000"/>
                    <a:lumOff val="5000"/>
                  </a:schemeClr>
                </a:solidFill>
                <a:latin typeface="Calibri" pitchFamily="34" charset="0"/>
                <a:ea typeface="Calibri" pitchFamily="34" charset="-122"/>
                <a:cs typeface="Calibri" pitchFamily="34" charset="-120"/>
              </a:rPr>
              <a:t>Contribution, recommendations, the team and next steps</a:t>
            </a:r>
            <a:endParaRPr lang="en-US" sz="1500" dirty="0">
              <a:solidFill>
                <a:schemeClr val="tx1">
                  <a:lumMod val="95000"/>
                  <a:lumOff val="5000"/>
                </a:scheme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06 · CONCLUSION &amp; FUTURE WORK</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Recommendations &amp; Future Work</a:t>
            </a:r>
            <a:endParaRPr lang="en-US" sz="3000" dirty="0"/>
          </a:p>
        </p:txBody>
      </p:sp>
      <p:sp>
        <p:nvSpPr>
          <p:cNvPr id="4" name="Shape 2"/>
          <p:cNvSpPr/>
          <p:nvPr/>
        </p:nvSpPr>
        <p:spPr>
          <a:xfrm>
            <a:off x="64008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868680" y="1965960"/>
            <a:ext cx="566928" cy="566928"/>
          </a:xfrm>
          <a:prstGeom prst="ellipse">
            <a:avLst/>
          </a:prstGeom>
          <a:solidFill>
            <a:srgbClr val="FFFFFF"/>
          </a:solidFill>
          <a:ln/>
        </p:spPr>
      </p:sp>
      <p:pic>
        <p:nvPicPr>
          <p:cNvPr id="6" name="Image 0" descr="preencoded.png"/>
          <p:cNvPicPr>
            <a:picLocks noChangeAspect="1"/>
          </p:cNvPicPr>
          <p:nvPr/>
        </p:nvPicPr>
        <p:blipFill>
          <a:blip r:embed="rId3"/>
          <a:stretch>
            <a:fillRect/>
          </a:stretch>
        </p:blipFill>
        <p:spPr>
          <a:xfrm>
            <a:off x="959388" y="2056668"/>
            <a:ext cx="385511" cy="385511"/>
          </a:xfrm>
          <a:prstGeom prst="rect">
            <a:avLst/>
          </a:prstGeom>
        </p:spPr>
      </p:pic>
      <p:sp>
        <p:nvSpPr>
          <p:cNvPr id="7" name="Text 4"/>
          <p:cNvSpPr/>
          <p:nvPr/>
        </p:nvSpPr>
        <p:spPr>
          <a:xfrm>
            <a:off x="868680" y="265176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Dedicated Measurement Server</a:t>
            </a:r>
            <a:endParaRPr lang="en-US" sz="1250" dirty="0"/>
          </a:p>
        </p:txBody>
      </p:sp>
      <p:sp>
        <p:nvSpPr>
          <p:cNvPr id="8" name="Text 5"/>
          <p:cNvSpPr/>
          <p:nvPr/>
        </p:nvSpPr>
        <p:spPr>
          <a:xfrm>
            <a:off x="868680" y="306324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Deploy a SpeeDT server in or near Cameroon for accurate, repeatable speed tests.</a:t>
            </a:r>
            <a:endParaRPr lang="en-US" sz="1000" dirty="0"/>
          </a:p>
        </p:txBody>
      </p:sp>
      <p:sp>
        <p:nvSpPr>
          <p:cNvPr id="9" name="Shape 6"/>
          <p:cNvSpPr/>
          <p:nvPr/>
        </p:nvSpPr>
        <p:spPr>
          <a:xfrm>
            <a:off x="438912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10" name="Shape 7"/>
          <p:cNvSpPr/>
          <p:nvPr/>
        </p:nvSpPr>
        <p:spPr>
          <a:xfrm>
            <a:off x="4617720" y="1965960"/>
            <a:ext cx="566928" cy="566928"/>
          </a:xfrm>
          <a:prstGeom prst="ellipse">
            <a:avLst/>
          </a:prstGeom>
          <a:solidFill>
            <a:srgbClr val="FFFFFF"/>
          </a:solidFill>
          <a:ln/>
        </p:spPr>
      </p:sp>
      <p:pic>
        <p:nvPicPr>
          <p:cNvPr id="11" name="Image 1" descr="preencoded.png"/>
          <p:cNvPicPr>
            <a:picLocks noChangeAspect="1"/>
          </p:cNvPicPr>
          <p:nvPr/>
        </p:nvPicPr>
        <p:blipFill>
          <a:blip r:embed="rId4"/>
          <a:stretch>
            <a:fillRect/>
          </a:stretch>
        </p:blipFill>
        <p:spPr>
          <a:xfrm>
            <a:off x="4708428" y="2056668"/>
            <a:ext cx="385511" cy="385511"/>
          </a:xfrm>
          <a:prstGeom prst="rect">
            <a:avLst/>
          </a:prstGeom>
        </p:spPr>
      </p:pic>
      <p:sp>
        <p:nvSpPr>
          <p:cNvPr id="12" name="Text 8"/>
          <p:cNvSpPr/>
          <p:nvPr/>
        </p:nvSpPr>
        <p:spPr>
          <a:xfrm>
            <a:off x="4617720" y="265176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Operator Dashboard</a:t>
            </a:r>
            <a:endParaRPr lang="en-US" sz="1250" dirty="0"/>
          </a:p>
        </p:txBody>
      </p:sp>
      <p:sp>
        <p:nvSpPr>
          <p:cNvPr id="13" name="Text 9"/>
          <p:cNvSpPr/>
          <p:nvPr/>
        </p:nvSpPr>
        <p:spPr>
          <a:xfrm>
            <a:off x="4617720" y="306324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Aggregate anonymised results into maps, charts and operator-comparison reports.</a:t>
            </a:r>
            <a:endParaRPr lang="en-US" sz="1000" dirty="0"/>
          </a:p>
        </p:txBody>
      </p:sp>
      <p:sp>
        <p:nvSpPr>
          <p:cNvPr id="14" name="Shape 10"/>
          <p:cNvSpPr/>
          <p:nvPr/>
        </p:nvSpPr>
        <p:spPr>
          <a:xfrm>
            <a:off x="8138160" y="173736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15" name="Shape 11"/>
          <p:cNvSpPr/>
          <p:nvPr/>
        </p:nvSpPr>
        <p:spPr>
          <a:xfrm>
            <a:off x="8366760" y="1965960"/>
            <a:ext cx="566928" cy="566928"/>
          </a:xfrm>
          <a:prstGeom prst="ellipse">
            <a:avLst/>
          </a:prstGeom>
          <a:solidFill>
            <a:srgbClr val="FFFFFF"/>
          </a:solidFill>
          <a:ln/>
        </p:spPr>
      </p:sp>
      <p:pic>
        <p:nvPicPr>
          <p:cNvPr id="16" name="Image 2" descr="preencoded.png"/>
          <p:cNvPicPr>
            <a:picLocks noChangeAspect="1"/>
          </p:cNvPicPr>
          <p:nvPr/>
        </p:nvPicPr>
        <p:blipFill>
          <a:blip r:embed="rId5"/>
          <a:stretch>
            <a:fillRect/>
          </a:stretch>
        </p:blipFill>
        <p:spPr>
          <a:xfrm>
            <a:off x="8457468" y="2056668"/>
            <a:ext cx="385511" cy="385511"/>
          </a:xfrm>
          <a:prstGeom prst="rect">
            <a:avLst/>
          </a:prstGeom>
        </p:spPr>
      </p:pic>
      <p:sp>
        <p:nvSpPr>
          <p:cNvPr id="17" name="Text 12"/>
          <p:cNvSpPr/>
          <p:nvPr/>
        </p:nvSpPr>
        <p:spPr>
          <a:xfrm>
            <a:off x="8366760" y="265176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Stronger Local Security</a:t>
            </a:r>
            <a:endParaRPr lang="en-US" sz="1250" dirty="0"/>
          </a:p>
        </p:txBody>
      </p:sp>
      <p:sp>
        <p:nvSpPr>
          <p:cNvPr id="18" name="Text 13"/>
          <p:cNvSpPr/>
          <p:nvPr/>
        </p:nvSpPr>
        <p:spPr>
          <a:xfrm>
            <a:off x="8366760" y="306324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Add SQLCipher-based encryption at rest and production HTTPS with certificate pinning.</a:t>
            </a:r>
            <a:endParaRPr lang="en-US" sz="1000" dirty="0"/>
          </a:p>
        </p:txBody>
      </p:sp>
      <p:sp>
        <p:nvSpPr>
          <p:cNvPr id="19" name="Shape 14"/>
          <p:cNvSpPr/>
          <p:nvPr/>
        </p:nvSpPr>
        <p:spPr>
          <a:xfrm>
            <a:off x="64008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20" name="Shape 15"/>
          <p:cNvSpPr/>
          <p:nvPr/>
        </p:nvSpPr>
        <p:spPr>
          <a:xfrm>
            <a:off x="868680" y="4206240"/>
            <a:ext cx="566928" cy="566928"/>
          </a:xfrm>
          <a:prstGeom prst="ellipse">
            <a:avLst/>
          </a:prstGeom>
          <a:solidFill>
            <a:srgbClr val="FFFFFF"/>
          </a:solidFill>
          <a:ln/>
        </p:spPr>
      </p:sp>
      <p:pic>
        <p:nvPicPr>
          <p:cNvPr id="21" name="Image 3" descr="preencoded.png"/>
          <p:cNvPicPr>
            <a:picLocks noChangeAspect="1"/>
          </p:cNvPicPr>
          <p:nvPr/>
        </p:nvPicPr>
        <p:blipFill>
          <a:blip r:embed="rId6"/>
          <a:stretch>
            <a:fillRect/>
          </a:stretch>
        </p:blipFill>
        <p:spPr>
          <a:xfrm>
            <a:off x="959388" y="4296948"/>
            <a:ext cx="385511" cy="385511"/>
          </a:xfrm>
          <a:prstGeom prst="rect">
            <a:avLst/>
          </a:prstGeom>
        </p:spPr>
      </p:pic>
      <p:sp>
        <p:nvSpPr>
          <p:cNvPr id="22" name="Text 16"/>
          <p:cNvSpPr/>
          <p:nvPr/>
        </p:nvSpPr>
        <p:spPr>
          <a:xfrm>
            <a:off x="868680" y="489204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Field Testing at Scale</a:t>
            </a:r>
            <a:endParaRPr lang="en-US" sz="1250" dirty="0"/>
          </a:p>
        </p:txBody>
      </p:sp>
      <p:sp>
        <p:nvSpPr>
          <p:cNvPr id="23" name="Text 17"/>
          <p:cNvSpPr/>
          <p:nvPr/>
        </p:nvSpPr>
        <p:spPr>
          <a:xfrm>
            <a:off x="868680" y="530352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Validate performance across multiple towns, operators and device types.</a:t>
            </a:r>
            <a:endParaRPr lang="en-US" sz="1000" dirty="0"/>
          </a:p>
        </p:txBody>
      </p:sp>
      <p:sp>
        <p:nvSpPr>
          <p:cNvPr id="24" name="Shape 18"/>
          <p:cNvSpPr/>
          <p:nvPr/>
        </p:nvSpPr>
        <p:spPr>
          <a:xfrm>
            <a:off x="438912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25" name="Shape 19"/>
          <p:cNvSpPr/>
          <p:nvPr/>
        </p:nvSpPr>
        <p:spPr>
          <a:xfrm>
            <a:off x="4617720" y="4206240"/>
            <a:ext cx="566928" cy="566928"/>
          </a:xfrm>
          <a:prstGeom prst="ellipse">
            <a:avLst/>
          </a:prstGeom>
          <a:solidFill>
            <a:srgbClr val="FFFFFF"/>
          </a:solidFill>
          <a:ln/>
        </p:spPr>
      </p:sp>
      <p:pic>
        <p:nvPicPr>
          <p:cNvPr id="26" name="Image 4" descr="preencoded.png"/>
          <p:cNvPicPr>
            <a:picLocks noChangeAspect="1"/>
          </p:cNvPicPr>
          <p:nvPr/>
        </p:nvPicPr>
        <p:blipFill>
          <a:blip r:embed="rId4"/>
          <a:stretch>
            <a:fillRect/>
          </a:stretch>
        </p:blipFill>
        <p:spPr>
          <a:xfrm>
            <a:off x="4708428" y="4296948"/>
            <a:ext cx="385511" cy="385511"/>
          </a:xfrm>
          <a:prstGeom prst="rect">
            <a:avLst/>
          </a:prstGeom>
        </p:spPr>
      </p:pic>
      <p:sp>
        <p:nvSpPr>
          <p:cNvPr id="27" name="Text 20"/>
          <p:cNvSpPr/>
          <p:nvPr/>
        </p:nvSpPr>
        <p:spPr>
          <a:xfrm>
            <a:off x="4617720" y="489204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Richer Analytics</a:t>
            </a:r>
            <a:endParaRPr lang="en-US" sz="1250" dirty="0"/>
          </a:p>
        </p:txBody>
      </p:sp>
      <p:sp>
        <p:nvSpPr>
          <p:cNvPr id="28" name="Text 21"/>
          <p:cNvSpPr/>
          <p:nvPr/>
        </p:nvSpPr>
        <p:spPr>
          <a:xfrm>
            <a:off x="4617720" y="530352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Recurring poor-quality zones, operator comparison and time-of-day patterns.</a:t>
            </a:r>
            <a:endParaRPr lang="en-US" sz="1000" dirty="0"/>
          </a:p>
        </p:txBody>
      </p:sp>
      <p:sp>
        <p:nvSpPr>
          <p:cNvPr id="29" name="Shape 22"/>
          <p:cNvSpPr/>
          <p:nvPr/>
        </p:nvSpPr>
        <p:spPr>
          <a:xfrm>
            <a:off x="8138160" y="3977640"/>
            <a:ext cx="3520440" cy="1965960"/>
          </a:xfrm>
          <a:prstGeom prst="roundRect">
            <a:avLst>
              <a:gd name="adj" fmla="val 3721"/>
            </a:avLst>
          </a:prstGeom>
          <a:solidFill>
            <a:srgbClr val="F4F6FC"/>
          </a:solidFill>
          <a:ln/>
          <a:effectLst>
            <a:outerShdw blurRad="101600" dist="38100" dir="2700000" algn="bl" rotWithShape="0">
              <a:srgbClr val="000000">
                <a:alpha val="12000"/>
              </a:srgbClr>
            </a:outerShdw>
          </a:effectLst>
        </p:spPr>
      </p:sp>
      <p:sp>
        <p:nvSpPr>
          <p:cNvPr id="30" name="Shape 23"/>
          <p:cNvSpPr/>
          <p:nvPr/>
        </p:nvSpPr>
        <p:spPr>
          <a:xfrm>
            <a:off x="8366760" y="4206240"/>
            <a:ext cx="566928" cy="566928"/>
          </a:xfrm>
          <a:prstGeom prst="ellipse">
            <a:avLst/>
          </a:prstGeom>
          <a:solidFill>
            <a:srgbClr val="FFFFFF"/>
          </a:solidFill>
          <a:ln/>
        </p:spPr>
      </p:sp>
      <p:pic>
        <p:nvPicPr>
          <p:cNvPr id="31" name="Image 5" descr="preencoded.png"/>
          <p:cNvPicPr>
            <a:picLocks noChangeAspect="1"/>
          </p:cNvPicPr>
          <p:nvPr/>
        </p:nvPicPr>
        <p:blipFill>
          <a:blip r:embed="rId7"/>
          <a:stretch>
            <a:fillRect/>
          </a:stretch>
        </p:blipFill>
        <p:spPr>
          <a:xfrm>
            <a:off x="8457468" y="4296948"/>
            <a:ext cx="385511" cy="385511"/>
          </a:xfrm>
          <a:prstGeom prst="rect">
            <a:avLst/>
          </a:prstGeom>
        </p:spPr>
      </p:pic>
      <p:sp>
        <p:nvSpPr>
          <p:cNvPr id="32" name="Text 24"/>
          <p:cNvSpPr/>
          <p:nvPr/>
        </p:nvSpPr>
        <p:spPr>
          <a:xfrm>
            <a:off x="8366760" y="4892040"/>
            <a:ext cx="3063240" cy="457200"/>
          </a:xfrm>
          <a:prstGeom prst="rect">
            <a:avLst/>
          </a:prstGeom>
          <a:noFill/>
          <a:ln/>
        </p:spPr>
        <p:txBody>
          <a:bodyPr wrap="square" lIns="0" tIns="0" rIns="0" bIns="0" rtlCol="0" anchor="ctr"/>
          <a:lstStyle/>
          <a:p>
            <a:pPr marL="0" indent="0">
              <a:buNone/>
            </a:pPr>
            <a:r>
              <a:rPr lang="en-US" sz="1250" b="1" dirty="0">
                <a:solidFill>
                  <a:srgbClr val="112141"/>
                </a:solidFill>
                <a:latin typeface="Cambria" pitchFamily="34" charset="0"/>
                <a:ea typeface="Cambria" pitchFamily="34" charset="-122"/>
                <a:cs typeface="Cambria" pitchFamily="34" charset="-120"/>
              </a:rPr>
              <a:t>Production Readiness</a:t>
            </a:r>
            <a:endParaRPr lang="en-US" sz="1250" dirty="0"/>
          </a:p>
        </p:txBody>
      </p:sp>
      <p:sp>
        <p:nvSpPr>
          <p:cNvPr id="33" name="Text 25"/>
          <p:cNvSpPr/>
          <p:nvPr/>
        </p:nvSpPr>
        <p:spPr>
          <a:xfrm>
            <a:off x="8366760" y="5303520"/>
            <a:ext cx="3063240" cy="594360"/>
          </a:xfrm>
          <a:prstGeom prst="rect">
            <a:avLst/>
          </a:prstGeom>
          <a:noFill/>
          <a:ln/>
        </p:spPr>
        <p:txBody>
          <a:bodyPr wrap="square" lIns="0" tIns="0" rIns="0" bIns="0" rtlCol="0" anchor="ctr"/>
          <a:lstStyle/>
          <a:p>
            <a:pPr marL="0" indent="0">
              <a:lnSpc>
                <a:spcPct val="115000"/>
              </a:lnSpc>
              <a:buNone/>
            </a:pPr>
            <a:r>
              <a:rPr lang="en-US" sz="1000" dirty="0">
                <a:solidFill>
                  <a:srgbClr val="6B7794"/>
                </a:solidFill>
                <a:latin typeface="Calibri" pitchFamily="34" charset="0"/>
                <a:ea typeface="Calibri" pitchFamily="34" charset="-122"/>
                <a:cs typeface="Calibri" pitchFamily="34" charset="-120"/>
              </a:rPr>
              <a:t>App-store deployment, a privacy policy, and hardened server configuration.</a:t>
            </a:r>
            <a:endParaRPr lang="en-US" sz="1000" dirty="0"/>
          </a:p>
        </p:txBody>
      </p:sp>
      <p:sp>
        <p:nvSpPr>
          <p:cNvPr id="34" name="Text 2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35" name="Text 27"/>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65760"/>
          </a:xfrm>
          <a:prstGeom prst="rect">
            <a:avLst/>
          </a:prstGeom>
          <a:noFill/>
          <a:ln/>
        </p:spPr>
        <p:txBody>
          <a:bodyPr wrap="square" lIns="0" tIns="0" rIns="0" bIns="0" rtlCol="0" anchor="ctr"/>
          <a:lstStyle/>
          <a:p>
            <a:pPr marL="0" indent="0">
              <a:buNone/>
            </a:pPr>
            <a:r>
              <a:rPr lang="en-US" sz="1250" b="1" kern="0" spc="200" dirty="0">
                <a:solidFill>
                  <a:srgbClr val="5330D5"/>
                </a:solidFill>
                <a:latin typeface="Calibri" pitchFamily="34" charset="0"/>
                <a:ea typeface="Calibri" pitchFamily="34" charset="-122"/>
                <a:cs typeface="Calibri" pitchFamily="34" charset="-120"/>
              </a:rPr>
              <a:t>06 · CONCLUSION &amp; FUTURE WORK</a:t>
            </a:r>
            <a:endParaRPr lang="en-US" sz="1250" dirty="0"/>
          </a:p>
        </p:txBody>
      </p:sp>
      <p:sp>
        <p:nvSpPr>
          <p:cNvPr id="3" name="Text 1"/>
          <p:cNvSpPr/>
          <p:nvPr/>
        </p:nvSpPr>
        <p:spPr>
          <a:xfrm>
            <a:off x="640080" y="685800"/>
            <a:ext cx="10881360" cy="777240"/>
          </a:xfrm>
          <a:prstGeom prst="rect">
            <a:avLst/>
          </a:prstGeom>
          <a:noFill/>
          <a:ln/>
        </p:spPr>
        <p:txBody>
          <a:bodyPr wrap="square" lIns="0" tIns="0" rIns="0" bIns="0" rtlCol="0" anchor="ctr"/>
          <a:lstStyle/>
          <a:p>
            <a:pPr marL="0" indent="0">
              <a:buNone/>
            </a:pPr>
            <a:r>
              <a:rPr lang="en-US" sz="3000" b="1" dirty="0">
                <a:solidFill>
                  <a:srgbClr val="112141"/>
                </a:solidFill>
                <a:latin typeface="Cambria" pitchFamily="34" charset="0"/>
                <a:ea typeface="Cambria" pitchFamily="34" charset="-122"/>
                <a:cs typeface="Cambria" pitchFamily="34" charset="-120"/>
              </a:rPr>
              <a:t>Group 4</a:t>
            </a:r>
            <a:endParaRPr lang="en-US" sz="3000" dirty="0"/>
          </a:p>
        </p:txBody>
      </p:sp>
      <p:sp>
        <p:nvSpPr>
          <p:cNvPr id="4" name="Shape 2"/>
          <p:cNvSpPr/>
          <p:nvPr/>
        </p:nvSpPr>
        <p:spPr>
          <a:xfrm>
            <a:off x="554584" y="1920240"/>
            <a:ext cx="2011680" cy="2651760"/>
          </a:xfrm>
          <a:prstGeom prst="roundRect">
            <a:avLst>
              <a:gd name="adj" fmla="val 3636"/>
            </a:avLst>
          </a:prstGeom>
          <a:solidFill>
            <a:srgbClr val="F4F6FC"/>
          </a:solidFill>
          <a:ln/>
          <a:effectLst>
            <a:outerShdw blurRad="101600" dist="38100" dir="2700000" algn="bl" rotWithShape="0">
              <a:srgbClr val="000000">
                <a:alpha val="12000"/>
              </a:srgbClr>
            </a:outerShdw>
          </a:effectLst>
        </p:spPr>
      </p:sp>
      <p:sp>
        <p:nvSpPr>
          <p:cNvPr id="5" name="Shape 3"/>
          <p:cNvSpPr/>
          <p:nvPr/>
        </p:nvSpPr>
        <p:spPr>
          <a:xfrm>
            <a:off x="1148944" y="2240280"/>
            <a:ext cx="822960" cy="822960"/>
          </a:xfrm>
          <a:prstGeom prst="ellipse">
            <a:avLst/>
          </a:prstGeom>
          <a:solidFill>
            <a:srgbClr val="5330D5"/>
          </a:solidFill>
          <a:ln/>
        </p:spPr>
      </p:sp>
      <p:pic>
        <p:nvPicPr>
          <p:cNvPr id="6" name="Image 0" descr="preencoded.png"/>
          <p:cNvPicPr>
            <a:picLocks noChangeAspect="1"/>
          </p:cNvPicPr>
          <p:nvPr/>
        </p:nvPicPr>
        <p:blipFill>
          <a:blip r:embed="rId3"/>
          <a:stretch>
            <a:fillRect/>
          </a:stretch>
        </p:blipFill>
        <p:spPr>
          <a:xfrm>
            <a:off x="1288847" y="2380183"/>
            <a:ext cx="543154" cy="543154"/>
          </a:xfrm>
          <a:prstGeom prst="rect">
            <a:avLst/>
          </a:prstGeom>
        </p:spPr>
      </p:pic>
      <p:sp>
        <p:nvSpPr>
          <p:cNvPr id="7" name="Text 4"/>
          <p:cNvSpPr/>
          <p:nvPr/>
        </p:nvSpPr>
        <p:spPr>
          <a:xfrm>
            <a:off x="691744" y="3291840"/>
            <a:ext cx="1737360" cy="685800"/>
          </a:xfrm>
          <a:prstGeom prst="rect">
            <a:avLst/>
          </a:prstGeom>
          <a:noFill/>
          <a:ln/>
        </p:spPr>
        <p:txBody>
          <a:bodyPr wrap="square" lIns="0" tIns="0" rIns="0" bIns="0" rtlCol="0" anchor="ctr"/>
          <a:lstStyle/>
          <a:p>
            <a:pPr marL="0" indent="0" algn="ctr">
              <a:lnSpc>
                <a:spcPct val="110000"/>
              </a:lnSpc>
              <a:buNone/>
            </a:pPr>
            <a:r>
              <a:rPr lang="en-US" sz="1200" b="1" dirty="0">
                <a:solidFill>
                  <a:srgbClr val="112141"/>
                </a:solidFill>
                <a:latin typeface="Cambria" pitchFamily="34" charset="0"/>
                <a:ea typeface="Cambria" pitchFamily="34" charset="-122"/>
                <a:cs typeface="Cambria" pitchFamily="34" charset="-120"/>
              </a:rPr>
              <a:t>Ako Junior Ngoh</a:t>
            </a:r>
            <a:endParaRPr lang="en-US" sz="1200" dirty="0"/>
          </a:p>
        </p:txBody>
      </p:sp>
      <p:sp>
        <p:nvSpPr>
          <p:cNvPr id="8" name="Text 5"/>
          <p:cNvSpPr/>
          <p:nvPr/>
        </p:nvSpPr>
        <p:spPr>
          <a:xfrm>
            <a:off x="691744" y="3977640"/>
            <a:ext cx="1737360" cy="320040"/>
          </a:xfrm>
          <a:prstGeom prst="rect">
            <a:avLst/>
          </a:prstGeom>
          <a:noFill/>
          <a:ln/>
        </p:spPr>
        <p:txBody>
          <a:bodyPr wrap="square" lIns="0" tIns="0" rIns="0" bIns="0" rtlCol="0" anchor="ctr"/>
          <a:lstStyle/>
          <a:p>
            <a:pPr marL="0" indent="0" algn="ctr">
              <a:buNone/>
            </a:pPr>
            <a:r>
              <a:rPr lang="en-US" sz="1050" dirty="0">
                <a:solidFill>
                  <a:srgbClr val="6B7794"/>
                </a:solidFill>
                <a:latin typeface="Calibri" pitchFamily="34" charset="0"/>
                <a:ea typeface="Calibri" pitchFamily="34" charset="-122"/>
                <a:cs typeface="Calibri" pitchFamily="34" charset="-120"/>
              </a:rPr>
              <a:t>FE23A008</a:t>
            </a:r>
            <a:endParaRPr lang="en-US" sz="1050" dirty="0"/>
          </a:p>
        </p:txBody>
      </p:sp>
      <p:sp>
        <p:nvSpPr>
          <p:cNvPr id="9" name="Shape 6"/>
          <p:cNvSpPr/>
          <p:nvPr/>
        </p:nvSpPr>
        <p:spPr>
          <a:xfrm>
            <a:off x="2822296" y="1920240"/>
            <a:ext cx="2011680" cy="2651760"/>
          </a:xfrm>
          <a:prstGeom prst="roundRect">
            <a:avLst>
              <a:gd name="adj" fmla="val 3636"/>
            </a:avLst>
          </a:prstGeom>
          <a:solidFill>
            <a:srgbClr val="F4F6FC"/>
          </a:solidFill>
          <a:ln/>
          <a:effectLst>
            <a:outerShdw blurRad="101600" dist="38100" dir="2700000" algn="bl" rotWithShape="0">
              <a:srgbClr val="000000">
                <a:alpha val="12000"/>
              </a:srgbClr>
            </a:outerShdw>
          </a:effectLst>
        </p:spPr>
      </p:sp>
      <p:sp>
        <p:nvSpPr>
          <p:cNvPr id="10" name="Shape 7"/>
          <p:cNvSpPr/>
          <p:nvPr/>
        </p:nvSpPr>
        <p:spPr>
          <a:xfrm>
            <a:off x="3416656" y="2240280"/>
            <a:ext cx="822960" cy="822960"/>
          </a:xfrm>
          <a:prstGeom prst="ellipse">
            <a:avLst/>
          </a:prstGeom>
          <a:solidFill>
            <a:srgbClr val="5330D5"/>
          </a:solidFill>
          <a:ln/>
        </p:spPr>
      </p:sp>
      <p:pic>
        <p:nvPicPr>
          <p:cNvPr id="11" name="Image 1" descr="preencoded.png"/>
          <p:cNvPicPr>
            <a:picLocks noChangeAspect="1"/>
          </p:cNvPicPr>
          <p:nvPr/>
        </p:nvPicPr>
        <p:blipFill>
          <a:blip r:embed="rId3"/>
          <a:stretch>
            <a:fillRect/>
          </a:stretch>
        </p:blipFill>
        <p:spPr>
          <a:xfrm>
            <a:off x="3556559" y="2380183"/>
            <a:ext cx="543154" cy="543154"/>
          </a:xfrm>
          <a:prstGeom prst="rect">
            <a:avLst/>
          </a:prstGeom>
        </p:spPr>
      </p:pic>
      <p:sp>
        <p:nvSpPr>
          <p:cNvPr id="12" name="Text 8"/>
          <p:cNvSpPr/>
          <p:nvPr/>
        </p:nvSpPr>
        <p:spPr>
          <a:xfrm>
            <a:off x="2959456" y="3291840"/>
            <a:ext cx="1737360" cy="685800"/>
          </a:xfrm>
          <a:prstGeom prst="rect">
            <a:avLst/>
          </a:prstGeom>
          <a:noFill/>
          <a:ln/>
        </p:spPr>
        <p:txBody>
          <a:bodyPr wrap="square" lIns="0" tIns="0" rIns="0" bIns="0" rtlCol="0" anchor="ctr"/>
          <a:lstStyle/>
          <a:p>
            <a:pPr marL="0" indent="0" algn="ctr">
              <a:lnSpc>
                <a:spcPct val="110000"/>
              </a:lnSpc>
              <a:buNone/>
            </a:pPr>
            <a:r>
              <a:rPr lang="en-US" sz="1200" b="1" dirty="0">
                <a:solidFill>
                  <a:srgbClr val="112141"/>
                </a:solidFill>
                <a:latin typeface="Cambria" pitchFamily="34" charset="0"/>
                <a:ea typeface="Cambria" pitchFamily="34" charset="-122"/>
                <a:cs typeface="Cambria" pitchFamily="34" charset="-120"/>
              </a:rPr>
              <a:t>Etuma Elkings Bosango</a:t>
            </a:r>
            <a:endParaRPr lang="en-US" sz="1200" dirty="0"/>
          </a:p>
        </p:txBody>
      </p:sp>
      <p:sp>
        <p:nvSpPr>
          <p:cNvPr id="13" name="Text 9"/>
          <p:cNvSpPr/>
          <p:nvPr/>
        </p:nvSpPr>
        <p:spPr>
          <a:xfrm>
            <a:off x="2959456" y="3977640"/>
            <a:ext cx="1737360" cy="320040"/>
          </a:xfrm>
          <a:prstGeom prst="rect">
            <a:avLst/>
          </a:prstGeom>
          <a:noFill/>
          <a:ln/>
        </p:spPr>
        <p:txBody>
          <a:bodyPr wrap="square" lIns="0" tIns="0" rIns="0" bIns="0" rtlCol="0" anchor="ctr"/>
          <a:lstStyle/>
          <a:p>
            <a:pPr marL="0" indent="0" algn="ctr">
              <a:buNone/>
            </a:pPr>
            <a:r>
              <a:rPr lang="en-US" sz="1050" dirty="0">
                <a:solidFill>
                  <a:srgbClr val="6B7794"/>
                </a:solidFill>
                <a:latin typeface="Calibri" pitchFamily="34" charset="0"/>
                <a:ea typeface="Calibri" pitchFamily="34" charset="-122"/>
                <a:cs typeface="Calibri" pitchFamily="34" charset="-120"/>
              </a:rPr>
              <a:t>FE23A053</a:t>
            </a:r>
            <a:endParaRPr lang="en-US" sz="1050" dirty="0"/>
          </a:p>
        </p:txBody>
      </p:sp>
      <p:sp>
        <p:nvSpPr>
          <p:cNvPr id="14" name="Shape 10"/>
          <p:cNvSpPr/>
          <p:nvPr/>
        </p:nvSpPr>
        <p:spPr>
          <a:xfrm>
            <a:off x="5090008" y="1920240"/>
            <a:ext cx="2011680" cy="2651760"/>
          </a:xfrm>
          <a:prstGeom prst="roundRect">
            <a:avLst>
              <a:gd name="adj" fmla="val 3636"/>
            </a:avLst>
          </a:prstGeom>
          <a:solidFill>
            <a:srgbClr val="F4F6FC"/>
          </a:solidFill>
          <a:ln/>
          <a:effectLst>
            <a:outerShdw blurRad="101600" dist="38100" dir="2700000" algn="bl" rotWithShape="0">
              <a:srgbClr val="000000">
                <a:alpha val="12000"/>
              </a:srgbClr>
            </a:outerShdw>
          </a:effectLst>
        </p:spPr>
      </p:sp>
      <p:sp>
        <p:nvSpPr>
          <p:cNvPr id="15" name="Shape 11"/>
          <p:cNvSpPr/>
          <p:nvPr/>
        </p:nvSpPr>
        <p:spPr>
          <a:xfrm>
            <a:off x="5684368" y="2240280"/>
            <a:ext cx="822960" cy="822960"/>
          </a:xfrm>
          <a:prstGeom prst="ellipse">
            <a:avLst/>
          </a:prstGeom>
          <a:solidFill>
            <a:srgbClr val="5330D5"/>
          </a:solidFill>
          <a:ln/>
        </p:spPr>
      </p:sp>
      <p:pic>
        <p:nvPicPr>
          <p:cNvPr id="16" name="Image 2" descr="preencoded.png"/>
          <p:cNvPicPr>
            <a:picLocks noChangeAspect="1"/>
          </p:cNvPicPr>
          <p:nvPr/>
        </p:nvPicPr>
        <p:blipFill>
          <a:blip r:embed="rId3"/>
          <a:stretch>
            <a:fillRect/>
          </a:stretch>
        </p:blipFill>
        <p:spPr>
          <a:xfrm>
            <a:off x="5824271" y="2380183"/>
            <a:ext cx="543154" cy="543154"/>
          </a:xfrm>
          <a:prstGeom prst="rect">
            <a:avLst/>
          </a:prstGeom>
        </p:spPr>
      </p:pic>
      <p:sp>
        <p:nvSpPr>
          <p:cNvPr id="17" name="Text 12"/>
          <p:cNvSpPr/>
          <p:nvPr/>
        </p:nvSpPr>
        <p:spPr>
          <a:xfrm>
            <a:off x="5227168" y="3291840"/>
            <a:ext cx="1737360" cy="685800"/>
          </a:xfrm>
          <a:prstGeom prst="rect">
            <a:avLst/>
          </a:prstGeom>
          <a:noFill/>
          <a:ln/>
        </p:spPr>
        <p:txBody>
          <a:bodyPr wrap="square" lIns="0" tIns="0" rIns="0" bIns="0" rtlCol="0" anchor="ctr"/>
          <a:lstStyle/>
          <a:p>
            <a:pPr marL="0" indent="0" algn="ctr">
              <a:lnSpc>
                <a:spcPct val="110000"/>
              </a:lnSpc>
              <a:buNone/>
            </a:pPr>
            <a:r>
              <a:rPr lang="en-US" sz="1200" b="1" dirty="0">
                <a:solidFill>
                  <a:srgbClr val="112141"/>
                </a:solidFill>
                <a:latin typeface="Cambria" pitchFamily="34" charset="0"/>
                <a:ea typeface="Cambria" pitchFamily="34" charset="-122"/>
                <a:cs typeface="Cambria" pitchFamily="34" charset="-120"/>
              </a:rPr>
              <a:t>Moukam Hako Bellamy Steve</a:t>
            </a:r>
            <a:endParaRPr lang="en-US" sz="1200" dirty="0"/>
          </a:p>
        </p:txBody>
      </p:sp>
      <p:sp>
        <p:nvSpPr>
          <p:cNvPr id="18" name="Text 13"/>
          <p:cNvSpPr/>
          <p:nvPr/>
        </p:nvSpPr>
        <p:spPr>
          <a:xfrm>
            <a:off x="5227168" y="3977640"/>
            <a:ext cx="1737360" cy="320040"/>
          </a:xfrm>
          <a:prstGeom prst="rect">
            <a:avLst/>
          </a:prstGeom>
          <a:noFill/>
          <a:ln/>
        </p:spPr>
        <p:txBody>
          <a:bodyPr wrap="square" lIns="0" tIns="0" rIns="0" bIns="0" rtlCol="0" anchor="ctr"/>
          <a:lstStyle/>
          <a:p>
            <a:pPr marL="0" indent="0" algn="ctr">
              <a:buNone/>
            </a:pPr>
            <a:r>
              <a:rPr lang="en-US" sz="1050" dirty="0">
                <a:solidFill>
                  <a:srgbClr val="6B7794"/>
                </a:solidFill>
                <a:latin typeface="Calibri" pitchFamily="34" charset="0"/>
                <a:ea typeface="Calibri" pitchFamily="34" charset="-122"/>
                <a:cs typeface="Calibri" pitchFamily="34" charset="-120"/>
              </a:rPr>
              <a:t>FE23A096</a:t>
            </a:r>
            <a:endParaRPr lang="en-US" sz="1050" dirty="0"/>
          </a:p>
        </p:txBody>
      </p:sp>
      <p:sp>
        <p:nvSpPr>
          <p:cNvPr id="19" name="Shape 14"/>
          <p:cNvSpPr/>
          <p:nvPr/>
        </p:nvSpPr>
        <p:spPr>
          <a:xfrm>
            <a:off x="7357720" y="1920240"/>
            <a:ext cx="2011680" cy="2651760"/>
          </a:xfrm>
          <a:prstGeom prst="roundRect">
            <a:avLst>
              <a:gd name="adj" fmla="val 3636"/>
            </a:avLst>
          </a:prstGeom>
          <a:solidFill>
            <a:srgbClr val="F4F6FC"/>
          </a:solidFill>
          <a:ln/>
          <a:effectLst>
            <a:outerShdw blurRad="101600" dist="38100" dir="2700000" algn="bl" rotWithShape="0">
              <a:srgbClr val="000000">
                <a:alpha val="12000"/>
              </a:srgbClr>
            </a:outerShdw>
          </a:effectLst>
        </p:spPr>
      </p:sp>
      <p:sp>
        <p:nvSpPr>
          <p:cNvPr id="20" name="Shape 15"/>
          <p:cNvSpPr/>
          <p:nvPr/>
        </p:nvSpPr>
        <p:spPr>
          <a:xfrm>
            <a:off x="7952080" y="2240280"/>
            <a:ext cx="822960" cy="822960"/>
          </a:xfrm>
          <a:prstGeom prst="ellipse">
            <a:avLst/>
          </a:prstGeom>
          <a:solidFill>
            <a:srgbClr val="5330D5"/>
          </a:solidFill>
          <a:ln/>
        </p:spPr>
      </p:sp>
      <p:pic>
        <p:nvPicPr>
          <p:cNvPr id="21" name="Image 3" descr="preencoded.png"/>
          <p:cNvPicPr>
            <a:picLocks noChangeAspect="1"/>
          </p:cNvPicPr>
          <p:nvPr/>
        </p:nvPicPr>
        <p:blipFill>
          <a:blip r:embed="rId3"/>
          <a:stretch>
            <a:fillRect/>
          </a:stretch>
        </p:blipFill>
        <p:spPr>
          <a:xfrm>
            <a:off x="8091983" y="2380183"/>
            <a:ext cx="543154" cy="543154"/>
          </a:xfrm>
          <a:prstGeom prst="rect">
            <a:avLst/>
          </a:prstGeom>
        </p:spPr>
      </p:pic>
      <p:sp>
        <p:nvSpPr>
          <p:cNvPr id="22" name="Text 16"/>
          <p:cNvSpPr/>
          <p:nvPr/>
        </p:nvSpPr>
        <p:spPr>
          <a:xfrm>
            <a:off x="7494880" y="3291840"/>
            <a:ext cx="1737360" cy="685800"/>
          </a:xfrm>
          <a:prstGeom prst="rect">
            <a:avLst/>
          </a:prstGeom>
          <a:noFill/>
          <a:ln/>
        </p:spPr>
        <p:txBody>
          <a:bodyPr wrap="square" lIns="0" tIns="0" rIns="0" bIns="0" rtlCol="0" anchor="ctr"/>
          <a:lstStyle/>
          <a:p>
            <a:pPr marL="0" indent="0" algn="ctr">
              <a:lnSpc>
                <a:spcPct val="110000"/>
              </a:lnSpc>
              <a:buNone/>
            </a:pPr>
            <a:r>
              <a:rPr lang="en-US" sz="1200" b="1" dirty="0">
                <a:solidFill>
                  <a:srgbClr val="112141"/>
                </a:solidFill>
                <a:latin typeface="Cambria" pitchFamily="34" charset="0"/>
                <a:ea typeface="Cambria" pitchFamily="34" charset="-122"/>
                <a:cs typeface="Cambria" pitchFamily="34" charset="-120"/>
              </a:rPr>
              <a:t>Njikang Bright Ndode Ngone</a:t>
            </a:r>
            <a:endParaRPr lang="en-US" sz="1200" dirty="0"/>
          </a:p>
        </p:txBody>
      </p:sp>
      <p:sp>
        <p:nvSpPr>
          <p:cNvPr id="23" name="Text 17"/>
          <p:cNvSpPr/>
          <p:nvPr/>
        </p:nvSpPr>
        <p:spPr>
          <a:xfrm>
            <a:off x="7494880" y="3977640"/>
            <a:ext cx="1737360" cy="320040"/>
          </a:xfrm>
          <a:prstGeom prst="rect">
            <a:avLst/>
          </a:prstGeom>
          <a:noFill/>
          <a:ln/>
        </p:spPr>
        <p:txBody>
          <a:bodyPr wrap="square" lIns="0" tIns="0" rIns="0" bIns="0" rtlCol="0" anchor="ctr"/>
          <a:lstStyle/>
          <a:p>
            <a:pPr marL="0" indent="0" algn="ctr">
              <a:buNone/>
            </a:pPr>
            <a:r>
              <a:rPr lang="en-US" sz="1050" dirty="0">
                <a:solidFill>
                  <a:srgbClr val="6B7794"/>
                </a:solidFill>
                <a:latin typeface="Calibri" pitchFamily="34" charset="0"/>
                <a:ea typeface="Calibri" pitchFamily="34" charset="-122"/>
                <a:cs typeface="Calibri" pitchFamily="34" charset="-120"/>
              </a:rPr>
              <a:t>FE23A115</a:t>
            </a:r>
            <a:endParaRPr lang="en-US" sz="1050" dirty="0"/>
          </a:p>
        </p:txBody>
      </p:sp>
      <p:sp>
        <p:nvSpPr>
          <p:cNvPr id="24" name="Shape 18"/>
          <p:cNvSpPr/>
          <p:nvPr/>
        </p:nvSpPr>
        <p:spPr>
          <a:xfrm>
            <a:off x="9625432" y="1920240"/>
            <a:ext cx="2011680" cy="2651760"/>
          </a:xfrm>
          <a:prstGeom prst="roundRect">
            <a:avLst>
              <a:gd name="adj" fmla="val 3636"/>
            </a:avLst>
          </a:prstGeom>
          <a:solidFill>
            <a:srgbClr val="F4F6FC"/>
          </a:solidFill>
          <a:ln/>
          <a:effectLst>
            <a:outerShdw blurRad="101600" dist="38100" dir="2700000" algn="bl" rotWithShape="0">
              <a:srgbClr val="000000">
                <a:alpha val="12000"/>
              </a:srgbClr>
            </a:outerShdw>
          </a:effectLst>
        </p:spPr>
      </p:sp>
      <p:sp>
        <p:nvSpPr>
          <p:cNvPr id="25" name="Shape 19"/>
          <p:cNvSpPr/>
          <p:nvPr/>
        </p:nvSpPr>
        <p:spPr>
          <a:xfrm>
            <a:off x="10219792" y="2240280"/>
            <a:ext cx="822960" cy="822960"/>
          </a:xfrm>
          <a:prstGeom prst="ellipse">
            <a:avLst/>
          </a:prstGeom>
          <a:solidFill>
            <a:srgbClr val="5330D5"/>
          </a:solidFill>
          <a:ln/>
        </p:spPr>
      </p:sp>
      <p:pic>
        <p:nvPicPr>
          <p:cNvPr id="26" name="Image 4" descr="preencoded.png"/>
          <p:cNvPicPr>
            <a:picLocks noChangeAspect="1"/>
          </p:cNvPicPr>
          <p:nvPr/>
        </p:nvPicPr>
        <p:blipFill>
          <a:blip r:embed="rId3"/>
          <a:stretch>
            <a:fillRect/>
          </a:stretch>
        </p:blipFill>
        <p:spPr>
          <a:xfrm>
            <a:off x="10359695" y="2380183"/>
            <a:ext cx="543154" cy="543154"/>
          </a:xfrm>
          <a:prstGeom prst="rect">
            <a:avLst/>
          </a:prstGeom>
        </p:spPr>
      </p:pic>
      <p:sp>
        <p:nvSpPr>
          <p:cNvPr id="27" name="Text 20"/>
          <p:cNvSpPr/>
          <p:nvPr/>
        </p:nvSpPr>
        <p:spPr>
          <a:xfrm>
            <a:off x="9762592" y="3291840"/>
            <a:ext cx="1737360" cy="685800"/>
          </a:xfrm>
          <a:prstGeom prst="rect">
            <a:avLst/>
          </a:prstGeom>
          <a:noFill/>
          <a:ln/>
        </p:spPr>
        <p:txBody>
          <a:bodyPr wrap="square" lIns="0" tIns="0" rIns="0" bIns="0" rtlCol="0" anchor="ctr"/>
          <a:lstStyle/>
          <a:p>
            <a:pPr marL="0" indent="0" algn="ctr">
              <a:lnSpc>
                <a:spcPct val="110000"/>
              </a:lnSpc>
              <a:buNone/>
            </a:pPr>
            <a:r>
              <a:rPr lang="en-US" sz="1200" b="1" dirty="0">
                <a:solidFill>
                  <a:srgbClr val="112141"/>
                </a:solidFill>
                <a:latin typeface="Cambria" pitchFamily="34" charset="0"/>
                <a:ea typeface="Cambria" pitchFamily="34" charset="-122"/>
                <a:cs typeface="Cambria" pitchFamily="34" charset="-120"/>
              </a:rPr>
              <a:t>Ringnyuy Mbunwe Giyoh Lemuel</a:t>
            </a:r>
            <a:endParaRPr lang="en-US" sz="1200" dirty="0"/>
          </a:p>
        </p:txBody>
      </p:sp>
      <p:sp>
        <p:nvSpPr>
          <p:cNvPr id="28" name="Text 21"/>
          <p:cNvSpPr/>
          <p:nvPr/>
        </p:nvSpPr>
        <p:spPr>
          <a:xfrm>
            <a:off x="9762592" y="3977640"/>
            <a:ext cx="1737360" cy="320040"/>
          </a:xfrm>
          <a:prstGeom prst="rect">
            <a:avLst/>
          </a:prstGeom>
          <a:noFill/>
          <a:ln/>
        </p:spPr>
        <p:txBody>
          <a:bodyPr wrap="square" lIns="0" tIns="0" rIns="0" bIns="0" rtlCol="0" anchor="ctr"/>
          <a:lstStyle/>
          <a:p>
            <a:pPr marL="0" indent="0" algn="ctr">
              <a:buNone/>
            </a:pPr>
            <a:r>
              <a:rPr lang="en-US" sz="1050" dirty="0">
                <a:solidFill>
                  <a:srgbClr val="6B7794"/>
                </a:solidFill>
                <a:latin typeface="Calibri" pitchFamily="34" charset="0"/>
                <a:ea typeface="Calibri" pitchFamily="34" charset="-122"/>
                <a:cs typeface="Calibri" pitchFamily="34" charset="-120"/>
              </a:rPr>
              <a:t>FE23A136</a:t>
            </a:r>
            <a:endParaRPr lang="en-US" sz="1050" dirty="0"/>
          </a:p>
        </p:txBody>
      </p:sp>
      <p:sp>
        <p:nvSpPr>
          <p:cNvPr id="29" name="Text 22"/>
          <p:cNvSpPr/>
          <p:nvPr/>
        </p:nvSpPr>
        <p:spPr>
          <a:xfrm>
            <a:off x="640080" y="5120640"/>
            <a:ext cx="10881360" cy="365760"/>
          </a:xfrm>
          <a:prstGeom prst="rect">
            <a:avLst/>
          </a:prstGeom>
          <a:noFill/>
          <a:ln/>
        </p:spPr>
        <p:txBody>
          <a:bodyPr wrap="square" lIns="0" tIns="0" rIns="0" bIns="0" rtlCol="0" anchor="ctr"/>
          <a:lstStyle/>
          <a:p>
            <a:pPr marL="0" indent="0" algn="ctr">
              <a:buNone/>
            </a:pPr>
            <a:r>
              <a:rPr lang="en-US" sz="1200" i="1" dirty="0">
                <a:solidFill>
                  <a:srgbClr val="6B7794"/>
                </a:solidFill>
                <a:latin typeface="Calibri" pitchFamily="34" charset="0"/>
                <a:ea typeface="Calibri" pitchFamily="34" charset="-122"/>
                <a:cs typeface="Calibri" pitchFamily="34" charset="-120"/>
              </a:rPr>
              <a:t>Course Instructor: Dr. Engr. Nkemeni Valery  ·  CEF440 Programming and Mobile Programming</a:t>
            </a:r>
            <a:endParaRPr lang="en-US" sz="1200" dirty="0"/>
          </a:p>
        </p:txBody>
      </p:sp>
      <p:sp>
        <p:nvSpPr>
          <p:cNvPr id="30" name="Text 2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6B7794"/>
                </a:solidFill>
                <a:latin typeface="Calibri" pitchFamily="34" charset="0"/>
                <a:ea typeface="Calibri" pitchFamily="34" charset="-122"/>
                <a:cs typeface="Calibri" pitchFamily="34" charset="-120"/>
              </a:rPr>
              <a:t>SpeeDT · CEF440 Task 7</a:t>
            </a:r>
            <a:endParaRPr lang="en-US" sz="900" dirty="0"/>
          </a:p>
        </p:txBody>
      </p:sp>
      <p:sp>
        <p:nvSpPr>
          <p:cNvPr id="31" name="Text 24"/>
          <p:cNvSpPr/>
          <p:nvPr/>
        </p:nvSpPr>
        <p:spPr>
          <a:xfrm>
            <a:off x="11277295" y="6473952"/>
            <a:ext cx="457200" cy="274320"/>
          </a:xfrm>
          <a:prstGeom prst="rect">
            <a:avLst/>
          </a:prstGeom>
          <a:noFill/>
          <a:ln/>
        </p:spPr>
        <p:txBody>
          <a:bodyPr wrap="square" lIns="0" tIns="0" rIns="0" bIns="0" rtlCol="0" anchor="ctr"/>
          <a:lstStyle/>
          <a:p>
            <a:pPr marL="0" indent="0" algn="r">
              <a:buNone/>
            </a:pPr>
            <a:r>
              <a:rPr lang="en-US" sz="900" dirty="0">
                <a:solidFill>
                  <a:srgbClr val="6B779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535167" y="1690116"/>
              <a:ext cx="1438656" cy="1438655"/>
            </a:xfrm>
            <a:prstGeom prst="rect">
              <a:avLst/>
            </a:prstGeom>
          </p:spPr>
        </p:pic>
      </p:grpSp>
      <p:sp>
        <p:nvSpPr>
          <p:cNvPr id="7" name="object 7" descr="$PPTXTitle"/>
          <p:cNvSpPr txBox="1">
            <a:spLocks noGrp="1"/>
          </p:cNvSpPr>
          <p:nvPr>
            <p:ph type="title"/>
          </p:nvPr>
        </p:nvSpPr>
        <p:spPr>
          <a:xfrm>
            <a:off x="4776342" y="2966084"/>
            <a:ext cx="2635250" cy="756920"/>
          </a:xfrm>
          <a:prstGeom prst="rect">
            <a:avLst/>
          </a:prstGeom>
        </p:spPr>
        <p:txBody>
          <a:bodyPr vert="horz" wrap="square" lIns="0" tIns="12700" rIns="0" bIns="0" rtlCol="0">
            <a:spAutoFit/>
          </a:bodyPr>
          <a:lstStyle/>
          <a:p>
            <a:pPr marL="12700">
              <a:lnSpc>
                <a:spcPct val="100000"/>
              </a:lnSpc>
              <a:spcBef>
                <a:spcPts val="100"/>
              </a:spcBef>
            </a:pPr>
            <a:r>
              <a:rPr sz="4800" dirty="0"/>
              <a:t>Thank</a:t>
            </a:r>
            <a:r>
              <a:rPr sz="4800" spc="-5" dirty="0"/>
              <a:t> </a:t>
            </a:r>
            <a:r>
              <a:rPr sz="4800" spc="-120" dirty="0"/>
              <a:t>You</a:t>
            </a:r>
            <a:endParaRPr sz="4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4" name="object 4"/>
            <p:cNvPicPr/>
            <p:nvPr/>
          </p:nvPicPr>
          <p:blipFill>
            <a:blip r:embed="rId3" cstate="print"/>
            <a:stretch>
              <a:fillRect/>
            </a:stretch>
          </p:blipFill>
          <p:spPr>
            <a:xfrm>
              <a:off x="5535167" y="1690116"/>
              <a:ext cx="1438656" cy="1438655"/>
            </a:xfrm>
            <a:prstGeom prst="rect">
              <a:avLst/>
            </a:prstGeom>
          </p:spPr>
        </p:pic>
        <p:sp>
          <p:nvSpPr>
            <p:cNvPr id="5" name="object 5"/>
            <p:cNvSpPr/>
            <p:nvPr/>
          </p:nvSpPr>
          <p:spPr>
            <a:xfrm>
              <a:off x="5628513" y="1783460"/>
              <a:ext cx="1188720" cy="1188720"/>
            </a:xfrm>
            <a:custGeom>
              <a:avLst/>
              <a:gdLst/>
              <a:ahLst/>
              <a:cxnLst/>
              <a:rect l="l" t="t" r="r" b="b"/>
              <a:pathLst>
                <a:path w="1188720" h="1188720">
                  <a:moveTo>
                    <a:pt x="594360" y="0"/>
                  </a:moveTo>
                  <a:lnTo>
                    <a:pt x="545607" y="1970"/>
                  </a:lnTo>
                  <a:lnTo>
                    <a:pt x="497942" y="7781"/>
                  </a:lnTo>
                  <a:lnTo>
                    <a:pt x="451515" y="17278"/>
                  </a:lnTo>
                  <a:lnTo>
                    <a:pt x="406481" y="30309"/>
                  </a:lnTo>
                  <a:lnTo>
                    <a:pt x="362991" y="46720"/>
                  </a:lnTo>
                  <a:lnTo>
                    <a:pt x="321200" y="66358"/>
                  </a:lnTo>
                  <a:lnTo>
                    <a:pt x="281259" y="89069"/>
                  </a:lnTo>
                  <a:lnTo>
                    <a:pt x="243321" y="114702"/>
                  </a:lnTo>
                  <a:lnTo>
                    <a:pt x="207540" y="143102"/>
                  </a:lnTo>
                  <a:lnTo>
                    <a:pt x="174069" y="174116"/>
                  </a:lnTo>
                  <a:lnTo>
                    <a:pt x="143060" y="207592"/>
                  </a:lnTo>
                  <a:lnTo>
                    <a:pt x="114665" y="243376"/>
                  </a:lnTo>
                  <a:lnTo>
                    <a:pt x="89039" y="281315"/>
                  </a:lnTo>
                  <a:lnTo>
                    <a:pt x="66334" y="321256"/>
                  </a:lnTo>
                  <a:lnTo>
                    <a:pt x="46702" y="363045"/>
                  </a:lnTo>
                  <a:lnTo>
                    <a:pt x="30297" y="406530"/>
                  </a:lnTo>
                  <a:lnTo>
                    <a:pt x="17271" y="451557"/>
                  </a:lnTo>
                  <a:lnTo>
                    <a:pt x="7778" y="497973"/>
                  </a:lnTo>
                  <a:lnTo>
                    <a:pt x="1970" y="545625"/>
                  </a:lnTo>
                  <a:lnTo>
                    <a:pt x="0" y="594360"/>
                  </a:lnTo>
                  <a:lnTo>
                    <a:pt x="1970" y="643112"/>
                  </a:lnTo>
                  <a:lnTo>
                    <a:pt x="7778" y="690777"/>
                  </a:lnTo>
                  <a:lnTo>
                    <a:pt x="17271" y="737204"/>
                  </a:lnTo>
                  <a:lnTo>
                    <a:pt x="30297" y="782238"/>
                  </a:lnTo>
                  <a:lnTo>
                    <a:pt x="46702" y="825728"/>
                  </a:lnTo>
                  <a:lnTo>
                    <a:pt x="66334" y="867519"/>
                  </a:lnTo>
                  <a:lnTo>
                    <a:pt x="89039" y="907460"/>
                  </a:lnTo>
                  <a:lnTo>
                    <a:pt x="114665" y="945398"/>
                  </a:lnTo>
                  <a:lnTo>
                    <a:pt x="143060" y="981179"/>
                  </a:lnTo>
                  <a:lnTo>
                    <a:pt x="174069" y="1014650"/>
                  </a:lnTo>
                  <a:lnTo>
                    <a:pt x="207540" y="1045659"/>
                  </a:lnTo>
                  <a:lnTo>
                    <a:pt x="243321" y="1074054"/>
                  </a:lnTo>
                  <a:lnTo>
                    <a:pt x="281259" y="1099680"/>
                  </a:lnTo>
                  <a:lnTo>
                    <a:pt x="321200" y="1122385"/>
                  </a:lnTo>
                  <a:lnTo>
                    <a:pt x="362991" y="1142017"/>
                  </a:lnTo>
                  <a:lnTo>
                    <a:pt x="406481" y="1158422"/>
                  </a:lnTo>
                  <a:lnTo>
                    <a:pt x="451515" y="1171448"/>
                  </a:lnTo>
                  <a:lnTo>
                    <a:pt x="497942" y="1180941"/>
                  </a:lnTo>
                  <a:lnTo>
                    <a:pt x="545607" y="1186749"/>
                  </a:lnTo>
                  <a:lnTo>
                    <a:pt x="594360" y="1188719"/>
                  </a:lnTo>
                  <a:lnTo>
                    <a:pt x="643112" y="1186749"/>
                  </a:lnTo>
                  <a:lnTo>
                    <a:pt x="690777" y="1180941"/>
                  </a:lnTo>
                  <a:lnTo>
                    <a:pt x="737204" y="1171448"/>
                  </a:lnTo>
                  <a:lnTo>
                    <a:pt x="782238" y="1158422"/>
                  </a:lnTo>
                  <a:lnTo>
                    <a:pt x="825728" y="1142017"/>
                  </a:lnTo>
                  <a:lnTo>
                    <a:pt x="867519" y="1122385"/>
                  </a:lnTo>
                  <a:lnTo>
                    <a:pt x="907460" y="1099680"/>
                  </a:lnTo>
                  <a:lnTo>
                    <a:pt x="945398" y="1074054"/>
                  </a:lnTo>
                  <a:lnTo>
                    <a:pt x="981179" y="1045659"/>
                  </a:lnTo>
                  <a:lnTo>
                    <a:pt x="1014650" y="1014650"/>
                  </a:lnTo>
                  <a:lnTo>
                    <a:pt x="1045659" y="981179"/>
                  </a:lnTo>
                  <a:lnTo>
                    <a:pt x="1074054" y="945398"/>
                  </a:lnTo>
                  <a:lnTo>
                    <a:pt x="1099680" y="907460"/>
                  </a:lnTo>
                  <a:lnTo>
                    <a:pt x="1122385" y="867519"/>
                  </a:lnTo>
                  <a:lnTo>
                    <a:pt x="1142017" y="825728"/>
                  </a:lnTo>
                  <a:lnTo>
                    <a:pt x="1158422" y="782238"/>
                  </a:lnTo>
                  <a:lnTo>
                    <a:pt x="1171448" y="737204"/>
                  </a:lnTo>
                  <a:lnTo>
                    <a:pt x="1180941" y="690777"/>
                  </a:lnTo>
                  <a:lnTo>
                    <a:pt x="1186749" y="643112"/>
                  </a:lnTo>
                  <a:lnTo>
                    <a:pt x="1188719" y="594360"/>
                  </a:lnTo>
                  <a:lnTo>
                    <a:pt x="1186749" y="545625"/>
                  </a:lnTo>
                  <a:lnTo>
                    <a:pt x="1180941" y="497973"/>
                  </a:lnTo>
                  <a:lnTo>
                    <a:pt x="1171448" y="451557"/>
                  </a:lnTo>
                  <a:lnTo>
                    <a:pt x="1158422" y="406530"/>
                  </a:lnTo>
                  <a:lnTo>
                    <a:pt x="1142017" y="363045"/>
                  </a:lnTo>
                  <a:lnTo>
                    <a:pt x="1122385" y="321256"/>
                  </a:lnTo>
                  <a:lnTo>
                    <a:pt x="1099680" y="281315"/>
                  </a:lnTo>
                  <a:lnTo>
                    <a:pt x="1074054" y="243376"/>
                  </a:lnTo>
                  <a:lnTo>
                    <a:pt x="1045659" y="207592"/>
                  </a:lnTo>
                  <a:lnTo>
                    <a:pt x="1014650" y="174116"/>
                  </a:lnTo>
                  <a:lnTo>
                    <a:pt x="981179" y="143102"/>
                  </a:lnTo>
                  <a:lnTo>
                    <a:pt x="945398" y="114702"/>
                  </a:lnTo>
                  <a:lnTo>
                    <a:pt x="907460" y="89069"/>
                  </a:lnTo>
                  <a:lnTo>
                    <a:pt x="867519" y="66358"/>
                  </a:lnTo>
                  <a:lnTo>
                    <a:pt x="825728" y="46720"/>
                  </a:lnTo>
                  <a:lnTo>
                    <a:pt x="782238" y="30309"/>
                  </a:lnTo>
                  <a:lnTo>
                    <a:pt x="737204" y="17278"/>
                  </a:lnTo>
                  <a:lnTo>
                    <a:pt x="690777" y="7781"/>
                  </a:lnTo>
                  <a:lnTo>
                    <a:pt x="643112" y="1970"/>
                  </a:lnTo>
                  <a:lnTo>
                    <a:pt x="594360" y="0"/>
                  </a:lnTo>
                  <a:close/>
                </a:path>
              </a:pathLst>
            </a:custGeom>
            <a:solidFill>
              <a:srgbClr val="2462EB"/>
            </a:solidFill>
          </p:spPr>
          <p:txBody>
            <a:bodyPr wrap="square" lIns="0" tIns="0" rIns="0" bIns="0" rtlCol="0"/>
            <a:lstStyle/>
            <a:p>
              <a:endParaRPr/>
            </a:p>
          </p:txBody>
        </p:sp>
        <p:pic>
          <p:nvPicPr>
            <p:cNvPr id="6" name="object 6"/>
            <p:cNvPicPr/>
            <p:nvPr/>
          </p:nvPicPr>
          <p:blipFill>
            <a:blip r:embed="rId4" cstate="print"/>
            <a:stretch>
              <a:fillRect/>
            </a:stretch>
          </p:blipFill>
          <p:spPr>
            <a:xfrm>
              <a:off x="5999133" y="2103247"/>
              <a:ext cx="452092" cy="512063"/>
            </a:xfrm>
            <a:prstGeom prst="rect">
              <a:avLst/>
            </a:prstGeom>
          </p:spPr>
        </p:pic>
      </p:grpSp>
      <p:sp>
        <p:nvSpPr>
          <p:cNvPr id="7" name="object 7" descr="$PPTXTitle"/>
          <p:cNvSpPr txBox="1">
            <a:spLocks noGrp="1"/>
          </p:cNvSpPr>
          <p:nvPr>
            <p:ph type="title"/>
          </p:nvPr>
        </p:nvSpPr>
        <p:spPr>
          <a:xfrm>
            <a:off x="4776342" y="2966084"/>
            <a:ext cx="2635250" cy="756920"/>
          </a:xfrm>
          <a:prstGeom prst="rect">
            <a:avLst/>
          </a:prstGeom>
        </p:spPr>
        <p:txBody>
          <a:bodyPr vert="horz" wrap="square" lIns="0" tIns="12700" rIns="0" bIns="0" rtlCol="0">
            <a:spAutoFit/>
          </a:bodyPr>
          <a:lstStyle/>
          <a:p>
            <a:pPr marL="12700">
              <a:lnSpc>
                <a:spcPct val="100000"/>
              </a:lnSpc>
              <a:spcBef>
                <a:spcPts val="100"/>
              </a:spcBef>
            </a:pPr>
            <a:r>
              <a:rPr sz="4800" dirty="0"/>
              <a:t>Thank</a:t>
            </a:r>
            <a:r>
              <a:rPr sz="4800" spc="-5" dirty="0"/>
              <a:t> </a:t>
            </a:r>
            <a:r>
              <a:rPr sz="4800" spc="-120" dirty="0"/>
              <a:t>You</a:t>
            </a:r>
            <a:endParaRPr sz="4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1626</Words>
  <Application>Microsoft Office PowerPoint</Application>
  <PresentationFormat>Widescreen</PresentationFormat>
  <Paragraphs>275</Paragraphs>
  <Slides>24</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Cambria</vt:lpstr>
      <vt:lpstr>Courier New</vt:lpstr>
      <vt:lpstr>Office Theme</vt:lpstr>
      <vt:lpstr>SpeeDT</vt:lpstr>
      <vt:lpstr>PowerPoint Presentation</vt:lpstr>
      <vt:lpstr>01</vt:lpstr>
      <vt:lpstr>PowerPoint Presentation</vt:lpstr>
      <vt:lpstr>PowerPoint Presentation</vt:lpstr>
      <vt:lpstr>02</vt:lpstr>
      <vt:lpstr>PowerPoint Presentation</vt:lpstr>
      <vt:lpstr>PowerPoint Presentation</vt:lpstr>
      <vt:lpstr>03</vt:lpstr>
      <vt:lpstr>PowerPoint Presentation</vt:lpstr>
      <vt:lpstr>PowerPoint Presentation</vt:lpstr>
      <vt:lpstr>PowerPoint Presentation</vt:lpstr>
      <vt:lpstr>04</vt:lpstr>
      <vt:lpstr>PowerPoint Presentation</vt:lpstr>
      <vt:lpstr>PowerPoint Presentation</vt:lpstr>
      <vt:lpstr>PowerPoint Presentation</vt:lpstr>
      <vt:lpstr>PowerPoint Presentation</vt:lpstr>
      <vt:lpstr>h</vt:lpstr>
      <vt:lpstr>PowerPoint Presentation</vt:lpstr>
      <vt:lpstr>h</vt:lpstr>
      <vt:lpstr>PowerPoint Presentation</vt:lpstr>
      <vt:lpstr>PowerPoint Presentation</vt:lpstr>
      <vt:lpstr>Thank You</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SpeeDT - Final Project Presentation</dc:title>
  <dc:subject>PptxGenJS Presentation</dc:subject>
  <dc:creator>Group 4 - CEF440</dc:creator>
  <cp:lastModifiedBy>Moukam hk</cp:lastModifiedBy>
  <cp:revision>2</cp:revision>
  <dcterms:created xsi:type="dcterms:W3CDTF">2026-07-04T07:20:22Z</dcterms:created>
  <dcterms:modified xsi:type="dcterms:W3CDTF">2026-07-04T13:36:57Z</dcterms:modified>
</cp:coreProperties>
</file>