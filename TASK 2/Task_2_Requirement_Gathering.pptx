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5" d="100"/>
          <a:sy n="65" d="100"/>
        </p:scale>
        <p:origin x="-56" y="-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164592" cy="5120640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52649"/>
                </a:solidFill>
                <a:latin typeface="Arial"/>
              </a:rPr>
              <a:t>Task 2: Requirement Gathering</a:t>
            </a:r>
          </a:p>
          <a:p>
            <a:r>
              <a:rPr sz="2000" dirty="0">
                <a:solidFill>
                  <a:srgbClr val="232323"/>
                </a:solidFill>
                <a:latin typeface="Arial"/>
              </a:rPr>
              <a:t>Design and Implementation of a Mobile App for Collection of User Experience Data from Mobile Network Subscribers</a:t>
            </a:r>
          </a:p>
          <a:p>
            <a:r>
              <a:rPr sz="1300" dirty="0">
                <a:solidFill>
                  <a:srgbClr val="667085"/>
                </a:solidFill>
                <a:latin typeface="Arial"/>
              </a:rPr>
              <a:t>CEF440 Internet Programming and Mobile Programming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480560"/>
            <a:ext cx="182880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52649"/>
                </a:solidFill>
                <a:latin typeface="Arial"/>
              </a:rPr>
              <a:t>Stakeholder
identification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4480560"/>
            <a:ext cx="182880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52649"/>
                </a:solidFill>
                <a:latin typeface="Arial"/>
              </a:rPr>
              <a:t>Techniques
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4480560"/>
            <a:ext cx="182880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52649"/>
                </a:solidFill>
                <a:latin typeface="Arial"/>
              </a:rPr>
              <a:t>Data
gathering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4480560"/>
            <a:ext cx="182880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52649"/>
                </a:solidFill>
                <a:latin typeface="Arial"/>
              </a:rPr>
              <a:t>Data
cleaning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4480560"/>
            <a:ext cx="182880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52649"/>
                </a:solidFill>
                <a:latin typeface="Arial"/>
              </a:rPr>
              <a:t>User reluctance
assessment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42823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085"/>
                </a:solidFill>
                <a:latin typeface="Arial"/>
              </a:rPr>
              <a:t>Presenter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54753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152649"/>
                </a:solidFill>
                <a:latin typeface="Arial"/>
              </a:rPr>
              <a:t>Why </a:t>
            </a:r>
            <a:r>
              <a:rPr lang="en-US" sz="2600" b="1" dirty="0" smtClean="0">
                <a:solidFill>
                  <a:srgbClr val="152649"/>
                </a:solidFill>
                <a:latin typeface="Arial"/>
              </a:rPr>
              <a:t>Requirement gathering is critical for our project</a:t>
            </a:r>
            <a:endParaRPr sz="2600" b="1" dirty="0">
              <a:solidFill>
                <a:srgbClr val="152649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8473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200" dirty="0">
              <a:solidFill>
                <a:srgbClr val="667085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400800" cy="255454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rPr dirty="0"/>
              <a:t>Understand who the app is for and what each stakeholder needs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rPr dirty="0"/>
              <a:t>Collect real network experience data from mobile subscribers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rPr dirty="0"/>
              <a:t>Identify feature expectations, data-sharing limits, and trust issues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rPr dirty="0"/>
              <a:t>Prepare clean input for </a:t>
            </a:r>
            <a:r>
              <a:rPr dirty="0" smtClean="0"/>
              <a:t> requirement </a:t>
            </a:r>
            <a:r>
              <a:rPr dirty="0"/>
              <a:t>analysis and SRS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645920"/>
            <a:ext cx="3749039" cy="1051560"/>
          </a:xfrm>
          <a:prstGeom prst="roundRect">
            <a:avLst/>
          </a:prstGeom>
          <a:solidFill>
            <a:srgbClr val="E8F3FF"/>
          </a:solidFill>
          <a:ln>
            <a:solidFill>
              <a:srgbClr val="E8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52649"/>
                </a:solidFill>
                <a:latin typeface="Arial"/>
              </a:rPr>
              <a:t>Survey responses</a:t>
            </a:r>
          </a:p>
          <a:p>
            <a:pPr algn="ctr"/>
            <a:r>
              <a:rPr sz="1600">
                <a:solidFill>
                  <a:srgbClr val="232323"/>
                </a:solidFill>
                <a:latin typeface="Arial"/>
              </a:rPr>
              <a:t>93 valid form submissions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926080"/>
            <a:ext cx="3749039" cy="1051560"/>
          </a:xfrm>
          <a:prstGeom prst="roundRect">
            <a:avLst/>
          </a:prstGeom>
          <a:solidFill>
            <a:srgbClr val="EFF8F0"/>
          </a:solidFill>
          <a:ln>
            <a:solidFill>
              <a:srgbClr val="EF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52649"/>
                </a:solidFill>
                <a:latin typeface="Arial"/>
              </a:rPr>
              <a:t>Main output</a:t>
            </a:r>
          </a:p>
          <a:p>
            <a:pPr algn="ctr"/>
            <a:r>
              <a:rPr sz="1600">
                <a:solidFill>
                  <a:srgbClr val="232323"/>
                </a:solidFill>
                <a:latin typeface="Arial"/>
              </a:rPr>
              <a:t>Usable requirements for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4206240"/>
            <a:ext cx="3749039" cy="1051560"/>
          </a:xfrm>
          <a:prstGeom prst="roundRect">
            <a:avLst/>
          </a:prstGeom>
          <a:solidFill>
            <a:srgbClr val="F8F1E8"/>
          </a:solidFill>
          <a:ln>
            <a:solidFill>
              <a:srgbClr val="F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152649"/>
                </a:solidFill>
                <a:latin typeface="Arial"/>
              </a:rPr>
              <a:t>Next step</a:t>
            </a:r>
          </a:p>
          <a:p>
            <a:pPr algn="ctr"/>
            <a:r>
              <a:rPr lang="en-US" sz="1600" dirty="0" smtClean="0">
                <a:solidFill>
                  <a:srgbClr val="232323"/>
                </a:solidFill>
                <a:latin typeface="Arial"/>
              </a:rPr>
              <a:t>A</a:t>
            </a:r>
            <a:r>
              <a:rPr sz="1600" dirty="0" smtClean="0">
                <a:solidFill>
                  <a:srgbClr val="232323"/>
                </a:solidFill>
                <a:latin typeface="Arial"/>
              </a:rPr>
              <a:t>naly</a:t>
            </a:r>
            <a:r>
              <a:rPr lang="en-US" sz="1600" dirty="0" smtClean="0">
                <a:solidFill>
                  <a:srgbClr val="232323"/>
                </a:solidFill>
                <a:latin typeface="Arial"/>
              </a:rPr>
              <a:t>z</a:t>
            </a:r>
            <a:r>
              <a:rPr sz="1600" dirty="0" smtClean="0">
                <a:solidFill>
                  <a:srgbClr val="232323"/>
                </a:solidFill>
                <a:latin typeface="Arial"/>
              </a:rPr>
              <a:t>e and</a:t>
            </a:r>
            <a:r>
              <a:rPr lang="en-US" sz="1600" dirty="0" smtClean="0">
                <a:solidFill>
                  <a:srgbClr val="232323"/>
                </a:solidFill>
                <a:latin typeface="Arial"/>
              </a:rPr>
              <a:t> formally document gatherings using use case diagrams </a:t>
            </a:r>
            <a:r>
              <a:rPr sz="1600" dirty="0" smtClean="0">
                <a:solidFill>
                  <a:srgbClr val="232323"/>
                </a:solidFill>
                <a:latin typeface="Arial"/>
              </a:rPr>
              <a:t> </a:t>
            </a:r>
            <a:endParaRPr sz="1600" dirty="0">
              <a:solidFill>
                <a:srgbClr val="232323"/>
              </a:solidFill>
              <a:latin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085"/>
                </a:solidFill>
                <a:latin typeface="Arial"/>
              </a:rPr>
              <a:t>Presenter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52649"/>
                </a:solidFill>
                <a:latin typeface="Arial"/>
              </a:rPr>
              <a:t>Stakeholder identification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303520" cy="640080"/>
          </a:xfrm>
          <a:prstGeom prst="roundRect">
            <a:avLst/>
          </a:prstGeom>
          <a:solidFill>
            <a:srgbClr val="E8F3FF"/>
          </a:solidFill>
          <a:ln>
            <a:solidFill>
              <a:srgbClr val="E8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52649"/>
                </a:solidFill>
                <a:latin typeface="Arial"/>
              </a:rPr>
              <a:t>Primary stakeholders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188720"/>
            <a:ext cx="5303520" cy="640080"/>
          </a:xfrm>
          <a:prstGeom prst="roundRect">
            <a:avLst/>
          </a:prstGeom>
          <a:solidFill>
            <a:srgbClr val="EFF8F0"/>
          </a:solidFill>
          <a:ln>
            <a:solidFill>
              <a:srgbClr val="EF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52649"/>
                </a:solidFill>
                <a:latin typeface="Arial"/>
              </a:rPr>
              <a:t>Secondary stakeholders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493776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152649"/>
                </a:solidFill>
                <a:latin typeface="Arial"/>
              </a:rPr>
              <a:t>Subscribers</a:t>
            </a:r>
          </a:p>
          <a:p>
            <a:pPr algn="ctr"/>
            <a:r>
              <a:rPr sz="1400">
                <a:solidFill>
                  <a:srgbClr val="232323"/>
                </a:solidFill>
                <a:latin typeface="Arial"/>
              </a:rPr>
              <a:t>Provide QoE feedback
and usage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91840"/>
            <a:ext cx="493776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152649"/>
                </a:solidFill>
                <a:latin typeface="Arial"/>
              </a:rPr>
              <a:t>App admin</a:t>
            </a:r>
          </a:p>
          <a:p>
            <a:pPr algn="ctr"/>
            <a:r>
              <a:rPr sz="1400">
                <a:solidFill>
                  <a:srgbClr val="232323"/>
                </a:solidFill>
                <a:latin typeface="Arial"/>
              </a:rPr>
              <a:t>Manages records,
permissions and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572000"/>
            <a:ext cx="493776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152649"/>
                </a:solidFill>
                <a:latin typeface="Arial"/>
              </a:rPr>
              <a:t>Telecom operators</a:t>
            </a:r>
          </a:p>
          <a:p>
            <a:pPr algn="ctr"/>
            <a:r>
              <a:rPr sz="1400">
                <a:solidFill>
                  <a:srgbClr val="232323"/>
                </a:solidFill>
                <a:latin typeface="Arial"/>
              </a:rPr>
              <a:t>Use collected insight
for optimisation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493776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152649"/>
                </a:solidFill>
                <a:latin typeface="Arial"/>
              </a:rPr>
              <a:t>Network analysts</a:t>
            </a:r>
          </a:p>
          <a:p>
            <a:pPr algn="ctr"/>
            <a:r>
              <a:rPr sz="1400">
                <a:solidFill>
                  <a:srgbClr val="232323"/>
                </a:solidFill>
                <a:latin typeface="Arial"/>
              </a:rPr>
              <a:t>Interpret patterns
and problem areas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291840"/>
            <a:ext cx="493776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152649"/>
                </a:solidFill>
                <a:latin typeface="Arial"/>
              </a:rPr>
              <a:t>Lecturer / assessors</a:t>
            </a:r>
          </a:p>
          <a:p>
            <a:pPr algn="ctr"/>
            <a:r>
              <a:rPr sz="1400">
                <a:solidFill>
                  <a:srgbClr val="232323"/>
                </a:solidFill>
                <a:latin typeface="Arial"/>
              </a:rPr>
              <a:t>Evaluate project method
and deliverables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572000"/>
            <a:ext cx="493776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152649"/>
                </a:solidFill>
                <a:latin typeface="Arial"/>
              </a:rPr>
              <a:t>Regulators / researchers</a:t>
            </a:r>
          </a:p>
          <a:p>
            <a:pPr algn="ctr"/>
            <a:r>
              <a:rPr sz="1400">
                <a:solidFill>
                  <a:srgbClr val="232323"/>
                </a:solidFill>
                <a:latin typeface="Arial"/>
              </a:rPr>
              <a:t>Potential long-term users
of aggregated insights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085"/>
                </a:solidFill>
                <a:latin typeface="Arial"/>
              </a:rPr>
              <a:t>Presenter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52649"/>
                </a:solidFill>
                <a:latin typeface="Arial"/>
              </a:rPr>
              <a:t>Requirement gathering techniques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3200400" cy="182880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52649"/>
                </a:solidFill>
                <a:latin typeface="Arial"/>
              </a:rPr>
              <a:t>Survey questionnaire</a:t>
            </a:r>
          </a:p>
          <a:p>
            <a:pPr algn="ctr"/>
            <a:r>
              <a:rPr sz="1600">
                <a:solidFill>
                  <a:srgbClr val="232323"/>
                </a:solidFill>
                <a:latin typeface="Arial"/>
              </a:rPr>
              <a:t>Main technique
Used to reach many subscribers quickly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828800"/>
            <a:ext cx="3200400" cy="182880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52649"/>
                </a:solidFill>
                <a:latin typeface="Arial"/>
              </a:rPr>
              <a:t>Group brainstorming</a:t>
            </a:r>
          </a:p>
          <a:p>
            <a:pPr algn="ctr"/>
            <a:r>
              <a:rPr sz="1600">
                <a:solidFill>
                  <a:srgbClr val="232323"/>
                </a:solidFill>
                <a:latin typeface="Arial"/>
              </a:rPr>
              <a:t>Helped refine questions,
features and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828800"/>
            <a:ext cx="3200400" cy="182880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52649"/>
                </a:solidFill>
                <a:latin typeface="Arial"/>
              </a:rPr>
              <a:t>Review of similar apps</a:t>
            </a:r>
          </a:p>
          <a:p>
            <a:pPr algn="ctr"/>
            <a:r>
              <a:rPr sz="1600">
                <a:solidFill>
                  <a:srgbClr val="232323"/>
                </a:solidFill>
                <a:latin typeface="Arial"/>
              </a:rPr>
              <a:t>Guided what data,
alerts and reports to ask for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4297680"/>
            <a:ext cx="8046720" cy="1143000"/>
          </a:xfrm>
          <a:prstGeom prst="roundRect">
            <a:avLst/>
          </a:prstGeom>
          <a:solidFill>
            <a:srgbClr val="E8F3FF"/>
          </a:solidFill>
          <a:ln>
            <a:solidFill>
              <a:srgbClr val="E8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152649"/>
                </a:solidFill>
                <a:latin typeface="Arial"/>
              </a:rPr>
              <a:t>Primary method in this phase: Google Forms survey</a:t>
            </a:r>
          </a:p>
          <a:p>
            <a:pPr algn="ctr"/>
            <a:r>
              <a:rPr sz="1600">
                <a:solidFill>
                  <a:srgbClr val="232323"/>
                </a:solidFill>
                <a:latin typeface="Arial"/>
              </a:rPr>
              <a:t>Structured questions + exportable CSV for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42823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085"/>
                </a:solidFill>
                <a:latin typeface="Arial"/>
              </a:rPr>
              <a:t>Presenter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52649"/>
                </a:solidFill>
                <a:latin typeface="Arial"/>
              </a:rPr>
              <a:t>Data gathering process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377440" cy="219456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152649"/>
                </a:solidFill>
                <a:latin typeface="Arial"/>
              </a:rPr>
              <a:t>1</a:t>
            </a:r>
          </a:p>
          <a:p>
            <a:pPr algn="ctr"/>
            <a:r>
              <a:rPr sz="1500">
                <a:solidFill>
                  <a:srgbClr val="232323"/>
                </a:solidFill>
                <a:latin typeface="Arial"/>
              </a:rPr>
              <a:t>Design survey
Questions on usage,
network issues,
concerns and features</a:t>
            </a:r>
          </a:p>
        </p:txBody>
      </p:sp>
      <p:sp>
        <p:nvSpPr>
          <p:cNvPr id="4" name="Chevron 3"/>
          <p:cNvSpPr/>
          <p:nvPr/>
        </p:nvSpPr>
        <p:spPr>
          <a:xfrm>
            <a:off x="3218688" y="2514600"/>
            <a:ext cx="457200" cy="457200"/>
          </a:xfrm>
          <a:prstGeom prst="chevron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566160" y="1828800"/>
            <a:ext cx="2377440" cy="219456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152649"/>
                </a:solidFill>
                <a:latin typeface="Arial"/>
              </a:rPr>
              <a:t>2</a:t>
            </a:r>
          </a:p>
          <a:p>
            <a:pPr algn="ctr"/>
            <a:r>
              <a:rPr sz="1500">
                <a:solidFill>
                  <a:srgbClr val="232323"/>
                </a:solidFill>
                <a:latin typeface="Arial"/>
              </a:rPr>
              <a:t>Distribute form
Shared with mobile
network subscribers</a:t>
            </a:r>
          </a:p>
        </p:txBody>
      </p:sp>
      <p:sp>
        <p:nvSpPr>
          <p:cNvPr id="6" name="Chevron 5"/>
          <p:cNvSpPr/>
          <p:nvPr/>
        </p:nvSpPr>
        <p:spPr>
          <a:xfrm>
            <a:off x="6053328" y="2514600"/>
            <a:ext cx="457200" cy="457200"/>
          </a:xfrm>
          <a:prstGeom prst="chevron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2377440" cy="219456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152649"/>
                </a:solidFill>
                <a:latin typeface="Arial"/>
              </a:rPr>
              <a:t>3</a:t>
            </a:r>
          </a:p>
          <a:p>
            <a:pPr algn="ctr"/>
            <a:r>
              <a:rPr sz="1500">
                <a:solidFill>
                  <a:srgbClr val="232323"/>
                </a:solidFill>
                <a:latin typeface="Arial"/>
              </a:rPr>
              <a:t>Collect responses
93 responses captured
through Google Forms</a:t>
            </a:r>
          </a:p>
        </p:txBody>
      </p:sp>
      <p:sp>
        <p:nvSpPr>
          <p:cNvPr id="8" name="Chevron 7"/>
          <p:cNvSpPr/>
          <p:nvPr/>
        </p:nvSpPr>
        <p:spPr>
          <a:xfrm>
            <a:off x="8887968" y="2514600"/>
            <a:ext cx="457200" cy="457200"/>
          </a:xfrm>
          <a:prstGeom prst="chevron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235440" y="1828800"/>
            <a:ext cx="2377440" cy="219456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152649"/>
                </a:solidFill>
                <a:latin typeface="Arial"/>
              </a:rPr>
              <a:t>4</a:t>
            </a:r>
          </a:p>
          <a:p>
            <a:pPr algn="ctr"/>
            <a:r>
              <a:rPr sz="1500">
                <a:solidFill>
                  <a:srgbClr val="232323"/>
                </a:solidFill>
                <a:latin typeface="Arial"/>
              </a:rPr>
              <a:t>Export dataset
Responses exported as CSV
for cleaning and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4754880"/>
            <a:ext cx="6217920" cy="822960"/>
          </a:xfrm>
          <a:prstGeom prst="roundRect">
            <a:avLst/>
          </a:prstGeom>
          <a:solidFill>
            <a:srgbClr val="EFF8F0"/>
          </a:solidFill>
          <a:ln>
            <a:solidFill>
              <a:srgbClr val="EF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52649"/>
                </a:solidFill>
                <a:latin typeface="Arial"/>
              </a:rPr>
              <a:t>Question areas: profile, usage, network experience, sharing, preferences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085"/>
                </a:solidFill>
                <a:latin typeface="Arial"/>
              </a:rPr>
              <a:t>Presenter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468314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152649"/>
                </a:solidFill>
                <a:latin typeface="Arial"/>
              </a:rPr>
              <a:t>Survey </a:t>
            </a:r>
            <a:r>
              <a:rPr lang="en-US" sz="2600" b="1" dirty="0" smtClean="0">
                <a:solidFill>
                  <a:srgbClr val="152649"/>
                </a:solidFill>
                <a:latin typeface="Arial"/>
              </a:rPr>
              <a:t>Review and Analysis</a:t>
            </a:r>
            <a:endParaRPr sz="2600" b="1" dirty="0">
              <a:solidFill>
                <a:srgbClr val="152649"/>
              </a:solidFill>
              <a:latin typeface="Arial"/>
            </a:endParaRPr>
          </a:p>
        </p:txBody>
      </p:sp>
      <p:pic>
        <p:nvPicPr>
          <p:cNvPr id="3" name="Picture 2" descr="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3499434" cy="2194560"/>
          </a:xfrm>
          <a:prstGeom prst="rect">
            <a:avLst/>
          </a:prstGeom>
        </p:spPr>
      </p:pic>
      <p:pic>
        <p:nvPicPr>
          <p:cNvPr id="4" name="Picture 3" descr="oper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71600"/>
            <a:ext cx="3499434" cy="2194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" y="4114800"/>
            <a:ext cx="3383280" cy="1005840"/>
          </a:xfrm>
          <a:prstGeom prst="roundRect">
            <a:avLst/>
          </a:prstGeom>
          <a:solidFill>
            <a:srgbClr val="F8F1E8"/>
          </a:solidFill>
          <a:ln>
            <a:solidFill>
              <a:srgbClr val="F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152649"/>
                </a:solidFill>
                <a:latin typeface="Arial"/>
              </a:rPr>
              <a:t>Occupation</a:t>
            </a:r>
          </a:p>
          <a:p>
            <a:pPr algn="ctr"/>
            <a:r>
              <a:rPr sz="1500">
                <a:solidFill>
                  <a:srgbClr val="232323"/>
                </a:solidFill>
                <a:latin typeface="Arial"/>
              </a:rPr>
              <a:t>81 of 93 respondents were students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114800"/>
            <a:ext cx="3383280" cy="1005840"/>
          </a:xfrm>
          <a:prstGeom prst="roundRect">
            <a:avLst/>
          </a:prstGeom>
          <a:solidFill>
            <a:srgbClr val="E8F3FF"/>
          </a:solidFill>
          <a:ln>
            <a:solidFill>
              <a:srgbClr val="E8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152649"/>
                </a:solidFill>
                <a:latin typeface="Arial"/>
              </a:rPr>
              <a:t>Operating system</a:t>
            </a:r>
          </a:p>
          <a:p>
            <a:pPr algn="ctr"/>
            <a:r>
              <a:rPr sz="1500">
                <a:solidFill>
                  <a:srgbClr val="232323"/>
                </a:solidFill>
                <a:latin typeface="Arial"/>
              </a:rPr>
              <a:t>51 Android, 42 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4114800"/>
            <a:ext cx="3383280" cy="1005840"/>
          </a:xfrm>
          <a:prstGeom prst="roundRect">
            <a:avLst/>
          </a:prstGeom>
          <a:solidFill>
            <a:srgbClr val="EFF8F0"/>
          </a:solidFill>
          <a:ln>
            <a:solidFill>
              <a:srgbClr val="EF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152649"/>
                </a:solidFill>
                <a:latin typeface="Arial"/>
              </a:rPr>
              <a:t>Usage intensity</a:t>
            </a:r>
          </a:p>
          <a:p>
            <a:pPr algn="ctr"/>
            <a:r>
              <a:rPr sz="1500">
                <a:solidFill>
                  <a:srgbClr val="232323"/>
                </a:solidFill>
                <a:latin typeface="Arial"/>
              </a:rPr>
              <a:t>90 respondents use mobile internet frequently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085"/>
                </a:solidFill>
                <a:latin typeface="Arial"/>
              </a:rPr>
              <a:t>Presenter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52649"/>
                </a:solidFill>
                <a:latin typeface="Arial"/>
              </a:rPr>
              <a:t>What users reported</a:t>
            </a:r>
          </a:p>
        </p:txBody>
      </p:sp>
      <p:pic>
        <p:nvPicPr>
          <p:cNvPr id="3" name="Picture 2" descr="issue_fr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3791053" cy="2377440"/>
          </a:xfrm>
          <a:prstGeom prst="rect">
            <a:avLst/>
          </a:prstGeom>
        </p:spPr>
      </p:pic>
      <p:pic>
        <p:nvPicPr>
          <p:cNvPr id="4" name="Picture 3" descr="proble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4180468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" y="4297680"/>
            <a:ext cx="10698480" cy="914400"/>
          </a:xfrm>
          <a:prstGeom prst="roundRect">
            <a:avLst/>
          </a:prstGeom>
          <a:solidFill>
            <a:srgbClr val="F8F1E8"/>
          </a:solidFill>
          <a:ln>
            <a:solidFill>
              <a:srgbClr val="F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52649"/>
                </a:solidFill>
                <a:latin typeface="Arial"/>
              </a:rPr>
              <a:t>Main takeaway</a:t>
            </a:r>
          </a:p>
          <a:p>
            <a:pPr algn="ctr"/>
            <a:r>
              <a:rPr sz="1500">
                <a:solidFill>
                  <a:srgbClr val="232323"/>
                </a:solidFill>
                <a:latin typeface="Arial"/>
              </a:rPr>
              <a:t>Network problems are common; slow internet speed and poor signal strength dominate the user experience.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085"/>
                </a:solidFill>
                <a:latin typeface="Arial"/>
              </a:rPr>
              <a:t>Presenter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52649"/>
                </a:solidFill>
                <a:latin typeface="Arial"/>
              </a:rPr>
              <a:t>Data cleaning carried 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2377440" cy="201168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52649"/>
                </a:solidFill>
                <a:latin typeface="Arial"/>
              </a:rPr>
              <a:t>Inspect export</a:t>
            </a:r>
          </a:p>
          <a:p>
            <a:pPr algn="ctr"/>
            <a:r>
              <a:rPr sz="1400">
                <a:solidFill>
                  <a:srgbClr val="232323"/>
                </a:solidFill>
                <a:latin typeface="Arial"/>
              </a:rPr>
              <a:t>Checked columns,
missing responses
and inconsistent labels</a:t>
            </a:r>
          </a:p>
        </p:txBody>
      </p:sp>
      <p:sp>
        <p:nvSpPr>
          <p:cNvPr id="4" name="Chevron 3"/>
          <p:cNvSpPr/>
          <p:nvPr/>
        </p:nvSpPr>
        <p:spPr>
          <a:xfrm>
            <a:off x="3218688" y="2651760"/>
            <a:ext cx="457200" cy="457200"/>
          </a:xfrm>
          <a:prstGeom prst="chevron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566160" y="1920240"/>
            <a:ext cx="2377440" cy="201168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52649"/>
                </a:solidFill>
                <a:latin typeface="Arial"/>
              </a:rPr>
              <a:t>Tidy structure</a:t>
            </a:r>
          </a:p>
          <a:p>
            <a:pPr algn="ctr"/>
            <a:r>
              <a:rPr sz="1400">
                <a:solidFill>
                  <a:srgbClr val="232323"/>
                </a:solidFill>
                <a:latin typeface="Arial"/>
              </a:rPr>
              <a:t>Renamed stray column,
removed irrelevant spacing,
reviewed blanks</a:t>
            </a:r>
          </a:p>
        </p:txBody>
      </p:sp>
      <p:sp>
        <p:nvSpPr>
          <p:cNvPr id="6" name="Chevron 5"/>
          <p:cNvSpPr/>
          <p:nvPr/>
        </p:nvSpPr>
        <p:spPr>
          <a:xfrm>
            <a:off x="6053328" y="2651760"/>
            <a:ext cx="457200" cy="457200"/>
          </a:xfrm>
          <a:prstGeom prst="chevron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2377440" cy="201168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52649"/>
                </a:solidFill>
                <a:latin typeface="Arial"/>
              </a:rPr>
              <a:t>Prepare analysis</a:t>
            </a:r>
          </a:p>
          <a:p>
            <a:pPr algn="ctr"/>
            <a:r>
              <a:rPr sz="1400">
                <a:solidFill>
                  <a:srgbClr val="232323"/>
                </a:solidFill>
                <a:latin typeface="Arial"/>
              </a:rPr>
              <a:t>Split multi-select answers
into countable categories</a:t>
            </a:r>
          </a:p>
        </p:txBody>
      </p:sp>
      <p:sp>
        <p:nvSpPr>
          <p:cNvPr id="8" name="Chevron 7"/>
          <p:cNvSpPr/>
          <p:nvPr/>
        </p:nvSpPr>
        <p:spPr>
          <a:xfrm>
            <a:off x="8887968" y="2651760"/>
            <a:ext cx="457200" cy="457200"/>
          </a:xfrm>
          <a:prstGeom prst="chevron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235440" y="1920240"/>
            <a:ext cx="2377440" cy="201168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52649"/>
                </a:solidFill>
                <a:latin typeface="Arial"/>
              </a:rPr>
              <a:t>Summarise output</a:t>
            </a:r>
          </a:p>
          <a:p>
            <a:pPr algn="ctr"/>
            <a:r>
              <a:rPr sz="1400">
                <a:solidFill>
                  <a:srgbClr val="232323"/>
                </a:solidFill>
                <a:latin typeface="Arial"/>
              </a:rPr>
              <a:t>Converted raw responses
into charts and key findings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617720"/>
            <a:ext cx="10058400" cy="914400"/>
          </a:xfrm>
          <a:prstGeom prst="roundRect">
            <a:avLst/>
          </a:prstGeom>
          <a:solidFill>
            <a:srgbClr val="E8F3FF"/>
          </a:solidFill>
          <a:ln>
            <a:solidFill>
              <a:srgbClr val="E8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 dirty="0">
                <a:solidFill>
                  <a:srgbClr val="152649"/>
                </a:solidFill>
                <a:latin typeface="Arial"/>
              </a:rPr>
              <a:t>Examples from the dataset</a:t>
            </a:r>
          </a:p>
          <a:p>
            <a:pPr algn="ctr"/>
            <a:r>
              <a:rPr sz="1500" dirty="0">
                <a:solidFill>
                  <a:srgbClr val="232323"/>
                </a:solidFill>
                <a:latin typeface="Arial"/>
              </a:rPr>
              <a:t>Unnamed gender </a:t>
            </a:r>
            <a:r>
              <a:rPr sz="1500" dirty="0" smtClean="0">
                <a:solidFill>
                  <a:srgbClr val="232323"/>
                </a:solidFill>
                <a:latin typeface="Arial"/>
              </a:rPr>
              <a:t>column,</a:t>
            </a:r>
            <a:r>
              <a:rPr lang="en-US" sz="1500" dirty="0" smtClean="0">
                <a:solidFill>
                  <a:srgbClr val="232323"/>
                </a:solidFill>
                <a:latin typeface="Arial"/>
              </a:rPr>
              <a:t> </a:t>
            </a:r>
            <a:r>
              <a:rPr sz="1500" dirty="0" smtClean="0">
                <a:solidFill>
                  <a:srgbClr val="232323"/>
                </a:solidFill>
                <a:latin typeface="Arial"/>
              </a:rPr>
              <a:t>mixed </a:t>
            </a:r>
            <a:r>
              <a:rPr sz="1500" dirty="0">
                <a:solidFill>
                  <a:srgbClr val="232323"/>
                </a:solidFill>
                <a:latin typeface="Arial"/>
              </a:rPr>
              <a:t>response formats needed cleanup before interpretation.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085"/>
                </a:solidFill>
                <a:latin typeface="Arial"/>
              </a:rPr>
              <a:t>Presenter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52649"/>
                </a:solidFill>
                <a:latin typeface="Arial"/>
              </a:rPr>
              <a:t>User reluctance assessment</a:t>
            </a:r>
          </a:p>
        </p:txBody>
      </p:sp>
      <p:pic>
        <p:nvPicPr>
          <p:cNvPr id="3" name="Picture 2" descr="conc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4479073" cy="2743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0" y="1554480"/>
            <a:ext cx="3840480" cy="960120"/>
          </a:xfrm>
          <a:prstGeom prst="roundRect">
            <a:avLst/>
          </a:prstGeom>
          <a:solidFill>
            <a:srgbClr val="E8F3FF"/>
          </a:solidFill>
          <a:ln>
            <a:solidFill>
              <a:srgbClr val="E8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52649"/>
                </a:solidFill>
                <a:latin typeface="Arial"/>
              </a:rPr>
              <a:t>Automatic data collection</a:t>
            </a:r>
          </a:p>
          <a:p>
            <a:pPr algn="ctr"/>
            <a:r>
              <a:rPr sz="1500">
                <a:solidFill>
                  <a:srgbClr val="232323"/>
                </a:solidFill>
                <a:latin typeface="Arial"/>
              </a:rPr>
              <a:t>27 yes • 60 maybe • 6 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2743200"/>
            <a:ext cx="3840480" cy="960120"/>
          </a:xfrm>
          <a:prstGeom prst="roundRect">
            <a:avLst/>
          </a:prstGeom>
          <a:solidFill>
            <a:srgbClr val="EFF8F0"/>
          </a:solidFill>
          <a:ln>
            <a:solidFill>
              <a:srgbClr val="EF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52649"/>
                </a:solidFill>
                <a:latin typeface="Arial"/>
              </a:rPr>
              <a:t>Periodic notifications</a:t>
            </a:r>
          </a:p>
          <a:p>
            <a:pPr algn="ctr"/>
            <a:r>
              <a:rPr sz="1500">
                <a:solidFill>
                  <a:srgbClr val="232323"/>
                </a:solidFill>
                <a:latin typeface="Arial"/>
              </a:rPr>
              <a:t>39 yes • 43 maybe • 11 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3931920"/>
            <a:ext cx="3840480" cy="960120"/>
          </a:xfrm>
          <a:prstGeom prst="roundRect">
            <a:avLst/>
          </a:prstGeom>
          <a:solidFill>
            <a:srgbClr val="F8F1E8"/>
          </a:solidFill>
          <a:ln>
            <a:solidFill>
              <a:srgbClr val="F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52649"/>
                </a:solidFill>
                <a:latin typeface="Arial"/>
              </a:rPr>
              <a:t>Location sharing*</a:t>
            </a:r>
          </a:p>
          <a:p>
            <a:pPr algn="ctr"/>
            <a:r>
              <a:rPr sz="1500">
                <a:solidFill>
                  <a:srgbClr val="232323"/>
                </a:solidFill>
                <a:latin typeface="Arial"/>
              </a:rPr>
              <a:t>19 yes • 16 maybe • 18 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502920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  <a:latin typeface="Arial"/>
              </a:rPr>
              <a:t>*53 respondents answered this question.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085"/>
                </a:solidFill>
                <a:latin typeface="Arial"/>
              </a:rPr>
              <a:t>Presenter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320040"/>
            <a:ext cx="524534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600" b="1" dirty="0" smtClean="0">
                <a:solidFill>
                  <a:srgbClr val="152649"/>
                </a:solidFill>
                <a:latin typeface="Arial"/>
              </a:rPr>
              <a:t> Conclusion and final judgment </a:t>
            </a:r>
            <a:endParaRPr sz="2600" b="1" dirty="0">
              <a:solidFill>
                <a:srgbClr val="152649"/>
              </a:solidFill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4846320" cy="137160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152649"/>
                </a:solidFill>
                <a:latin typeface="Arial"/>
              </a:rPr>
              <a:t>Transparent permissions</a:t>
            </a:r>
          </a:p>
          <a:p>
            <a:pPr algn="ctr"/>
            <a:r>
              <a:rPr sz="1500" dirty="0">
                <a:solidFill>
                  <a:srgbClr val="232323"/>
                </a:solidFill>
                <a:latin typeface="Arial"/>
              </a:rPr>
              <a:t>Users want clear control over data collection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4846320" cy="137160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52649"/>
                </a:solidFill>
                <a:latin typeface="Arial"/>
              </a:rPr>
              <a:t>Low-friction feedback</a:t>
            </a:r>
          </a:p>
          <a:p>
            <a:pPr algn="ctr"/>
            <a:r>
              <a:rPr sz="1500">
                <a:solidFill>
                  <a:srgbClr val="232323"/>
                </a:solidFill>
                <a:latin typeface="Arial"/>
              </a:rPr>
              <a:t>Prompts should be limited and preferably issue-based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474720"/>
            <a:ext cx="4846320" cy="137160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52649"/>
                </a:solidFill>
                <a:latin typeface="Arial"/>
              </a:rPr>
              <a:t>Useful user value</a:t>
            </a:r>
          </a:p>
          <a:p>
            <a:pPr algn="ctr"/>
            <a:r>
              <a:rPr sz="1500">
                <a:solidFill>
                  <a:srgbClr val="232323"/>
                </a:solidFill>
                <a:latin typeface="Arial"/>
              </a:rPr>
              <a:t>Reports, alerts and live performance views matter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474720"/>
            <a:ext cx="4846320" cy="137160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000" b="1" dirty="0" smtClean="0">
                <a:solidFill>
                  <a:srgbClr val="152649"/>
                </a:solidFill>
                <a:latin typeface="Arial"/>
              </a:rPr>
              <a:t>What does this means for our subsequent task?</a:t>
            </a:r>
            <a:endParaRPr sz="2000" b="1" dirty="0">
              <a:solidFill>
                <a:srgbClr val="152649"/>
              </a:solidFill>
              <a:latin typeface="Arial"/>
            </a:endParaRPr>
          </a:p>
          <a:p>
            <a:pPr algn="ctr"/>
            <a:r>
              <a:rPr sz="1500" dirty="0">
                <a:solidFill>
                  <a:srgbClr val="232323"/>
                </a:solidFill>
                <a:latin typeface="Arial"/>
              </a:rPr>
              <a:t>Requirements can now be </a:t>
            </a:r>
            <a:r>
              <a:rPr sz="1500" dirty="0" err="1">
                <a:solidFill>
                  <a:srgbClr val="232323"/>
                </a:solidFill>
                <a:latin typeface="Arial"/>
              </a:rPr>
              <a:t>analysed</a:t>
            </a:r>
            <a:r>
              <a:rPr sz="1500" dirty="0">
                <a:solidFill>
                  <a:srgbClr val="232323"/>
                </a:solidFill>
                <a:latin typeface="Arial"/>
              </a:rPr>
              <a:t>, </a:t>
            </a:r>
            <a:r>
              <a:rPr sz="1500" dirty="0" smtClean="0">
                <a:solidFill>
                  <a:srgbClr val="232323"/>
                </a:solidFill>
                <a:latin typeface="Arial"/>
              </a:rPr>
              <a:t>classified</a:t>
            </a:r>
            <a:r>
              <a:rPr lang="en-US" sz="1500" dirty="0" smtClean="0">
                <a:solidFill>
                  <a:srgbClr val="232323"/>
                </a:solidFill>
                <a:latin typeface="Arial"/>
              </a:rPr>
              <a:t>, </a:t>
            </a:r>
            <a:r>
              <a:rPr sz="1500" dirty="0" err="1" smtClean="0">
                <a:solidFill>
                  <a:srgbClr val="232323"/>
                </a:solidFill>
                <a:latin typeface="Arial"/>
              </a:rPr>
              <a:t>prioritised</a:t>
            </a:r>
            <a:r>
              <a:rPr lang="en-US" sz="1500" dirty="0" smtClean="0">
                <a:solidFill>
                  <a:srgbClr val="232323"/>
                </a:solidFill>
                <a:latin typeface="Arial"/>
              </a:rPr>
              <a:t> </a:t>
            </a:r>
            <a:r>
              <a:rPr lang="en-US" sz="1500" smtClean="0">
                <a:solidFill>
                  <a:srgbClr val="232323"/>
                </a:solidFill>
                <a:latin typeface="Arial"/>
              </a:rPr>
              <a:t>and documented</a:t>
            </a:r>
            <a:endParaRPr sz="1500" dirty="0">
              <a:solidFill>
                <a:srgbClr val="232323"/>
              </a:solidFill>
              <a:latin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085"/>
                </a:solidFill>
                <a:latin typeface="Arial"/>
              </a:rPr>
              <a:t>Presenter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422</Words>
  <Application>Microsoft Office PowerPoint</Application>
  <PresentationFormat>Custom</PresentationFormat>
  <Paragraphs>111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Etuma Elkings</dc:creator>
  <dc:description>generated using python-pptx</dc:description>
  <cp:lastModifiedBy>user</cp:lastModifiedBy>
  <cp:revision>5</cp:revision>
  <dcterms:created xsi:type="dcterms:W3CDTF">2013-01-27T09:14:16Z</dcterms:created>
  <dcterms:modified xsi:type="dcterms:W3CDTF">2026-04-27T22:11:53Z</dcterms:modified>
</cp:coreProperties>
</file>