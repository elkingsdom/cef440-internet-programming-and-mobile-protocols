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6" r:id="rId6"/>
    <p:sldId id="267" r:id="rId7"/>
    <p:sldId id="268" r:id="rId8"/>
    <p:sldId id="269" r:id="rId9"/>
    <p:sldId id="260" r:id="rId10"/>
    <p:sldId id="261" r:id="rId11"/>
    <p:sldId id="262" r:id="rId12"/>
    <p:sldId id="263" r:id="rId13"/>
    <p:sldId id="270" r:id="rId14"/>
    <p:sldId id="264" r:id="rId15"/>
    <p:sldId id="271" r:id="rId16"/>
    <p:sldId id="272" r:id="rId17"/>
    <p:sldId id="265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78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Subscribers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B5A-462C-9D54-A56AA378104A}"/>
              </c:ext>
            </c:extLst>
          </c:dPt>
          <c:dPt>
            <c:idx val="1"/>
            <c:invertIfNegative val="0"/>
            <c:bubble3D val="0"/>
            <c:spPr>
              <a:solidFill>
                <a:srgbClr val="12B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B5A-462C-9D54-A56AA378104A}"/>
              </c:ext>
            </c:extLst>
          </c:dPt>
          <c:dPt>
            <c:idx val="2"/>
            <c:invertIfNegative val="0"/>
            <c:bubble3D val="0"/>
            <c:spPr>
              <a:solidFill>
                <a:srgbClr val="63CF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B5A-462C-9D54-A56AA378104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MTN</c:v>
                </c:pt>
                <c:pt idx="1">
                  <c:v>Orange</c:v>
                </c:pt>
                <c:pt idx="2">
                  <c:v>CAMTEL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83.9</c:v>
                </c:pt>
                <c:pt idx="1">
                  <c:v>9.6999999999999993</c:v>
                </c:pt>
                <c:pt idx="2">
                  <c:v>6.5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5A-462C-9D54-A56AA378104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7E2-47AA-ABE1-6B649EB4A910}"/>
              </c:ext>
            </c:extLst>
          </c:dPt>
          <c:dPt>
            <c:idx val="1"/>
            <c:bubble3D val="0"/>
            <c:spPr>
              <a:solidFill>
                <a:srgbClr val="0D21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7E2-47AA-ABE1-6B649EB4A91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07E2-47AA-ABE1-6B649EB4A91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22222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07E2-47AA-ABE1-6B649EB4A91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Android</c:v>
                </c:pt>
                <c:pt idx="1">
                  <c:v>iOS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54.8</c:v>
                </c:pt>
                <c:pt idx="1">
                  <c:v>45.2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7E2-47AA-ABE1-6B649EB4A91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12B5A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2EC-46D4-A5BE-9D0B9AB0A2A9}"/>
              </c:ext>
            </c:extLst>
          </c:dPt>
          <c:dPt>
            <c:idx val="1"/>
            <c:invertIfNegative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2EC-46D4-A5BE-9D0B9AB0A2A9}"/>
              </c:ext>
            </c:extLst>
          </c:dPt>
          <c:dPt>
            <c:idx val="2"/>
            <c:invertIfNegative val="0"/>
            <c:bubble3D val="0"/>
            <c:spPr>
              <a:solidFill>
                <a:srgbClr val="63CF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2EC-46D4-A5BE-9D0B9AB0A2A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4G</c:v>
                </c:pt>
                <c:pt idx="1">
                  <c:v>3G</c:v>
                </c:pt>
                <c:pt idx="2">
                  <c:v>2G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73.099999999999994</c:v>
                </c:pt>
                <c:pt idx="1">
                  <c:v>18.3</c:v>
                </c:pt>
                <c:pt idx="2">
                  <c:v>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2EC-46D4-A5BE-9D0B9AB0A2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D0D0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7E8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DAE-41BE-8CD7-99BAB94EA4ED}"/>
              </c:ext>
            </c:extLst>
          </c:dPt>
          <c:dPt>
            <c:idx val="1"/>
            <c:bubble3D val="0"/>
            <c:spPr>
              <a:solidFill>
                <a:srgbClr val="63CF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DAE-41BE-8CD7-99BAB94EA4ED}"/>
              </c:ext>
            </c:extLst>
          </c:dPt>
          <c:dPt>
            <c:idx val="2"/>
            <c:bubble3D val="0"/>
            <c:spPr>
              <a:solidFill>
                <a:srgbClr val="E539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DAE-41BE-8CD7-99BAB94EA4ED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DAE-41BE-8CD7-99BAB94EA4ED}"/>
                </c:ext>
              </c:extLst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DAE-41BE-8CD7-99BAB94EA4ED}"/>
                </c:ext>
              </c:extLst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DAE-41BE-8CD7-99BAB94EA4ED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Often (52.7%)</c:v>
                </c:pt>
                <c:pt idx="1">
                  <c:v>Sometimes (31.2%)</c:v>
                </c:pt>
                <c:pt idx="2">
                  <c:v>Always (16.1%)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52.7</c:v>
                </c:pt>
                <c:pt idx="1">
                  <c:v>31.2</c:v>
                </c:pt>
                <c:pt idx="2">
                  <c:v>16.100000000000001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DAE-41BE-8CD7-99BAB94EA4E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333333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Respondents (%)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33333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Slow Internet</c:v>
                </c:pt>
                <c:pt idx="1">
                  <c:v>Poor Signal</c:v>
                </c:pt>
                <c:pt idx="2">
                  <c:v>Disconnections</c:v>
                </c:pt>
                <c:pt idx="3">
                  <c:v>High Latency</c:v>
                </c:pt>
                <c:pt idx="4">
                  <c:v>No Coverage</c:v>
                </c:pt>
                <c:pt idx="5">
                  <c:v>Call Drops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81.7</c:v>
                </c:pt>
                <c:pt idx="1">
                  <c:v>57</c:v>
                </c:pt>
                <c:pt idx="2">
                  <c:v>48.4</c:v>
                </c:pt>
                <c:pt idx="3">
                  <c:v>25.8</c:v>
                </c:pt>
                <c:pt idx="4">
                  <c:v>21.5</c:v>
                </c:pt>
                <c:pt idx="5">
                  <c:v>21.5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082-401A-A5A1-4AC922BFF24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DDDD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444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7FA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respondents</c:v>
                </c:pt>
              </c:strCache>
            </c:strRef>
          </c:tx>
          <c:spPr>
            <a:solidFill>
              <a:srgbClr val="0A7E8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106-4F08-B83F-06280E72F9C9}"/>
              </c:ext>
            </c:extLst>
          </c:dPt>
          <c:dPt>
            <c:idx val="1"/>
            <c:invertIfNegative val="0"/>
            <c:bubble3D val="0"/>
            <c:spPr>
              <a:solidFill>
                <a:srgbClr val="12B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106-4F08-B83F-06280E72F9C9}"/>
              </c:ext>
            </c:extLst>
          </c:dPt>
          <c:dPt>
            <c:idx val="2"/>
            <c:invertIfNegative val="0"/>
            <c:bubble3D val="0"/>
            <c:spPr>
              <a:solidFill>
                <a:srgbClr val="63CF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106-4F08-B83F-06280E72F9C9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1106-4F08-B83F-06280E72F9C9}"/>
              </c:ext>
            </c:extLst>
          </c:dPt>
          <c:dPt>
            <c:idx val="4"/>
            <c:invertIfNegative val="0"/>
            <c:bubble3D val="0"/>
            <c:spPr>
              <a:solidFill>
                <a:srgbClr val="12B5A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106-4F08-B83F-06280E72F9C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Issue Alerts</c:v>
                </c:pt>
                <c:pt idx="1">
                  <c:v>Real-time Display</c:v>
                </c:pt>
                <c:pt idx="2">
                  <c:v>Data Usage Monitor</c:v>
                </c:pt>
                <c:pt idx="3">
                  <c:v>History Logs</c:v>
                </c:pt>
                <c:pt idx="4">
                  <c:v>Rating System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64.5</c:v>
                </c:pt>
                <c:pt idx="1">
                  <c:v>62.4</c:v>
                </c:pt>
                <c:pt idx="2">
                  <c:v>44.1</c:v>
                </c:pt>
                <c:pt idx="3">
                  <c:v>25.8</c:v>
                </c:pt>
                <c:pt idx="4">
                  <c:v>17.2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106-4F08-B83F-06280E72F9C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D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E406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CCD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22E4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A2386E-E912-403F-B436-F7353B2743EA}" type="datetimeFigureOut">
              <a:rPr lang="en-GB" smtClean="0"/>
              <a:t>28/04/2026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8099E-EE1A-4667-9F4A-172C9B9A43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3360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8583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868680" y="822960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152649"/>
                </a:solidFill>
                <a:latin typeface="Arial"/>
              </a:rPr>
              <a:t>Task 2: Requirement Gathering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Stakeholder
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Techniques
used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1208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Data
gathering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Data
cleaning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09760" y="4480560"/>
            <a:ext cx="182880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152649"/>
                </a:solidFill>
                <a:latin typeface="Arial"/>
              </a:rPr>
              <a:t>User reluctance
assessment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1</a:t>
            </a:r>
          </a:p>
        </p:txBody>
      </p:sp>
      <p:sp>
        <p:nvSpPr>
          <p:cNvPr id="12" name="Shape 1">
            <a:extLst>
              <a:ext uri="{FF2B5EF4-FFF2-40B4-BE49-F238E27FC236}">
                <a16:creationId xmlns:a16="http://schemas.microsoft.com/office/drawing/2014/main" id="{362EA2AC-736A-9222-B02C-03ED99CA99B0}"/>
              </a:ext>
            </a:extLst>
          </p:cNvPr>
          <p:cNvSpPr/>
          <p:nvPr/>
        </p:nvSpPr>
        <p:spPr>
          <a:xfrm>
            <a:off x="112295" y="438912"/>
            <a:ext cx="482065" cy="589788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  <p:txBody>
          <a:bodyPr/>
          <a:lstStyle/>
          <a:p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E5E0A49-CE57-DF51-DB06-03F6069B9BD0}"/>
              </a:ext>
            </a:extLst>
          </p:cNvPr>
          <p:cNvSpPr txBox="1"/>
          <p:nvPr/>
        </p:nvSpPr>
        <p:spPr>
          <a:xfrm>
            <a:off x="816543" y="36671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667085"/>
                </a:solidFill>
                <a:latin typeface="Arial"/>
              </a:rPr>
              <a:t>CEF440 Internet Programming and Mobile Programming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D5872E0-4631-7AC2-7FEE-4DFCC3CCC576}"/>
              </a:ext>
            </a:extLst>
          </p:cNvPr>
          <p:cNvSpPr txBox="1"/>
          <p:nvPr/>
        </p:nvSpPr>
        <p:spPr>
          <a:xfrm>
            <a:off x="816543" y="1706059"/>
            <a:ext cx="56163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1" dirty="0">
                <a:solidFill>
                  <a:srgbClr val="232323"/>
                </a:solidFill>
                <a:latin typeface="Arial"/>
              </a:rPr>
              <a:t>Design and Implementation of a Mobile App for Collection of User Experience Data from Mobile Network Subscribers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854753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52649"/>
                </a:solidFill>
                <a:latin typeface="Arial"/>
              </a:rPr>
              <a:t>Why </a:t>
            </a:r>
            <a:r>
              <a:rPr lang="en-US" sz="2600" b="1" dirty="0">
                <a:solidFill>
                  <a:srgbClr val="152649"/>
                </a:solidFill>
                <a:latin typeface="Arial"/>
              </a:rPr>
              <a:t>Requirement gathering is critical for our project</a:t>
            </a:r>
            <a:endParaRPr sz="2600" b="1" dirty="0">
              <a:solidFill>
                <a:srgbClr val="152649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14400"/>
            <a:ext cx="18473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sz="1200" dirty="0">
              <a:solidFill>
                <a:srgbClr val="667085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400800" cy="2554545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Understand who the app is for and what each stakeholder needs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Collect real network experience data from mobile subscribers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Identify feature expectations, data-sharing limits, and trust issues</a:t>
            </a:r>
          </a:p>
          <a:p>
            <a:pPr>
              <a:spcAft>
                <a:spcPts val="800"/>
              </a:spcAft>
              <a:defRPr sz="2000">
                <a:solidFill>
                  <a:srgbClr val="232323"/>
                </a:solidFill>
                <a:latin typeface="Arial"/>
              </a:defRPr>
            </a:pPr>
            <a:r>
              <a:rPr dirty="0"/>
              <a:t>Prepare clean input for  requirement analysis and SRS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645920"/>
            <a:ext cx="3749039" cy="105156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Survey responses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93 valid form submissions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0" y="2926080"/>
            <a:ext cx="3749039" cy="105156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Main output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Usable requirements for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89520" y="4206240"/>
            <a:ext cx="3749039" cy="1051560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52649"/>
                </a:solidFill>
                <a:latin typeface="Arial"/>
              </a:rPr>
              <a:t>Next step</a:t>
            </a:r>
          </a:p>
          <a:p>
            <a:pPr algn="ctr"/>
            <a:r>
              <a:rPr lang="en-US" sz="1600" dirty="0">
                <a:solidFill>
                  <a:srgbClr val="232323"/>
                </a:solidFill>
                <a:latin typeface="Arial"/>
              </a:rPr>
              <a:t>A</a:t>
            </a:r>
            <a:r>
              <a:rPr sz="1600" dirty="0">
                <a:solidFill>
                  <a:srgbClr val="232323"/>
                </a:solidFill>
                <a:latin typeface="Arial"/>
              </a:rPr>
              <a:t>naly</a:t>
            </a:r>
            <a:r>
              <a:rPr lang="en-US" sz="1600" dirty="0">
                <a:solidFill>
                  <a:srgbClr val="232323"/>
                </a:solidFill>
                <a:latin typeface="Arial"/>
              </a:rPr>
              <a:t>z</a:t>
            </a:r>
            <a:r>
              <a:rPr sz="1600" dirty="0">
                <a:solidFill>
                  <a:srgbClr val="232323"/>
                </a:solidFill>
                <a:latin typeface="Arial"/>
              </a:rPr>
              <a:t>e and</a:t>
            </a:r>
            <a:r>
              <a:rPr lang="en-US" sz="1600" dirty="0">
                <a:solidFill>
                  <a:srgbClr val="232323"/>
                </a:solidFill>
                <a:latin typeface="Arial"/>
              </a:rPr>
              <a:t> formally document gatherings using use case diagrams </a:t>
            </a:r>
            <a:r>
              <a:rPr sz="1600" dirty="0">
                <a:solidFill>
                  <a:srgbClr val="232323"/>
                </a:solidFill>
                <a:latin typeface="Arial"/>
              </a:rPr>
              <a:t> 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Stakeholder identification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303520" cy="64008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Primary stakeholders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188720"/>
            <a:ext cx="5303520" cy="64008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Secondary stakeholders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01168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Subscribers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Provide QoE feedback
and usage context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9184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1900" b="1" dirty="0">
                <a:solidFill>
                  <a:srgbClr val="152649"/>
                </a:solidFill>
                <a:latin typeface="Arial"/>
              </a:rPr>
              <a:t>Network Engineer</a:t>
            </a:r>
          </a:p>
          <a:p>
            <a:pPr algn="ctr"/>
            <a:r>
              <a:rPr sz="1400" dirty="0">
                <a:solidFill>
                  <a:srgbClr val="232323"/>
                </a:solidFill>
                <a:latin typeface="Arial"/>
              </a:rPr>
              <a:t>Manages records,
permissions and support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Telecom operators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Use collected insight
for optimisation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201168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Network analysts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Interpret patterns
and problem areas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29184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Lecturer / assessors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Evaluate project method
and deliverables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4572000"/>
            <a:ext cx="4937760" cy="96012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Regulators / researchers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Potential long-term users
of aggregated insights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Requirement gathering techniques used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320040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Survey questionnaire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Main technique
Used to reach many subscribers quickly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828800"/>
            <a:ext cx="320040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Group brainstorming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Helped refine questions,
features and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828800"/>
            <a:ext cx="3200400" cy="18288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Review of similar apps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Guided what data,
alerts and reports to ask for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4297680"/>
            <a:ext cx="8046720" cy="114300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 b="1">
                <a:solidFill>
                  <a:srgbClr val="152649"/>
                </a:solidFill>
                <a:latin typeface="Arial"/>
              </a:rPr>
              <a:t>Primary method in this phase: Google Forms survey</a:t>
            </a:r>
          </a:p>
          <a:p>
            <a:pPr algn="ctr"/>
            <a:r>
              <a:rPr sz="1600">
                <a:solidFill>
                  <a:srgbClr val="232323"/>
                </a:solidFill>
                <a:latin typeface="Arial"/>
              </a:rPr>
              <a:t>Structured questions + exportable CSV for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70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— Demographics &amp; Usage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609600" y="63398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 responses collected  |  April 23–27, 2026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560320" cy="1280160"/>
          </a:xfrm>
          <a:prstGeom prst="rect">
            <a:avLst/>
          </a:prstGeom>
          <a:solidFill>
            <a:srgbClr val="0D2137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167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467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</a:t>
            </a:r>
            <a:endParaRPr lang="en-US" sz="1267" dirty="0"/>
          </a:p>
        </p:txBody>
      </p:sp>
      <p:sp>
        <p:nvSpPr>
          <p:cNvPr id="8" name="Shape 6"/>
          <p:cNvSpPr/>
          <p:nvPr/>
        </p:nvSpPr>
        <p:spPr>
          <a:xfrm>
            <a:off x="3328416" y="1280160"/>
            <a:ext cx="2560320" cy="1280160"/>
          </a:xfrm>
          <a:prstGeom prst="rect">
            <a:avLst/>
          </a:prstGeom>
          <a:solidFill>
            <a:srgbClr val="0D2137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28416" y="13167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92.5%</a:t>
            </a:r>
            <a:endParaRPr lang="en-US" sz="3467" dirty="0"/>
          </a:p>
        </p:txBody>
      </p:sp>
      <p:sp>
        <p:nvSpPr>
          <p:cNvPr id="10" name="Text 8"/>
          <p:cNvSpPr/>
          <p:nvPr/>
        </p:nvSpPr>
        <p:spPr>
          <a:xfrm>
            <a:off x="3328416" y="201168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18–25</a:t>
            </a:r>
            <a:endParaRPr lang="en-US" sz="1267" dirty="0"/>
          </a:p>
        </p:txBody>
      </p:sp>
      <p:sp>
        <p:nvSpPr>
          <p:cNvPr id="11" name="Shape 9"/>
          <p:cNvSpPr/>
          <p:nvPr/>
        </p:nvSpPr>
        <p:spPr>
          <a:xfrm>
            <a:off x="6108192" y="1280160"/>
            <a:ext cx="2560320" cy="1280160"/>
          </a:xfrm>
          <a:prstGeom prst="rect">
            <a:avLst/>
          </a:prstGeom>
          <a:solidFill>
            <a:srgbClr val="0D2137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13167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87.1%</a:t>
            </a:r>
            <a:endParaRPr lang="en-US" sz="3467" dirty="0"/>
          </a:p>
        </p:txBody>
      </p:sp>
      <p:sp>
        <p:nvSpPr>
          <p:cNvPr id="13" name="Text 11"/>
          <p:cNvSpPr/>
          <p:nvPr/>
        </p:nvSpPr>
        <p:spPr>
          <a:xfrm>
            <a:off x="6108192" y="201168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8887968" y="1280160"/>
            <a:ext cx="2560320" cy="1280160"/>
          </a:xfrm>
          <a:prstGeom prst="rect">
            <a:avLst/>
          </a:prstGeom>
          <a:solidFill>
            <a:srgbClr val="0D2137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87968" y="1316736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467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96.8%</a:t>
            </a:r>
            <a:endParaRPr lang="en-US" sz="3467" dirty="0"/>
          </a:p>
        </p:txBody>
      </p:sp>
      <p:sp>
        <p:nvSpPr>
          <p:cNvPr id="16" name="Text 14"/>
          <p:cNvSpPr/>
          <p:nvPr/>
        </p:nvSpPr>
        <p:spPr>
          <a:xfrm>
            <a:off x="8887968" y="2011680"/>
            <a:ext cx="25603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67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Users</a:t>
            </a:r>
            <a:endParaRPr lang="en-US" sz="1267" dirty="0"/>
          </a:p>
        </p:txBody>
      </p:sp>
      <p:sp>
        <p:nvSpPr>
          <p:cNvPr id="17" name="Text 15"/>
          <p:cNvSpPr/>
          <p:nvPr/>
        </p:nvSpPr>
        <p:spPr>
          <a:xfrm>
            <a:off x="548640" y="274320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kern="0" spc="267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SHARE</a:t>
            </a:r>
            <a:endParaRPr lang="en-US" sz="1267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26720" y="3072384"/>
          <a:ext cx="554736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Text 16"/>
          <p:cNvSpPr/>
          <p:nvPr/>
        </p:nvSpPr>
        <p:spPr>
          <a:xfrm>
            <a:off x="6400800" y="2743200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kern="0" spc="267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267" dirty="0"/>
          </a:p>
        </p:txBody>
      </p:sp>
      <p:graphicFrame>
        <p:nvGraphicFramePr>
          <p:cNvPr id="20" name="Chart 1"/>
          <p:cNvGraphicFramePr/>
          <p:nvPr/>
        </p:nvGraphicFramePr>
        <p:xfrm>
          <a:off x="6217920" y="3072384"/>
          <a:ext cx="268224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1" name="Text 17"/>
          <p:cNvSpPr/>
          <p:nvPr/>
        </p:nvSpPr>
        <p:spPr>
          <a:xfrm>
            <a:off x="9083040" y="2743200"/>
            <a:ext cx="29260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kern="0" spc="267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TYPE</a:t>
            </a:r>
            <a:endParaRPr lang="en-US" sz="1267" dirty="0"/>
          </a:p>
        </p:txBody>
      </p:sp>
      <p:graphicFrame>
        <p:nvGraphicFramePr>
          <p:cNvPr id="22" name="Chart 2"/>
          <p:cNvGraphicFramePr/>
          <p:nvPr/>
        </p:nvGraphicFramePr>
        <p:xfrm>
          <a:off x="8961120" y="3072384"/>
          <a:ext cx="286512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70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— Network Problem Experience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609600" y="64617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users experience network issues with non-trivial frequency</a:t>
            </a:r>
            <a:endParaRPr lang="en-US" sz="2133" dirty="0"/>
          </a:p>
        </p:txBody>
      </p:sp>
      <p:sp>
        <p:nvSpPr>
          <p:cNvPr id="5" name="Text 3"/>
          <p:cNvSpPr/>
          <p:nvPr/>
        </p:nvSpPr>
        <p:spPr>
          <a:xfrm>
            <a:off x="426720" y="134112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kern="0" spc="267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OF ISSUES</a:t>
            </a:r>
            <a:endParaRPr lang="en-US" sz="1267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1682496"/>
          <a:ext cx="536448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6217920" y="1341120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67" b="1" kern="0" spc="267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PROBLEMS ENCOUNTERED (% of respondents)</a:t>
            </a:r>
            <a:endParaRPr lang="en-US" sz="1267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096000" y="1682496"/>
          <a:ext cx="5730240" cy="426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365760" y="6059424"/>
            <a:ext cx="11460480" cy="548640"/>
          </a:xfrm>
          <a:prstGeom prst="rect">
            <a:avLst/>
          </a:prstGeom>
          <a:solidFill>
            <a:srgbClr val="0D2137"/>
          </a:solidFill>
          <a:ln w="6350">
            <a:solidFill>
              <a:srgbClr val="0A7E8C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48640" y="6083808"/>
            <a:ext cx="1109472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Finding:  Slow internet speed (81.7%) is the #1 issue → the app MUST prioritize bandwidth/throughput monitoring</a:t>
            </a:r>
            <a:endParaRPr lang="en-US" sz="133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70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Willingness &amp; Desired Features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609600" y="63398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users accept?</a:t>
            </a:r>
            <a:endParaRPr lang="en-US" sz="2933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87680" y="128016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kern="0" spc="267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WILLINGNESS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87680" y="168249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Data Collection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87680" y="2072640"/>
            <a:ext cx="5364480" cy="54864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7680" y="2072640"/>
            <a:ext cx="1555699" cy="548640"/>
          </a:xfrm>
          <a:prstGeom prst="rect">
            <a:avLst/>
          </a:prstGeom>
          <a:solidFill>
            <a:srgbClr val="12B5A0"/>
          </a:solidFill>
          <a:ln w="12700">
            <a:solidFill>
              <a:srgbClr val="12B5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43380" y="2072640"/>
            <a:ext cx="3460089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03469" y="2072640"/>
            <a:ext cx="348691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194560"/>
            <a:ext cx="149473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29%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104340" y="2194560"/>
            <a:ext cx="339912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64.5%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527853" y="2194560"/>
            <a:ext cx="32430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67" dirty="0"/>
          </a:p>
        </p:txBody>
      </p:sp>
      <p:sp>
        <p:nvSpPr>
          <p:cNvPr id="14" name="Text 12"/>
          <p:cNvSpPr/>
          <p:nvPr/>
        </p:nvSpPr>
        <p:spPr>
          <a:xfrm>
            <a:off x="487680" y="308457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Notifications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87680" y="3474720"/>
            <a:ext cx="5364480" cy="54864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7680" y="3474720"/>
            <a:ext cx="2247717" cy="548640"/>
          </a:xfrm>
          <a:prstGeom prst="rect">
            <a:avLst/>
          </a:prstGeom>
          <a:solidFill>
            <a:srgbClr val="12B5A0"/>
          </a:solidFill>
          <a:ln w="12700">
            <a:solidFill>
              <a:srgbClr val="12B5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35398" y="3474720"/>
            <a:ext cx="2478389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3787" y="3474720"/>
            <a:ext cx="633008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596640"/>
            <a:ext cx="2186757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41.9%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2796358" y="3596640"/>
            <a:ext cx="2417429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46.2%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238171" y="3596640"/>
            <a:ext cx="608624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67" dirty="0"/>
          </a:p>
        </p:txBody>
      </p:sp>
      <p:sp>
        <p:nvSpPr>
          <p:cNvPr id="22" name="Text 20"/>
          <p:cNvSpPr/>
          <p:nvPr/>
        </p:nvSpPr>
        <p:spPr>
          <a:xfrm>
            <a:off x="487680" y="4486656"/>
            <a:ext cx="536448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Sharing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87680" y="4876800"/>
            <a:ext cx="5364480" cy="548640"/>
          </a:xfrm>
          <a:prstGeom prst="rect">
            <a:avLst/>
          </a:prstGeom>
          <a:solidFill>
            <a:srgbClr val="1A3A52"/>
          </a:solidFill>
          <a:ln w="12700">
            <a:solidFill>
              <a:srgbClr val="1A3A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7680" y="4876800"/>
            <a:ext cx="2548128" cy="548640"/>
          </a:xfrm>
          <a:prstGeom prst="rect">
            <a:avLst/>
          </a:prstGeom>
          <a:solidFill>
            <a:srgbClr val="12B5A0"/>
          </a:solidFill>
          <a:ln w="12700">
            <a:solidFill>
              <a:srgbClr val="12B5A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035808" y="4876800"/>
            <a:ext cx="2145792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81600" y="4876800"/>
            <a:ext cx="670560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4998720"/>
            <a:ext cx="2487168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47.5%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096768" y="4998720"/>
            <a:ext cx="2084832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40%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205984" y="4998720"/>
            <a:ext cx="646176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067" dirty="0"/>
          </a:p>
        </p:txBody>
      </p:sp>
      <p:sp>
        <p:nvSpPr>
          <p:cNvPr id="30" name="Text 28"/>
          <p:cNvSpPr/>
          <p:nvPr/>
        </p:nvSpPr>
        <p:spPr>
          <a:xfrm>
            <a:off x="487680" y="5876544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i="1" dirty="0">
                <a:solidFill>
                  <a:srgbClr val="1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 want personal performance reports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339840" y="128016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00" b="1" kern="0" spc="267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 FEATURES</a:t>
            </a:r>
            <a:endParaRPr lang="en-US" sz="2200" dirty="0"/>
          </a:p>
        </p:txBody>
      </p:sp>
      <p:graphicFrame>
        <p:nvGraphicFramePr>
          <p:cNvPr id="32" name="Chart 0"/>
          <p:cNvGraphicFramePr/>
          <p:nvPr/>
        </p:nvGraphicFramePr>
        <p:xfrm>
          <a:off x="6217920" y="1645920"/>
          <a:ext cx="5608320" cy="4815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70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 — Key Findings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609600" y="64617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existing apps taught us — and what they're missing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673784"/>
              </p:ext>
            </p:extLst>
          </p:nvPr>
        </p:nvGraphicFramePr>
        <p:xfrm>
          <a:off x="487680" y="1341120"/>
          <a:ext cx="11216640" cy="5341620"/>
        </p:xfrm>
        <a:graphic>
          <a:graphicData uri="http://schemas.openxmlformats.org/drawingml/2006/table">
            <a:tbl>
              <a:tblPr/>
              <a:tblGrid>
                <a:gridCol w="3413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9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for Our System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Collects RSRP, SINR, RSSI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 same RF metrics as core parameters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Map-based coverage visualization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OpenSignal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 map-based network quality view by location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offline data storage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data locally first; upload when online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coverage prediction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for future ML-based prediction module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 UI for non-technical users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Cell Info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interface — navigable within 3 minutes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 crowdsensing is opaque to users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OpenSignal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users when collection is active; allow opt-out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WiFi-only upload mode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Allow users to restrict uploads to WiFi only</a:t>
                      </a:r>
                      <a:endParaRPr lang="en-US" sz="1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Data gathering process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1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Design survey
Questions on usage,
network issues,
concerns and features</a:t>
            </a:r>
          </a:p>
        </p:txBody>
      </p:sp>
      <p:sp>
        <p:nvSpPr>
          <p:cNvPr id="4" name="Chevron 3"/>
          <p:cNvSpPr/>
          <p:nvPr/>
        </p:nvSpPr>
        <p:spPr>
          <a:xfrm>
            <a:off x="3218688" y="251460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6616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2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Distribute form
Shared with mobile
network subscribers</a:t>
            </a:r>
          </a:p>
        </p:txBody>
      </p:sp>
      <p:sp>
        <p:nvSpPr>
          <p:cNvPr id="6" name="Chevron 5"/>
          <p:cNvSpPr/>
          <p:nvPr/>
        </p:nvSpPr>
        <p:spPr>
          <a:xfrm>
            <a:off x="6053328" y="251460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3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Collect responses
93 responses captured
through Google Forms</a:t>
            </a:r>
          </a:p>
        </p:txBody>
      </p:sp>
      <p:sp>
        <p:nvSpPr>
          <p:cNvPr id="8" name="Chevron 7"/>
          <p:cNvSpPr/>
          <p:nvPr/>
        </p:nvSpPr>
        <p:spPr>
          <a:xfrm>
            <a:off x="8887968" y="251460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5440" y="1828800"/>
            <a:ext cx="2377440" cy="219456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400" b="1">
                <a:solidFill>
                  <a:srgbClr val="152649"/>
                </a:solidFill>
                <a:latin typeface="Arial"/>
              </a:rPr>
              <a:t>4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Export dataset
Responses exported as CSV
for cleaning and summary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4754880"/>
            <a:ext cx="6217920" cy="82296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Question areas: profile, usage, network experience, sharing, preferences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468314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52649"/>
                </a:solidFill>
                <a:latin typeface="Arial"/>
              </a:rPr>
              <a:t>Survey </a:t>
            </a:r>
            <a:r>
              <a:rPr lang="en-US" sz="2600" b="1" dirty="0">
                <a:solidFill>
                  <a:srgbClr val="152649"/>
                </a:solidFill>
                <a:latin typeface="Arial"/>
              </a:rPr>
              <a:t>Review and Analysis</a:t>
            </a:r>
            <a:endParaRPr sz="2600" b="1" dirty="0">
              <a:solidFill>
                <a:srgbClr val="152649"/>
              </a:solidFill>
              <a:latin typeface="Arial"/>
            </a:endParaRPr>
          </a:p>
        </p:txBody>
      </p:sp>
      <p:pic>
        <p:nvPicPr>
          <p:cNvPr id="3" name="Picture 2" descr="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153" y="829613"/>
            <a:ext cx="4683142" cy="2936885"/>
          </a:xfrm>
          <a:prstGeom prst="rect">
            <a:avLst/>
          </a:prstGeom>
        </p:spPr>
      </p:pic>
      <p:pic>
        <p:nvPicPr>
          <p:cNvPr id="4" name="Picture 3" descr="opera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335" y="838756"/>
            <a:ext cx="5511265" cy="291859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4114800"/>
            <a:ext cx="3383280" cy="1005840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Occupation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81 of 93 respondents were students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114800"/>
            <a:ext cx="3383280" cy="100584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Operating system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51 Android, 42 iOS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114800"/>
            <a:ext cx="3383280" cy="100584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>
                <a:solidFill>
                  <a:srgbClr val="152649"/>
                </a:solidFill>
                <a:latin typeface="Arial"/>
              </a:rPr>
              <a:t>Usage intensity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90 respondents use mobile internet frequently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What users reported</a:t>
            </a:r>
          </a:p>
        </p:txBody>
      </p:sp>
      <p:pic>
        <p:nvPicPr>
          <p:cNvPr id="3" name="Picture 2" descr="issue_freq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901" y="914400"/>
            <a:ext cx="4665911" cy="2926080"/>
          </a:xfrm>
          <a:prstGeom prst="rect">
            <a:avLst/>
          </a:prstGeom>
        </p:spPr>
      </p:pic>
      <p:pic>
        <p:nvPicPr>
          <p:cNvPr id="4" name="Picture 3" descr="proble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4551" y="862262"/>
            <a:ext cx="6576116" cy="53099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4297679"/>
            <a:ext cx="3749040" cy="1874519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52649"/>
                </a:solidFill>
                <a:latin typeface="Arial"/>
              </a:rPr>
              <a:t>Main takeaway</a:t>
            </a:r>
          </a:p>
          <a:p>
            <a:pPr algn="ctr"/>
            <a:r>
              <a:rPr sz="1500" dirty="0">
                <a:solidFill>
                  <a:srgbClr val="232323"/>
                </a:solidFill>
                <a:latin typeface="Arial"/>
              </a:rPr>
              <a:t>Network problems are common; slow internet speed and poor signal strength dominate the user experience.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Data cleaning carried out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Inspect export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Checked columns,
missing responses
and inconsistent labels</a:t>
            </a:r>
          </a:p>
        </p:txBody>
      </p:sp>
      <p:sp>
        <p:nvSpPr>
          <p:cNvPr id="4" name="Chevron 3"/>
          <p:cNvSpPr/>
          <p:nvPr/>
        </p:nvSpPr>
        <p:spPr>
          <a:xfrm>
            <a:off x="3218688" y="265176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56616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Tidy structure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Renamed stray column,
removed irrelevant spacing,
reviewed blanks</a:t>
            </a:r>
          </a:p>
        </p:txBody>
      </p:sp>
      <p:sp>
        <p:nvSpPr>
          <p:cNvPr id="6" name="Chevron 5"/>
          <p:cNvSpPr/>
          <p:nvPr/>
        </p:nvSpPr>
        <p:spPr>
          <a:xfrm>
            <a:off x="6053328" y="265176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Prepare analysis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Split multi-select answers
into countable categories</a:t>
            </a:r>
          </a:p>
        </p:txBody>
      </p:sp>
      <p:sp>
        <p:nvSpPr>
          <p:cNvPr id="8" name="Chevron 7"/>
          <p:cNvSpPr/>
          <p:nvPr/>
        </p:nvSpPr>
        <p:spPr>
          <a:xfrm>
            <a:off x="8887968" y="2651760"/>
            <a:ext cx="457200" cy="457200"/>
          </a:xfrm>
          <a:prstGeom prst="chevron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9235440" y="1920240"/>
            <a:ext cx="2377440" cy="201168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Summarise output</a:t>
            </a:r>
          </a:p>
          <a:p>
            <a:pPr algn="ctr"/>
            <a:r>
              <a:rPr sz="1400">
                <a:solidFill>
                  <a:srgbClr val="232323"/>
                </a:solidFill>
                <a:latin typeface="Arial"/>
              </a:rPr>
              <a:t>Converted raw responses
into charts and key findings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617720"/>
            <a:ext cx="10058400" cy="91440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900" b="1" dirty="0">
                <a:solidFill>
                  <a:srgbClr val="152649"/>
                </a:solidFill>
                <a:latin typeface="Arial"/>
              </a:rPr>
              <a:t>Examples from the dataset</a:t>
            </a:r>
          </a:p>
          <a:p>
            <a:pPr algn="ctr"/>
            <a:r>
              <a:rPr sz="1500" dirty="0">
                <a:solidFill>
                  <a:srgbClr val="232323"/>
                </a:solidFill>
                <a:latin typeface="Arial"/>
              </a:rPr>
              <a:t>Unnamed gender column,</a:t>
            </a:r>
            <a:r>
              <a:rPr lang="en-US" sz="1500" dirty="0">
                <a:solidFill>
                  <a:srgbClr val="232323"/>
                </a:solidFill>
                <a:latin typeface="Arial"/>
              </a:rPr>
              <a:t> </a:t>
            </a:r>
            <a:r>
              <a:rPr sz="1500" dirty="0">
                <a:solidFill>
                  <a:srgbClr val="232323"/>
                </a:solidFill>
                <a:latin typeface="Arial"/>
              </a:rPr>
              <a:t>mixed response formats needed cleanup before interpretation.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70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USER RELUCTANCE ASSESSMENT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609600" y="64617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Barriers are real — and addressable</a:t>
            </a:r>
            <a:endParaRPr lang="en-US" sz="2933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26720" y="1341120"/>
            <a:ext cx="2682240" cy="1889760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26720" y="1341120"/>
            <a:ext cx="2682240" cy="609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87424"/>
            <a:ext cx="609600" cy="609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4544" y="1487424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68.8%</a:t>
            </a:r>
            <a:endParaRPr lang="en-US" sz="2933" dirty="0"/>
          </a:p>
        </p:txBody>
      </p:sp>
      <p:sp>
        <p:nvSpPr>
          <p:cNvPr id="9" name="Text 6"/>
          <p:cNvSpPr/>
          <p:nvPr/>
        </p:nvSpPr>
        <p:spPr>
          <a:xfrm>
            <a:off x="573024" y="2133600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Concerns</a:t>
            </a:r>
            <a:endParaRPr lang="en-US" sz="1333" dirty="0"/>
          </a:p>
        </p:txBody>
      </p:sp>
      <p:sp>
        <p:nvSpPr>
          <p:cNvPr id="10" name="Shape 7"/>
          <p:cNvSpPr/>
          <p:nvPr/>
        </p:nvSpPr>
        <p:spPr>
          <a:xfrm>
            <a:off x="3291840" y="1341120"/>
            <a:ext cx="2682240" cy="1889760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91840" y="1341120"/>
            <a:ext cx="2682240" cy="60960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87424"/>
            <a:ext cx="609600" cy="609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69664" y="1487424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D68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58.1%</a:t>
            </a:r>
            <a:endParaRPr lang="en-US" sz="2933" dirty="0"/>
          </a:p>
        </p:txBody>
      </p:sp>
      <p:sp>
        <p:nvSpPr>
          <p:cNvPr id="14" name="Text 10"/>
          <p:cNvSpPr/>
          <p:nvPr/>
        </p:nvSpPr>
        <p:spPr>
          <a:xfrm>
            <a:off x="3438144" y="2133600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Consumption</a:t>
            </a:r>
            <a:endParaRPr lang="en-US" sz="1333" dirty="0"/>
          </a:p>
        </p:txBody>
      </p:sp>
      <p:sp>
        <p:nvSpPr>
          <p:cNvPr id="15" name="Shape 11"/>
          <p:cNvSpPr/>
          <p:nvPr/>
        </p:nvSpPr>
        <p:spPr>
          <a:xfrm>
            <a:off x="6156960" y="1341120"/>
            <a:ext cx="2682240" cy="1889760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56960" y="1341120"/>
            <a:ext cx="2682240" cy="6096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9840" y="1487424"/>
            <a:ext cx="609600" cy="6096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034784" y="1487424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36.6%</a:t>
            </a:r>
            <a:endParaRPr lang="en-US" sz="2933" dirty="0"/>
          </a:p>
        </p:txBody>
      </p:sp>
      <p:sp>
        <p:nvSpPr>
          <p:cNvPr id="19" name="Text 14"/>
          <p:cNvSpPr/>
          <p:nvPr/>
        </p:nvSpPr>
        <p:spPr>
          <a:xfrm>
            <a:off x="6303264" y="2133600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Risks</a:t>
            </a:r>
            <a:endParaRPr lang="en-US" sz="1333" dirty="0"/>
          </a:p>
        </p:txBody>
      </p:sp>
      <p:sp>
        <p:nvSpPr>
          <p:cNvPr id="20" name="Shape 15"/>
          <p:cNvSpPr/>
          <p:nvPr/>
        </p:nvSpPr>
        <p:spPr>
          <a:xfrm>
            <a:off x="9022080" y="1341120"/>
            <a:ext cx="2682240" cy="1889760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022080" y="1341120"/>
            <a:ext cx="2682240" cy="60960"/>
          </a:xfrm>
          <a:prstGeom prst="rect">
            <a:avLst/>
          </a:prstGeom>
          <a:solidFill>
            <a:srgbClr val="12B5A0"/>
          </a:solidFill>
          <a:ln w="12700">
            <a:solidFill>
              <a:srgbClr val="12B5A0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4960" y="1487424"/>
            <a:ext cx="609600" cy="609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99904" y="1487424"/>
            <a:ext cx="164592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1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35.5%</a:t>
            </a:r>
            <a:endParaRPr lang="en-US" sz="2933" dirty="0"/>
          </a:p>
        </p:txBody>
      </p:sp>
      <p:sp>
        <p:nvSpPr>
          <p:cNvPr id="24" name="Text 18"/>
          <p:cNvSpPr/>
          <p:nvPr/>
        </p:nvSpPr>
        <p:spPr>
          <a:xfrm>
            <a:off x="9168384" y="2133600"/>
            <a:ext cx="243840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Drain</a:t>
            </a:r>
            <a:endParaRPr lang="en-US" sz="1333" dirty="0"/>
          </a:p>
        </p:txBody>
      </p:sp>
      <p:sp>
        <p:nvSpPr>
          <p:cNvPr id="25" name="Text 19"/>
          <p:cNvSpPr/>
          <p:nvPr/>
        </p:nvSpPr>
        <p:spPr>
          <a:xfrm>
            <a:off x="536448" y="3438144"/>
            <a:ext cx="56083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kern="0" spc="267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RELUCTANCE SEVERITY</a:t>
            </a:r>
            <a:endParaRPr lang="en-US" sz="1500" dirty="0"/>
          </a:p>
        </p:txBody>
      </p:sp>
      <p:sp>
        <p:nvSpPr>
          <p:cNvPr id="26" name="Shape 20"/>
          <p:cNvSpPr/>
          <p:nvPr/>
        </p:nvSpPr>
        <p:spPr>
          <a:xfrm>
            <a:off x="426720" y="3901440"/>
            <a:ext cx="219456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92480" y="3974592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(Hard Refusers)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8" name="Text 22"/>
          <p:cNvSpPr/>
          <p:nvPr/>
        </p:nvSpPr>
        <p:spPr>
          <a:xfrm>
            <a:off x="4267200" y="39745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~10–13%</a:t>
            </a:r>
            <a:endParaRPr lang="en-US" sz="1700" dirty="0"/>
          </a:p>
        </p:txBody>
      </p:sp>
      <p:sp>
        <p:nvSpPr>
          <p:cNvPr id="29" name="Shape 23"/>
          <p:cNvSpPr/>
          <p:nvPr/>
        </p:nvSpPr>
        <p:spPr>
          <a:xfrm>
            <a:off x="426720" y="4730496"/>
            <a:ext cx="219456" cy="5486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92480" y="4803648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(Open to persuasion)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1" name="Text 25"/>
          <p:cNvSpPr/>
          <p:nvPr/>
        </p:nvSpPr>
        <p:spPr>
          <a:xfrm>
            <a:off x="4267200" y="480364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~40–48%</a:t>
            </a:r>
            <a:endParaRPr lang="en-US" sz="1700" dirty="0"/>
          </a:p>
        </p:txBody>
      </p:sp>
      <p:sp>
        <p:nvSpPr>
          <p:cNvPr id="32" name="Shape 26"/>
          <p:cNvSpPr/>
          <p:nvPr/>
        </p:nvSpPr>
        <p:spPr>
          <a:xfrm>
            <a:off x="426720" y="5559552"/>
            <a:ext cx="219456" cy="548640"/>
          </a:xfrm>
          <a:prstGeom prst="rect">
            <a:avLst/>
          </a:prstGeom>
          <a:solidFill>
            <a:srgbClr val="12B5A0"/>
          </a:solidFill>
          <a:ln w="12700">
            <a:solidFill>
              <a:srgbClr val="12B5A0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92480" y="5632704"/>
            <a:ext cx="341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/ Willing</a:t>
            </a:r>
            <a:endParaRPr lang="en-US" sz="17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 28"/>
          <p:cNvSpPr/>
          <p:nvPr/>
        </p:nvSpPr>
        <p:spPr>
          <a:xfrm>
            <a:off x="4267200" y="56327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00" b="1" dirty="0">
                <a:solidFill>
                  <a:srgbClr val="12B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~39–45%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6339840" y="3474720"/>
            <a:ext cx="54864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kern="0" spc="267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STRATEGIES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6339840" y="3877056"/>
            <a:ext cx="54254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granular consent at onboarding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privacy policy in-app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Anonymize data before transmission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app's own data usage counter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encryption + AES-256 local storage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polling to minimize battery drain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WiFi-only sync option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189" indent="-457189">
              <a:buSzPct val="100000"/>
              <a:buChar char="•"/>
            </a:pPr>
            <a:r>
              <a:rPr lang="en-US" sz="190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User-controlled permission toggles</a:t>
            </a:r>
            <a:endParaRPr lang="en-US" sz="19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52649"/>
                </a:solidFill>
                <a:latin typeface="Arial"/>
              </a:rPr>
              <a:t>User reluctance assessment</a:t>
            </a:r>
          </a:p>
        </p:txBody>
      </p:sp>
      <p:pic>
        <p:nvPicPr>
          <p:cNvPr id="3" name="Picture 2" descr="conc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60348"/>
            <a:ext cx="7081912" cy="433730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15200" y="1554480"/>
            <a:ext cx="3840480" cy="960120"/>
          </a:xfrm>
          <a:prstGeom prst="roundRect">
            <a:avLst/>
          </a:prstGeom>
          <a:solidFill>
            <a:srgbClr val="E8F3FF"/>
          </a:solidFill>
          <a:ln>
            <a:solidFill>
              <a:srgbClr val="E8F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Automatic data collection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27 yes • 60 maybe • 6 no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0" y="2743200"/>
            <a:ext cx="3840480" cy="960120"/>
          </a:xfrm>
          <a:prstGeom prst="roundRect">
            <a:avLst/>
          </a:prstGeom>
          <a:solidFill>
            <a:srgbClr val="EFF8F0"/>
          </a:solidFill>
          <a:ln>
            <a:solidFill>
              <a:srgbClr val="EFF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Periodic notifications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39 yes • 43 maybe • 11 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3931920"/>
            <a:ext cx="3840480" cy="960120"/>
          </a:xfrm>
          <a:prstGeom prst="roundRect">
            <a:avLst/>
          </a:prstGeom>
          <a:solidFill>
            <a:srgbClr val="F8F1E8"/>
          </a:solidFill>
          <a:ln>
            <a:solidFill>
              <a:srgbClr val="F8F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800" b="1">
                <a:solidFill>
                  <a:srgbClr val="152649"/>
                </a:solidFill>
                <a:latin typeface="Arial"/>
              </a:rPr>
              <a:t>Location sharing*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19 yes • 16 maybe • 18 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5029200"/>
            <a:ext cx="3657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7085"/>
                </a:solidFill>
                <a:latin typeface="Arial"/>
              </a:rPr>
              <a:t>*53 respondents answered this question.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400800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6428232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667085"/>
                </a:solidFill>
                <a:latin typeface="Arial"/>
              </a:rPr>
              <a:t>Presenter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170688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4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DERIVED REQUIREMENTS</a:t>
            </a:r>
            <a:endParaRPr lang="en-US" sz="1467" dirty="0"/>
          </a:p>
        </p:txBody>
      </p:sp>
      <p:sp>
        <p:nvSpPr>
          <p:cNvPr id="4" name="Text 2"/>
          <p:cNvSpPr/>
          <p:nvPr/>
        </p:nvSpPr>
        <p:spPr>
          <a:xfrm>
            <a:off x="609600" y="64617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</a:t>
            </a:r>
            <a:endParaRPr lang="en-US" sz="2933" dirty="0"/>
          </a:p>
        </p:txBody>
      </p:sp>
      <p:sp>
        <p:nvSpPr>
          <p:cNvPr id="5" name="Shape 3"/>
          <p:cNvSpPr/>
          <p:nvPr/>
        </p:nvSpPr>
        <p:spPr>
          <a:xfrm>
            <a:off x="487680" y="1280160"/>
            <a:ext cx="5547360" cy="4267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341120"/>
            <a:ext cx="536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192505" y="1468494"/>
            <a:ext cx="5547360" cy="481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service: collect signal, network type, latency, packet loss, bandwidth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showing live network performance metrics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when quality drops below thresholds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performance history logs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satisfaction ratings triggered by detected issues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GPS/location data linked to readings (with consent)</a:t>
            </a:r>
            <a:endParaRPr lang="en-US" sz="2000" dirty="0"/>
          </a:p>
          <a:p>
            <a:pPr marL="457189" indent="-457189">
              <a:buSzPct val="100000"/>
              <a:buChar char="•"/>
            </a:pPr>
            <a:r>
              <a:rPr lang="en-US" sz="2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data consumption display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547360" cy="426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9840" y="1341120"/>
            <a:ext cx="53644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kern="0" spc="2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1036320" cy="487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828800"/>
            <a:ext cx="1036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339584" y="187756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for all transmissions; device IDs hashed before storage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6217920" y="2450592"/>
            <a:ext cx="1036320" cy="487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2450592"/>
            <a:ext cx="1036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339584" y="249936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informed consent before any collection begins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6217920" y="3072384"/>
            <a:ext cx="1036320" cy="487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3072384"/>
            <a:ext cx="1036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39584" y="3121152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impact ≤ 3% additional drain per hour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217920" y="3694176"/>
            <a:ext cx="1036320" cy="487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3694176"/>
            <a:ext cx="1036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39584" y="3742944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data ≤ 5 MB/day under standard settings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217920" y="4315968"/>
            <a:ext cx="1036320" cy="487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4315968"/>
            <a:ext cx="1036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7339584" y="4364736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interface navigable by first-time user within 3 minutes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17920" y="4937760"/>
            <a:ext cx="1036320" cy="487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4937760"/>
            <a:ext cx="1036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339584" y="4986528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 on connection interruption via local queue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217920" y="5559552"/>
            <a:ext cx="1036320" cy="4876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5559552"/>
            <a:ext cx="103632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b="1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39584" y="5608320"/>
            <a:ext cx="4389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local storage; no raw personal IDs on device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72656"/>
            <a:ext cx="12192000" cy="8534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533" dirty="0">
                <a:solidFill>
                  <a:srgbClr val="63CF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609600" y="694944"/>
            <a:ext cx="10972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know — and where we go next</a:t>
            </a:r>
            <a:endParaRPr lang="en-US" sz="2667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26720" y="1341120"/>
            <a:ext cx="5547360" cy="1487424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31264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04544" y="1487424"/>
            <a:ext cx="44500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of users experience frequent network issues — strong market validation</a:t>
            </a:r>
            <a:endParaRPr lang="en-US" sz="1333" dirty="0"/>
          </a:p>
        </p:txBody>
      </p:sp>
      <p:sp>
        <p:nvSpPr>
          <p:cNvPr id="9" name="Shape 6"/>
          <p:cNvSpPr/>
          <p:nvPr/>
        </p:nvSpPr>
        <p:spPr>
          <a:xfrm>
            <a:off x="426720" y="3023616"/>
            <a:ext cx="5547360" cy="1487424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" y="341376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04544" y="3169920"/>
            <a:ext cx="44500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problems: Slow internet (81.7%), poor signal (57%), disconnections (48.4%)</a:t>
            </a:r>
            <a:endParaRPr lang="en-US" sz="1333" dirty="0"/>
          </a:p>
        </p:txBody>
      </p:sp>
      <p:sp>
        <p:nvSpPr>
          <p:cNvPr id="12" name="Shape 8"/>
          <p:cNvSpPr/>
          <p:nvPr/>
        </p:nvSpPr>
        <p:spPr>
          <a:xfrm>
            <a:off x="426720" y="4706112"/>
            <a:ext cx="5547360" cy="1487424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096256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04544" y="4852416"/>
            <a:ext cx="44500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prefer event-driven notifications (54.8%) over fixed schedules</a:t>
            </a:r>
            <a:endParaRPr lang="en-US" sz="1333" dirty="0"/>
          </a:p>
        </p:txBody>
      </p:sp>
      <p:sp>
        <p:nvSpPr>
          <p:cNvPr id="15" name="Shape 10"/>
          <p:cNvSpPr/>
          <p:nvPr/>
        </p:nvSpPr>
        <p:spPr>
          <a:xfrm>
            <a:off x="6339840" y="1341120"/>
            <a:ext cx="5547360" cy="1487424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720" y="1731264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217664" y="1487424"/>
            <a:ext cx="44500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93.5% want personal network performance reports — a powerful incentive for adoption</a:t>
            </a:r>
            <a:endParaRPr lang="en-US" sz="1333" dirty="0"/>
          </a:p>
        </p:txBody>
      </p:sp>
      <p:sp>
        <p:nvSpPr>
          <p:cNvPr id="18" name="Shape 12"/>
          <p:cNvSpPr/>
          <p:nvPr/>
        </p:nvSpPr>
        <p:spPr>
          <a:xfrm>
            <a:off x="6339840" y="3023616"/>
            <a:ext cx="5547360" cy="1487424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720" y="341376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217664" y="3169920"/>
            <a:ext cx="44500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consumption are the primary adoption barriers — addressed through privacy-by-design</a:t>
            </a:r>
            <a:endParaRPr lang="en-US" sz="1333" dirty="0"/>
          </a:p>
        </p:txBody>
      </p:sp>
      <p:sp>
        <p:nvSpPr>
          <p:cNvPr id="21" name="Shape 14"/>
          <p:cNvSpPr/>
          <p:nvPr/>
        </p:nvSpPr>
        <p:spPr>
          <a:xfrm>
            <a:off x="6339840" y="4706112"/>
            <a:ext cx="5547360" cy="1487424"/>
          </a:xfrm>
          <a:prstGeom prst="rect">
            <a:avLst/>
          </a:prstGeom>
          <a:solidFill>
            <a:srgbClr val="122E42"/>
          </a:solidFill>
          <a:ln w="6350">
            <a:solidFill>
              <a:srgbClr val="0A7E8C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720" y="5096256"/>
            <a:ext cx="548640" cy="5486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217664" y="4852416"/>
            <a:ext cx="4450080" cy="1158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D1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(Android 54.8% / iOS 45.2%) development is mandatory</a:t>
            </a:r>
            <a:endParaRPr lang="en-US" sz="13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320040"/>
            <a:ext cx="524534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600" b="1" dirty="0">
                <a:solidFill>
                  <a:srgbClr val="152649"/>
                </a:solidFill>
                <a:latin typeface="Arial"/>
              </a:rPr>
              <a:t> Conclusion and final judgment </a:t>
            </a:r>
            <a:endParaRPr sz="2600" b="1" dirty="0">
              <a:solidFill>
                <a:srgbClr val="152649"/>
              </a:solidFill>
              <a:latin typeface="Arial"/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822960" y="16459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152649"/>
                </a:solidFill>
                <a:latin typeface="Arial"/>
              </a:rPr>
              <a:t>Transparent permissions</a:t>
            </a:r>
          </a:p>
          <a:p>
            <a:pPr algn="ctr"/>
            <a:r>
              <a:rPr sz="1500" dirty="0">
                <a:solidFill>
                  <a:srgbClr val="232323"/>
                </a:solidFill>
                <a:latin typeface="Arial"/>
              </a:rPr>
              <a:t>Users want clear control over data collection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Low-friction feedback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Prompts should be limited and preferably issue-based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4747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152649"/>
                </a:solidFill>
                <a:latin typeface="Arial"/>
              </a:rPr>
              <a:t>Useful user value</a:t>
            </a:r>
          </a:p>
          <a:p>
            <a:pPr algn="ctr"/>
            <a:r>
              <a:rPr sz="1500">
                <a:solidFill>
                  <a:srgbClr val="232323"/>
                </a:solidFill>
                <a:latin typeface="Arial"/>
              </a:rPr>
              <a:t>Reports, alerts and live performance views matter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3474720"/>
            <a:ext cx="4846320" cy="1371600"/>
          </a:xfrm>
          <a:prstGeom prst="roundRect">
            <a:avLst/>
          </a:prstGeom>
          <a:solidFill>
            <a:srgbClr val="F3F6FA"/>
          </a:solidFill>
          <a:ln>
            <a:solidFill>
              <a:srgbClr val="F3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152649"/>
                </a:solidFill>
                <a:latin typeface="Arial"/>
              </a:rPr>
              <a:t>What does this means for our subsequent task?</a:t>
            </a:r>
            <a:endParaRPr sz="2000" b="1" dirty="0">
              <a:solidFill>
                <a:srgbClr val="152649"/>
              </a:solidFill>
              <a:latin typeface="Arial"/>
            </a:endParaRPr>
          </a:p>
          <a:p>
            <a:pPr algn="ctr"/>
            <a:r>
              <a:rPr sz="1500" dirty="0">
                <a:solidFill>
                  <a:srgbClr val="232323"/>
                </a:solidFill>
                <a:latin typeface="Arial"/>
              </a:rPr>
              <a:t>Requirements can now be </a:t>
            </a:r>
            <a:r>
              <a:rPr sz="1500" dirty="0" err="1">
                <a:solidFill>
                  <a:srgbClr val="232323"/>
                </a:solidFill>
                <a:latin typeface="Arial"/>
              </a:rPr>
              <a:t>analysed</a:t>
            </a:r>
            <a:r>
              <a:rPr sz="1500" dirty="0">
                <a:solidFill>
                  <a:srgbClr val="232323"/>
                </a:solidFill>
                <a:latin typeface="Arial"/>
              </a:rPr>
              <a:t>, classified</a:t>
            </a:r>
            <a:r>
              <a:rPr lang="en-US" sz="1500" dirty="0">
                <a:solidFill>
                  <a:srgbClr val="232323"/>
                </a:solidFill>
                <a:latin typeface="Arial"/>
              </a:rPr>
              <a:t>, </a:t>
            </a:r>
            <a:r>
              <a:rPr sz="1500" dirty="0" err="1">
                <a:solidFill>
                  <a:srgbClr val="232323"/>
                </a:solidFill>
                <a:latin typeface="Arial"/>
              </a:rPr>
              <a:t>prioritised</a:t>
            </a:r>
            <a:r>
              <a:rPr lang="en-US" sz="1500" dirty="0">
                <a:solidFill>
                  <a:srgbClr val="232323"/>
                </a:solidFill>
                <a:latin typeface="Arial"/>
              </a:rPr>
              <a:t> </a:t>
            </a:r>
            <a:r>
              <a:rPr lang="en-US" sz="1500">
                <a:solidFill>
                  <a:srgbClr val="232323"/>
                </a:solidFill>
                <a:latin typeface="Arial"/>
              </a:rPr>
              <a:t>and documented</a:t>
            </a:r>
            <a:endParaRPr sz="1500" dirty="0">
              <a:solidFill>
                <a:srgbClr val="232323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6368716"/>
            <a:ext cx="11155680" cy="18288"/>
          </a:xfrm>
          <a:prstGeom prst="rect">
            <a:avLst/>
          </a:prstGeom>
          <a:solidFill>
            <a:srgbClr val="3465A4"/>
          </a:solidFill>
          <a:ln>
            <a:solidFill>
              <a:srgbClr val="346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064240" y="6419088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6708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1113</Words>
  <Application>Microsoft Office PowerPoint</Application>
  <PresentationFormat>Widescreen</PresentationFormat>
  <Paragraphs>241</Paragraphs>
  <Slides>17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Etuma Elkings</dc:creator>
  <dc:description>generated using python-pptx</dc:description>
  <cp:lastModifiedBy>Moukam hk</cp:lastModifiedBy>
  <cp:revision>6</cp:revision>
  <dcterms:created xsi:type="dcterms:W3CDTF">2013-01-27T09:14:16Z</dcterms:created>
  <dcterms:modified xsi:type="dcterms:W3CDTF">2026-04-27T22:33:50Z</dcterms:modified>
</cp:coreProperties>
</file>