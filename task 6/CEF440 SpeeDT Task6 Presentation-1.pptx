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4" r:id="rId17"/>
    <p:sldId id="285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E29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E29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E29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55980" y="1918461"/>
            <a:ext cx="3692525" cy="3566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7CD2FB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1E29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7380" y="722121"/>
            <a:ext cx="6418580" cy="5426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1E293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8805" y="1414144"/>
            <a:ext cx="10963910" cy="3835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4500" y="6625463"/>
            <a:ext cx="251650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06/16/26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43359" y="6625463"/>
            <a:ext cx="205231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93A2B8"/>
                </a:solidFill>
                <a:latin typeface="Calibri"/>
                <a:cs typeface="Calibri"/>
              </a:defRPr>
            </a:lvl1pPr>
          </a:lstStyle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26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4" y="489204"/>
              <a:ext cx="651510" cy="65151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54864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20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808" y="658368"/>
              <a:ext cx="283464" cy="2834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359153" y="627634"/>
            <a:ext cx="462343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85" dirty="0">
                <a:solidFill>
                  <a:srgbClr val="2462EB"/>
                </a:solidFill>
                <a:latin typeface="Calibri"/>
                <a:cs typeface="Calibri"/>
              </a:rPr>
              <a:t>CEF</a:t>
            </a:r>
            <a:r>
              <a:rPr sz="1300" b="1" spc="-15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90" dirty="0">
                <a:solidFill>
                  <a:srgbClr val="2462EB"/>
                </a:solidFill>
                <a:latin typeface="Calibri"/>
                <a:cs typeface="Calibri"/>
              </a:rPr>
              <a:t>440</a:t>
            </a:r>
            <a:r>
              <a:rPr sz="1300" b="1" spc="-14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:</a:t>
            </a:r>
            <a:r>
              <a:rPr sz="1300" b="1" spc="37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120" dirty="0">
                <a:solidFill>
                  <a:srgbClr val="2462EB"/>
                </a:solidFill>
                <a:latin typeface="Calibri"/>
                <a:cs typeface="Calibri"/>
              </a:rPr>
              <a:t>PROGRAMMING</a:t>
            </a:r>
            <a:r>
              <a:rPr sz="1300" b="1" spc="37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80" dirty="0">
                <a:solidFill>
                  <a:srgbClr val="2462EB"/>
                </a:solidFill>
                <a:latin typeface="Calibri"/>
                <a:cs typeface="Calibri"/>
              </a:rPr>
              <a:t>AND</a:t>
            </a:r>
            <a:r>
              <a:rPr sz="1300" b="1" spc="36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110" dirty="0">
                <a:solidFill>
                  <a:srgbClr val="2462EB"/>
                </a:solidFill>
                <a:latin typeface="Calibri"/>
                <a:cs typeface="Calibri"/>
              </a:rPr>
              <a:t>MOBILE</a:t>
            </a:r>
            <a:r>
              <a:rPr sz="1300" b="1" spc="37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110" dirty="0">
                <a:solidFill>
                  <a:srgbClr val="2462EB"/>
                </a:solidFill>
                <a:latin typeface="Calibri"/>
                <a:cs typeface="Calibri"/>
              </a:rPr>
              <a:t>PROGRAMMING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627380" y="2412314"/>
            <a:ext cx="498284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SpeeDT</a:t>
            </a:r>
            <a:r>
              <a:rPr sz="5400" spc="-165" dirty="0"/>
              <a:t> </a:t>
            </a:r>
            <a:r>
              <a:rPr sz="5400" spc="-10" dirty="0"/>
              <a:t>Database</a:t>
            </a:r>
            <a:endParaRPr sz="5400"/>
          </a:p>
        </p:txBody>
      </p:sp>
      <p:sp>
        <p:nvSpPr>
          <p:cNvPr id="9" name="object 9"/>
          <p:cNvSpPr txBox="1"/>
          <p:nvPr/>
        </p:nvSpPr>
        <p:spPr>
          <a:xfrm>
            <a:off x="645668" y="3415665"/>
            <a:ext cx="51009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35" dirty="0">
                <a:solidFill>
                  <a:srgbClr val="63748A"/>
                </a:solidFill>
                <a:latin typeface="Calibri"/>
                <a:cs typeface="Calibri"/>
              </a:rPr>
              <a:t>Task</a:t>
            </a:r>
            <a:r>
              <a:rPr sz="22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3748A"/>
                </a:solidFill>
                <a:latin typeface="Calibri"/>
                <a:cs typeface="Calibri"/>
              </a:rPr>
              <a:t>6:</a:t>
            </a:r>
            <a:r>
              <a:rPr sz="22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3748A"/>
                </a:solidFill>
                <a:latin typeface="Calibri"/>
                <a:cs typeface="Calibri"/>
              </a:rPr>
              <a:t>Database</a:t>
            </a:r>
            <a:r>
              <a:rPr sz="22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3748A"/>
                </a:solidFill>
                <a:latin typeface="Calibri"/>
                <a:cs typeface="Calibri"/>
              </a:rPr>
              <a:t>Design</a:t>
            </a:r>
            <a:r>
              <a:rPr sz="2200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22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63748A"/>
                </a:solidFill>
                <a:latin typeface="Calibri"/>
                <a:cs typeface="Calibri"/>
              </a:rPr>
              <a:t>Implementation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1876" y="4966677"/>
            <a:ext cx="2249805" cy="1496695"/>
            <a:chOff x="531876" y="4966677"/>
            <a:chExt cx="2249805" cy="149669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876" y="4966677"/>
              <a:ext cx="2249424" cy="149656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0080" y="5074919"/>
              <a:ext cx="1988185" cy="1234440"/>
            </a:xfrm>
            <a:custGeom>
              <a:avLst/>
              <a:gdLst/>
              <a:ahLst/>
              <a:cxnLst/>
              <a:rect l="l" t="t" r="r" b="b"/>
              <a:pathLst>
                <a:path w="1988185" h="1234439">
                  <a:moveTo>
                    <a:pt x="1896237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142999"/>
                  </a:lnTo>
                  <a:lnTo>
                    <a:pt x="7184" y="1178595"/>
                  </a:lnTo>
                  <a:lnTo>
                    <a:pt x="26779" y="1207660"/>
                  </a:lnTo>
                  <a:lnTo>
                    <a:pt x="55844" y="1227255"/>
                  </a:lnTo>
                  <a:lnTo>
                    <a:pt x="91440" y="1234439"/>
                  </a:lnTo>
                  <a:lnTo>
                    <a:pt x="1896237" y="1234439"/>
                  </a:lnTo>
                  <a:lnTo>
                    <a:pt x="1931848" y="1227255"/>
                  </a:lnTo>
                  <a:lnTo>
                    <a:pt x="1960911" y="1207660"/>
                  </a:lnTo>
                  <a:lnTo>
                    <a:pt x="1980497" y="1178595"/>
                  </a:lnTo>
                  <a:lnTo>
                    <a:pt x="1987677" y="1142999"/>
                  </a:lnTo>
                  <a:lnTo>
                    <a:pt x="1987677" y="91439"/>
                  </a:lnTo>
                  <a:lnTo>
                    <a:pt x="1980497" y="55828"/>
                  </a:lnTo>
                  <a:lnTo>
                    <a:pt x="1960911" y="26765"/>
                  </a:lnTo>
                  <a:lnTo>
                    <a:pt x="1931848" y="7179"/>
                  </a:lnTo>
                  <a:lnTo>
                    <a:pt x="18962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0080" y="5074919"/>
              <a:ext cx="1988185" cy="1234440"/>
            </a:xfrm>
            <a:custGeom>
              <a:avLst/>
              <a:gdLst/>
              <a:ahLst/>
              <a:cxnLst/>
              <a:rect l="l" t="t" r="r" b="b"/>
              <a:pathLst>
                <a:path w="1988185" h="1234439">
                  <a:moveTo>
                    <a:pt x="0" y="91439"/>
                  </a:moveTo>
                  <a:lnTo>
                    <a:pt x="7184" y="55828"/>
                  </a:lnTo>
                  <a:lnTo>
                    <a:pt x="26779" y="26765"/>
                  </a:lnTo>
                  <a:lnTo>
                    <a:pt x="55844" y="7179"/>
                  </a:lnTo>
                  <a:lnTo>
                    <a:pt x="91440" y="0"/>
                  </a:lnTo>
                  <a:lnTo>
                    <a:pt x="1896237" y="0"/>
                  </a:lnTo>
                  <a:lnTo>
                    <a:pt x="1931848" y="7179"/>
                  </a:lnTo>
                  <a:lnTo>
                    <a:pt x="1960911" y="26765"/>
                  </a:lnTo>
                  <a:lnTo>
                    <a:pt x="1980497" y="55828"/>
                  </a:lnTo>
                  <a:lnTo>
                    <a:pt x="1987677" y="91439"/>
                  </a:lnTo>
                  <a:lnTo>
                    <a:pt x="1987677" y="1142999"/>
                  </a:lnTo>
                  <a:lnTo>
                    <a:pt x="1980497" y="1178595"/>
                  </a:lnTo>
                  <a:lnTo>
                    <a:pt x="1960911" y="1207660"/>
                  </a:lnTo>
                  <a:lnTo>
                    <a:pt x="1931848" y="1227255"/>
                  </a:lnTo>
                  <a:lnTo>
                    <a:pt x="1896237" y="1234439"/>
                  </a:lnTo>
                  <a:lnTo>
                    <a:pt x="91440" y="1234439"/>
                  </a:lnTo>
                  <a:lnTo>
                    <a:pt x="55844" y="1227255"/>
                  </a:lnTo>
                  <a:lnTo>
                    <a:pt x="26779" y="1207660"/>
                  </a:lnTo>
                  <a:lnTo>
                    <a:pt x="7184" y="1178595"/>
                  </a:lnTo>
                  <a:lnTo>
                    <a:pt x="0" y="1142999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55980" y="5226558"/>
            <a:ext cx="1200150" cy="77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70" dirty="0">
                <a:solidFill>
                  <a:srgbClr val="2462EB"/>
                </a:solidFill>
                <a:latin typeface="Calibri"/>
                <a:cs typeface="Calibri"/>
              </a:rPr>
              <a:t>GROUP</a:t>
            </a:r>
            <a:r>
              <a:rPr sz="1100" b="1" spc="21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2462EB"/>
                </a:solidFill>
                <a:latin typeface="Calibri"/>
                <a:cs typeface="Calibri"/>
              </a:rPr>
              <a:t>4</a:t>
            </a: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30000"/>
              </a:lnSpc>
              <a:spcBef>
                <a:spcPts val="805"/>
              </a:spcBef>
            </a:pPr>
            <a:r>
              <a:rPr sz="1200" dirty="0">
                <a:solidFill>
                  <a:srgbClr val="63748A"/>
                </a:solidFill>
                <a:latin typeface="Calibri"/>
                <a:cs typeface="Calibri"/>
              </a:rPr>
              <a:t>Course</a:t>
            </a:r>
            <a:r>
              <a:rPr sz="12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63748A"/>
                </a:solidFill>
                <a:latin typeface="Calibri"/>
                <a:cs typeface="Calibri"/>
              </a:rPr>
              <a:t>Instructor </a:t>
            </a:r>
            <a:r>
              <a:rPr sz="1200" spc="-40" dirty="0">
                <a:solidFill>
                  <a:srgbClr val="63748A"/>
                </a:solidFill>
                <a:latin typeface="Calibri"/>
                <a:cs typeface="Calibri"/>
              </a:rPr>
              <a:t>Dr.</a:t>
            </a:r>
            <a:r>
              <a:rPr sz="12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63748A"/>
                </a:solidFill>
                <a:latin typeface="Calibri"/>
                <a:cs typeface="Calibri"/>
              </a:rPr>
              <a:t>Nkemeni Valery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7380" y="6502400"/>
            <a:ext cx="32759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University</a:t>
            </a:r>
            <a:r>
              <a:rPr sz="1100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Buea</a:t>
            </a:r>
            <a:r>
              <a:rPr sz="1100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Faculty</a:t>
            </a:r>
            <a:r>
              <a:rPr sz="1100" spc="-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of</a:t>
            </a:r>
            <a:r>
              <a:rPr sz="1100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Engineering</a:t>
            </a:r>
            <a:r>
              <a:rPr sz="1100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3A2B8"/>
                </a:solidFill>
                <a:latin typeface="Calibri"/>
                <a:cs typeface="Calibri"/>
              </a:rPr>
              <a:t>and</a:t>
            </a:r>
            <a:r>
              <a:rPr sz="1100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Calibri"/>
                <a:cs typeface="Calibri"/>
              </a:rPr>
              <a:t>Technology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What</a:t>
            </a:r>
            <a:r>
              <a:rPr sz="3200" spc="-75" dirty="0"/>
              <a:t> </a:t>
            </a:r>
            <a:r>
              <a:rPr sz="3200" dirty="0"/>
              <a:t>We</a:t>
            </a:r>
            <a:r>
              <a:rPr sz="3200" spc="-55" dirty="0"/>
              <a:t> </a:t>
            </a:r>
            <a:r>
              <a:rPr sz="3200" dirty="0"/>
              <a:t>Will</a:t>
            </a:r>
            <a:r>
              <a:rPr sz="3200" spc="-60" dirty="0"/>
              <a:t> </a:t>
            </a:r>
            <a:r>
              <a:rPr sz="3200" spc="-10" dirty="0"/>
              <a:t>Cover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589737" y="1549850"/>
            <a:ext cx="5480050" cy="1548130"/>
            <a:chOff x="589737" y="1549850"/>
            <a:chExt cx="5480050" cy="15481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37" y="1549850"/>
              <a:ext cx="5479643" cy="15477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79" y="160019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5266944" y="0"/>
                  </a:moveTo>
                  <a:lnTo>
                    <a:pt x="82296" y="0"/>
                  </a:lnTo>
                  <a:lnTo>
                    <a:pt x="50261" y="6465"/>
                  </a:lnTo>
                  <a:lnTo>
                    <a:pt x="24103" y="24098"/>
                  </a:lnTo>
                  <a:lnTo>
                    <a:pt x="6466" y="50256"/>
                  </a:lnTo>
                  <a:lnTo>
                    <a:pt x="0" y="82296"/>
                  </a:lnTo>
                  <a:lnTo>
                    <a:pt x="0" y="1335024"/>
                  </a:lnTo>
                  <a:lnTo>
                    <a:pt x="6466" y="1367063"/>
                  </a:lnTo>
                  <a:lnTo>
                    <a:pt x="24103" y="1393221"/>
                  </a:lnTo>
                  <a:lnTo>
                    <a:pt x="50261" y="1410854"/>
                  </a:lnTo>
                  <a:lnTo>
                    <a:pt x="82296" y="1417320"/>
                  </a:lnTo>
                  <a:lnTo>
                    <a:pt x="5266944" y="1417320"/>
                  </a:lnTo>
                  <a:lnTo>
                    <a:pt x="5298983" y="1410854"/>
                  </a:lnTo>
                  <a:lnTo>
                    <a:pt x="5325141" y="1393221"/>
                  </a:lnTo>
                  <a:lnTo>
                    <a:pt x="5342774" y="1367063"/>
                  </a:lnTo>
                  <a:lnTo>
                    <a:pt x="5349240" y="1335024"/>
                  </a:lnTo>
                  <a:lnTo>
                    <a:pt x="5349240" y="82296"/>
                  </a:lnTo>
                  <a:lnTo>
                    <a:pt x="5342774" y="50256"/>
                  </a:lnTo>
                  <a:lnTo>
                    <a:pt x="5325141" y="24098"/>
                  </a:lnTo>
                  <a:lnTo>
                    <a:pt x="5298983" y="6465"/>
                  </a:lnTo>
                  <a:lnTo>
                    <a:pt x="5266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79" y="160019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0" y="82296"/>
                  </a:moveTo>
                  <a:lnTo>
                    <a:pt x="6466" y="50256"/>
                  </a:lnTo>
                  <a:lnTo>
                    <a:pt x="24103" y="24098"/>
                  </a:lnTo>
                  <a:lnTo>
                    <a:pt x="50261" y="6465"/>
                  </a:lnTo>
                  <a:lnTo>
                    <a:pt x="82296" y="0"/>
                  </a:lnTo>
                  <a:lnTo>
                    <a:pt x="5266944" y="0"/>
                  </a:lnTo>
                  <a:lnTo>
                    <a:pt x="5298983" y="6465"/>
                  </a:lnTo>
                  <a:lnTo>
                    <a:pt x="5325141" y="24098"/>
                  </a:lnTo>
                  <a:lnTo>
                    <a:pt x="5342774" y="50256"/>
                  </a:lnTo>
                  <a:lnTo>
                    <a:pt x="5349240" y="82296"/>
                  </a:lnTo>
                  <a:lnTo>
                    <a:pt x="5349240" y="1335024"/>
                  </a:lnTo>
                  <a:lnTo>
                    <a:pt x="5342774" y="1367063"/>
                  </a:lnTo>
                  <a:lnTo>
                    <a:pt x="5325141" y="1393221"/>
                  </a:lnTo>
                  <a:lnTo>
                    <a:pt x="5298983" y="1410854"/>
                  </a:lnTo>
                  <a:lnTo>
                    <a:pt x="5266944" y="1417320"/>
                  </a:lnTo>
                  <a:lnTo>
                    <a:pt x="82296" y="1417320"/>
                  </a:lnTo>
                  <a:lnTo>
                    <a:pt x="50261" y="1410854"/>
                  </a:lnTo>
                  <a:lnTo>
                    <a:pt x="24103" y="1393221"/>
                  </a:lnTo>
                  <a:lnTo>
                    <a:pt x="6466" y="1367063"/>
                  </a:lnTo>
                  <a:lnTo>
                    <a:pt x="0" y="133502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679" y="1851659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179" y="0"/>
                  </a:moveTo>
                  <a:lnTo>
                    <a:pt x="248977" y="3890"/>
                  </a:lnTo>
                  <a:lnTo>
                    <a:pt x="203250" y="15154"/>
                  </a:lnTo>
                  <a:lnTo>
                    <a:pt x="160611" y="33179"/>
                  </a:lnTo>
                  <a:lnTo>
                    <a:pt x="121671" y="57351"/>
                  </a:lnTo>
                  <a:lnTo>
                    <a:pt x="87044" y="87058"/>
                  </a:lnTo>
                  <a:lnTo>
                    <a:pt x="57340" y="121688"/>
                  </a:lnTo>
                  <a:lnTo>
                    <a:pt x="33171" y="160628"/>
                  </a:lnTo>
                  <a:lnTo>
                    <a:pt x="15150" y="203265"/>
                  </a:lnTo>
                  <a:lnTo>
                    <a:pt x="3889" y="248986"/>
                  </a:lnTo>
                  <a:lnTo>
                    <a:pt x="0" y="297179"/>
                  </a:lnTo>
                  <a:lnTo>
                    <a:pt x="3889" y="345373"/>
                  </a:lnTo>
                  <a:lnTo>
                    <a:pt x="15150" y="391094"/>
                  </a:lnTo>
                  <a:lnTo>
                    <a:pt x="33171" y="433731"/>
                  </a:lnTo>
                  <a:lnTo>
                    <a:pt x="57340" y="472671"/>
                  </a:lnTo>
                  <a:lnTo>
                    <a:pt x="87044" y="507301"/>
                  </a:lnTo>
                  <a:lnTo>
                    <a:pt x="121671" y="537008"/>
                  </a:lnTo>
                  <a:lnTo>
                    <a:pt x="160611" y="561180"/>
                  </a:lnTo>
                  <a:lnTo>
                    <a:pt x="203250" y="579205"/>
                  </a:lnTo>
                  <a:lnTo>
                    <a:pt x="248977" y="590469"/>
                  </a:lnTo>
                  <a:lnTo>
                    <a:pt x="297179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79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4983" y="1997963"/>
              <a:ext cx="301752" cy="3017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87753" y="1801494"/>
            <a:ext cx="14446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1.</a:t>
            </a:r>
            <a:r>
              <a:rPr sz="1600" b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600" b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Elements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87753" y="2430525"/>
            <a:ext cx="337439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fields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system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needs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store,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across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four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entities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13297" y="1549850"/>
            <a:ext cx="5480050" cy="1548130"/>
            <a:chOff x="6213297" y="1549850"/>
            <a:chExt cx="5480050" cy="15481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3297" y="1549850"/>
              <a:ext cx="5479643" cy="154773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63640" y="160019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526694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1335024"/>
                  </a:lnTo>
                  <a:lnTo>
                    <a:pt x="6465" y="1367063"/>
                  </a:lnTo>
                  <a:lnTo>
                    <a:pt x="24098" y="1393221"/>
                  </a:lnTo>
                  <a:lnTo>
                    <a:pt x="50256" y="1410854"/>
                  </a:lnTo>
                  <a:lnTo>
                    <a:pt x="82296" y="1417320"/>
                  </a:lnTo>
                  <a:lnTo>
                    <a:pt x="5266944" y="1417320"/>
                  </a:lnTo>
                  <a:lnTo>
                    <a:pt x="5298983" y="1410854"/>
                  </a:lnTo>
                  <a:lnTo>
                    <a:pt x="5325141" y="1393221"/>
                  </a:lnTo>
                  <a:lnTo>
                    <a:pt x="5342774" y="1367063"/>
                  </a:lnTo>
                  <a:lnTo>
                    <a:pt x="5349240" y="1335024"/>
                  </a:lnTo>
                  <a:lnTo>
                    <a:pt x="5349240" y="82296"/>
                  </a:lnTo>
                  <a:lnTo>
                    <a:pt x="5342774" y="50256"/>
                  </a:lnTo>
                  <a:lnTo>
                    <a:pt x="5325141" y="24098"/>
                  </a:lnTo>
                  <a:lnTo>
                    <a:pt x="5298983" y="6465"/>
                  </a:lnTo>
                  <a:lnTo>
                    <a:pt x="5266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63640" y="160019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5266944" y="0"/>
                  </a:lnTo>
                  <a:lnTo>
                    <a:pt x="5298983" y="6465"/>
                  </a:lnTo>
                  <a:lnTo>
                    <a:pt x="5325141" y="24098"/>
                  </a:lnTo>
                  <a:lnTo>
                    <a:pt x="5342774" y="50256"/>
                  </a:lnTo>
                  <a:lnTo>
                    <a:pt x="5349240" y="82296"/>
                  </a:lnTo>
                  <a:lnTo>
                    <a:pt x="5349240" y="1335024"/>
                  </a:lnTo>
                  <a:lnTo>
                    <a:pt x="5342774" y="1367063"/>
                  </a:lnTo>
                  <a:lnTo>
                    <a:pt x="5325141" y="1393221"/>
                  </a:lnTo>
                  <a:lnTo>
                    <a:pt x="5298983" y="1410854"/>
                  </a:lnTo>
                  <a:lnTo>
                    <a:pt x="5266944" y="1417320"/>
                  </a:lnTo>
                  <a:lnTo>
                    <a:pt x="82296" y="1417320"/>
                  </a:lnTo>
                  <a:lnTo>
                    <a:pt x="50256" y="1410854"/>
                  </a:lnTo>
                  <a:lnTo>
                    <a:pt x="24098" y="1393221"/>
                  </a:lnTo>
                  <a:lnTo>
                    <a:pt x="6465" y="1367063"/>
                  </a:lnTo>
                  <a:lnTo>
                    <a:pt x="0" y="133502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92240" y="1851659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297180" y="0"/>
                  </a:moveTo>
                  <a:lnTo>
                    <a:pt x="248986" y="3890"/>
                  </a:lnTo>
                  <a:lnTo>
                    <a:pt x="203265" y="15154"/>
                  </a:lnTo>
                  <a:lnTo>
                    <a:pt x="160628" y="33179"/>
                  </a:lnTo>
                  <a:lnTo>
                    <a:pt x="121688" y="57351"/>
                  </a:lnTo>
                  <a:lnTo>
                    <a:pt x="87058" y="87058"/>
                  </a:lnTo>
                  <a:lnTo>
                    <a:pt x="57351" y="121688"/>
                  </a:lnTo>
                  <a:lnTo>
                    <a:pt x="33179" y="160628"/>
                  </a:lnTo>
                  <a:lnTo>
                    <a:pt x="15154" y="203265"/>
                  </a:lnTo>
                  <a:lnTo>
                    <a:pt x="3890" y="248986"/>
                  </a:lnTo>
                  <a:lnTo>
                    <a:pt x="0" y="297179"/>
                  </a:lnTo>
                  <a:lnTo>
                    <a:pt x="3890" y="345373"/>
                  </a:lnTo>
                  <a:lnTo>
                    <a:pt x="15154" y="391094"/>
                  </a:lnTo>
                  <a:lnTo>
                    <a:pt x="33179" y="433731"/>
                  </a:lnTo>
                  <a:lnTo>
                    <a:pt x="57351" y="472671"/>
                  </a:lnTo>
                  <a:lnTo>
                    <a:pt x="87058" y="507301"/>
                  </a:lnTo>
                  <a:lnTo>
                    <a:pt x="121688" y="537008"/>
                  </a:lnTo>
                  <a:lnTo>
                    <a:pt x="160628" y="561180"/>
                  </a:lnTo>
                  <a:lnTo>
                    <a:pt x="203265" y="579205"/>
                  </a:lnTo>
                  <a:lnTo>
                    <a:pt x="248986" y="590469"/>
                  </a:lnTo>
                  <a:lnTo>
                    <a:pt x="297180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79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8544" y="1997963"/>
              <a:ext cx="301751" cy="30175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11948" y="1801494"/>
            <a:ext cx="17919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2.</a:t>
            </a:r>
            <a:r>
              <a:rPr sz="1600" b="1" spc="-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Conceptual</a:t>
            </a:r>
            <a:r>
              <a:rPr sz="1600" b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Design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11948" y="2430525"/>
            <a:ext cx="37636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Chen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ER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notation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showing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entities,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relationships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attributes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9737" y="3195770"/>
            <a:ext cx="5480050" cy="1548130"/>
            <a:chOff x="589737" y="3195770"/>
            <a:chExt cx="5480050" cy="154813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37" y="3195770"/>
              <a:ext cx="5479643" cy="15477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079" y="3246120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5266944" y="0"/>
                  </a:moveTo>
                  <a:lnTo>
                    <a:pt x="82296" y="0"/>
                  </a:lnTo>
                  <a:lnTo>
                    <a:pt x="50261" y="6465"/>
                  </a:lnTo>
                  <a:lnTo>
                    <a:pt x="24103" y="24098"/>
                  </a:lnTo>
                  <a:lnTo>
                    <a:pt x="6466" y="50256"/>
                  </a:lnTo>
                  <a:lnTo>
                    <a:pt x="0" y="82295"/>
                  </a:lnTo>
                  <a:lnTo>
                    <a:pt x="0" y="1335023"/>
                  </a:lnTo>
                  <a:lnTo>
                    <a:pt x="6466" y="1367063"/>
                  </a:lnTo>
                  <a:lnTo>
                    <a:pt x="24103" y="1393221"/>
                  </a:lnTo>
                  <a:lnTo>
                    <a:pt x="50261" y="1410854"/>
                  </a:lnTo>
                  <a:lnTo>
                    <a:pt x="82296" y="1417319"/>
                  </a:lnTo>
                  <a:lnTo>
                    <a:pt x="5266944" y="1417319"/>
                  </a:lnTo>
                  <a:lnTo>
                    <a:pt x="5298983" y="1410854"/>
                  </a:lnTo>
                  <a:lnTo>
                    <a:pt x="5325141" y="1393221"/>
                  </a:lnTo>
                  <a:lnTo>
                    <a:pt x="5342774" y="1367063"/>
                  </a:lnTo>
                  <a:lnTo>
                    <a:pt x="5349240" y="1335023"/>
                  </a:lnTo>
                  <a:lnTo>
                    <a:pt x="5349240" y="82295"/>
                  </a:lnTo>
                  <a:lnTo>
                    <a:pt x="5342774" y="50256"/>
                  </a:lnTo>
                  <a:lnTo>
                    <a:pt x="5325141" y="24098"/>
                  </a:lnTo>
                  <a:lnTo>
                    <a:pt x="5298983" y="6465"/>
                  </a:lnTo>
                  <a:lnTo>
                    <a:pt x="5266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79" y="3246120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0" y="82295"/>
                  </a:moveTo>
                  <a:lnTo>
                    <a:pt x="6466" y="50256"/>
                  </a:lnTo>
                  <a:lnTo>
                    <a:pt x="24103" y="24098"/>
                  </a:lnTo>
                  <a:lnTo>
                    <a:pt x="50261" y="6465"/>
                  </a:lnTo>
                  <a:lnTo>
                    <a:pt x="82296" y="0"/>
                  </a:lnTo>
                  <a:lnTo>
                    <a:pt x="5266944" y="0"/>
                  </a:lnTo>
                  <a:lnTo>
                    <a:pt x="5298983" y="6465"/>
                  </a:lnTo>
                  <a:lnTo>
                    <a:pt x="5325141" y="24098"/>
                  </a:lnTo>
                  <a:lnTo>
                    <a:pt x="5342774" y="50256"/>
                  </a:lnTo>
                  <a:lnTo>
                    <a:pt x="5349240" y="82295"/>
                  </a:lnTo>
                  <a:lnTo>
                    <a:pt x="5349240" y="1335023"/>
                  </a:lnTo>
                  <a:lnTo>
                    <a:pt x="5342774" y="1367063"/>
                  </a:lnTo>
                  <a:lnTo>
                    <a:pt x="5325141" y="1393221"/>
                  </a:lnTo>
                  <a:lnTo>
                    <a:pt x="5298983" y="1410854"/>
                  </a:lnTo>
                  <a:lnTo>
                    <a:pt x="5266944" y="1417319"/>
                  </a:lnTo>
                  <a:lnTo>
                    <a:pt x="82296" y="1417319"/>
                  </a:lnTo>
                  <a:lnTo>
                    <a:pt x="50261" y="1410854"/>
                  </a:lnTo>
                  <a:lnTo>
                    <a:pt x="24103" y="1393221"/>
                  </a:lnTo>
                  <a:lnTo>
                    <a:pt x="6466" y="1367063"/>
                  </a:lnTo>
                  <a:lnTo>
                    <a:pt x="0" y="1335023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8679" y="349758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179" y="0"/>
                  </a:moveTo>
                  <a:lnTo>
                    <a:pt x="248977" y="3890"/>
                  </a:lnTo>
                  <a:lnTo>
                    <a:pt x="203250" y="15154"/>
                  </a:lnTo>
                  <a:lnTo>
                    <a:pt x="160611" y="33179"/>
                  </a:lnTo>
                  <a:lnTo>
                    <a:pt x="121671" y="57351"/>
                  </a:lnTo>
                  <a:lnTo>
                    <a:pt x="87044" y="87058"/>
                  </a:lnTo>
                  <a:lnTo>
                    <a:pt x="57340" y="121688"/>
                  </a:lnTo>
                  <a:lnTo>
                    <a:pt x="33171" y="160628"/>
                  </a:lnTo>
                  <a:lnTo>
                    <a:pt x="15150" y="203265"/>
                  </a:lnTo>
                  <a:lnTo>
                    <a:pt x="3889" y="248986"/>
                  </a:lnTo>
                  <a:lnTo>
                    <a:pt x="0" y="297180"/>
                  </a:lnTo>
                  <a:lnTo>
                    <a:pt x="3889" y="345373"/>
                  </a:lnTo>
                  <a:lnTo>
                    <a:pt x="15150" y="391094"/>
                  </a:lnTo>
                  <a:lnTo>
                    <a:pt x="33171" y="433731"/>
                  </a:lnTo>
                  <a:lnTo>
                    <a:pt x="57340" y="472671"/>
                  </a:lnTo>
                  <a:lnTo>
                    <a:pt x="87044" y="507301"/>
                  </a:lnTo>
                  <a:lnTo>
                    <a:pt x="121671" y="537008"/>
                  </a:lnTo>
                  <a:lnTo>
                    <a:pt x="160611" y="561180"/>
                  </a:lnTo>
                  <a:lnTo>
                    <a:pt x="203250" y="579205"/>
                  </a:lnTo>
                  <a:lnTo>
                    <a:pt x="248977" y="590469"/>
                  </a:lnTo>
                  <a:lnTo>
                    <a:pt x="297179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4983" y="3643884"/>
              <a:ext cx="301752" cy="301751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87753" y="3447669"/>
            <a:ext cx="11938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3.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ER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 Diagram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7753" y="4076827"/>
            <a:ext cx="320675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Tables,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columns,</a:t>
            </a:r>
            <a:r>
              <a:rPr sz="11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types,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primary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foreign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keys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13297" y="3195770"/>
            <a:ext cx="5480050" cy="1548130"/>
            <a:chOff x="6213297" y="3195770"/>
            <a:chExt cx="5480050" cy="1548130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3297" y="3195770"/>
              <a:ext cx="5479643" cy="154773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263640" y="3246120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526694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335023"/>
                  </a:lnTo>
                  <a:lnTo>
                    <a:pt x="6465" y="1367063"/>
                  </a:lnTo>
                  <a:lnTo>
                    <a:pt x="24098" y="1393221"/>
                  </a:lnTo>
                  <a:lnTo>
                    <a:pt x="50256" y="1410854"/>
                  </a:lnTo>
                  <a:lnTo>
                    <a:pt x="82296" y="1417319"/>
                  </a:lnTo>
                  <a:lnTo>
                    <a:pt x="5266944" y="1417319"/>
                  </a:lnTo>
                  <a:lnTo>
                    <a:pt x="5298983" y="1410854"/>
                  </a:lnTo>
                  <a:lnTo>
                    <a:pt x="5325141" y="1393221"/>
                  </a:lnTo>
                  <a:lnTo>
                    <a:pt x="5342774" y="1367063"/>
                  </a:lnTo>
                  <a:lnTo>
                    <a:pt x="5349240" y="1335023"/>
                  </a:lnTo>
                  <a:lnTo>
                    <a:pt x="5349240" y="82295"/>
                  </a:lnTo>
                  <a:lnTo>
                    <a:pt x="5342774" y="50256"/>
                  </a:lnTo>
                  <a:lnTo>
                    <a:pt x="5325141" y="24098"/>
                  </a:lnTo>
                  <a:lnTo>
                    <a:pt x="5298983" y="6465"/>
                  </a:lnTo>
                  <a:lnTo>
                    <a:pt x="5266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63640" y="3246120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0" y="82295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5266944" y="0"/>
                  </a:lnTo>
                  <a:lnTo>
                    <a:pt x="5298983" y="6465"/>
                  </a:lnTo>
                  <a:lnTo>
                    <a:pt x="5325141" y="24098"/>
                  </a:lnTo>
                  <a:lnTo>
                    <a:pt x="5342774" y="50256"/>
                  </a:lnTo>
                  <a:lnTo>
                    <a:pt x="5349240" y="82295"/>
                  </a:lnTo>
                  <a:lnTo>
                    <a:pt x="5349240" y="1335023"/>
                  </a:lnTo>
                  <a:lnTo>
                    <a:pt x="5342774" y="1367063"/>
                  </a:lnTo>
                  <a:lnTo>
                    <a:pt x="5325141" y="1393221"/>
                  </a:lnTo>
                  <a:lnTo>
                    <a:pt x="5298983" y="1410854"/>
                  </a:lnTo>
                  <a:lnTo>
                    <a:pt x="5266944" y="1417319"/>
                  </a:lnTo>
                  <a:lnTo>
                    <a:pt x="82296" y="1417319"/>
                  </a:lnTo>
                  <a:lnTo>
                    <a:pt x="50256" y="1410854"/>
                  </a:lnTo>
                  <a:lnTo>
                    <a:pt x="24098" y="1393221"/>
                  </a:lnTo>
                  <a:lnTo>
                    <a:pt x="6465" y="1367063"/>
                  </a:lnTo>
                  <a:lnTo>
                    <a:pt x="0" y="1335023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492240" y="3497580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297180" y="0"/>
                  </a:moveTo>
                  <a:lnTo>
                    <a:pt x="248986" y="3890"/>
                  </a:lnTo>
                  <a:lnTo>
                    <a:pt x="203265" y="15154"/>
                  </a:lnTo>
                  <a:lnTo>
                    <a:pt x="160628" y="33179"/>
                  </a:lnTo>
                  <a:lnTo>
                    <a:pt x="121688" y="57351"/>
                  </a:lnTo>
                  <a:lnTo>
                    <a:pt x="87058" y="87058"/>
                  </a:lnTo>
                  <a:lnTo>
                    <a:pt x="57351" y="121688"/>
                  </a:lnTo>
                  <a:lnTo>
                    <a:pt x="33179" y="160628"/>
                  </a:lnTo>
                  <a:lnTo>
                    <a:pt x="15154" y="203265"/>
                  </a:lnTo>
                  <a:lnTo>
                    <a:pt x="3890" y="248986"/>
                  </a:lnTo>
                  <a:lnTo>
                    <a:pt x="0" y="297180"/>
                  </a:lnTo>
                  <a:lnTo>
                    <a:pt x="3890" y="345373"/>
                  </a:lnTo>
                  <a:lnTo>
                    <a:pt x="15154" y="391094"/>
                  </a:lnTo>
                  <a:lnTo>
                    <a:pt x="33179" y="433731"/>
                  </a:lnTo>
                  <a:lnTo>
                    <a:pt x="57351" y="472671"/>
                  </a:lnTo>
                  <a:lnTo>
                    <a:pt x="87058" y="507301"/>
                  </a:lnTo>
                  <a:lnTo>
                    <a:pt x="121688" y="537008"/>
                  </a:lnTo>
                  <a:lnTo>
                    <a:pt x="160628" y="561180"/>
                  </a:lnTo>
                  <a:lnTo>
                    <a:pt x="203265" y="579205"/>
                  </a:lnTo>
                  <a:lnTo>
                    <a:pt x="248986" y="590469"/>
                  </a:lnTo>
                  <a:lnTo>
                    <a:pt x="297180" y="594360"/>
                  </a:lnTo>
                  <a:lnTo>
                    <a:pt x="345373" y="590469"/>
                  </a:lnTo>
                  <a:lnTo>
                    <a:pt x="391094" y="579205"/>
                  </a:lnTo>
                  <a:lnTo>
                    <a:pt x="433731" y="561180"/>
                  </a:lnTo>
                  <a:lnTo>
                    <a:pt x="472671" y="537008"/>
                  </a:lnTo>
                  <a:lnTo>
                    <a:pt x="507301" y="507301"/>
                  </a:lnTo>
                  <a:lnTo>
                    <a:pt x="537008" y="472671"/>
                  </a:lnTo>
                  <a:lnTo>
                    <a:pt x="561180" y="433731"/>
                  </a:lnTo>
                  <a:lnTo>
                    <a:pt x="579205" y="391094"/>
                  </a:lnTo>
                  <a:lnTo>
                    <a:pt x="590469" y="345373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38544" y="3643884"/>
              <a:ext cx="301751" cy="301751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7211948" y="3447669"/>
            <a:ext cx="24199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4.</a:t>
            </a:r>
            <a:r>
              <a:rPr sz="1600" b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Database</a:t>
            </a:r>
            <a:r>
              <a:rPr sz="1600" b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Implementation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211948" y="4076827"/>
            <a:ext cx="37903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SQL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schema,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constraints,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indexes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on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PostgreSQL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/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Neon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DB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89737" y="4841664"/>
            <a:ext cx="5480050" cy="1548130"/>
            <a:chOff x="589737" y="4841664"/>
            <a:chExt cx="5480050" cy="1548130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37" y="4841664"/>
              <a:ext cx="5479643" cy="154773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0079" y="489203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5266944" y="0"/>
                  </a:moveTo>
                  <a:lnTo>
                    <a:pt x="82296" y="0"/>
                  </a:lnTo>
                  <a:lnTo>
                    <a:pt x="50261" y="6465"/>
                  </a:lnTo>
                  <a:lnTo>
                    <a:pt x="24103" y="24098"/>
                  </a:lnTo>
                  <a:lnTo>
                    <a:pt x="6466" y="50256"/>
                  </a:lnTo>
                  <a:lnTo>
                    <a:pt x="0" y="82296"/>
                  </a:lnTo>
                  <a:lnTo>
                    <a:pt x="0" y="1335024"/>
                  </a:lnTo>
                  <a:lnTo>
                    <a:pt x="6466" y="1367058"/>
                  </a:lnTo>
                  <a:lnTo>
                    <a:pt x="24103" y="1393216"/>
                  </a:lnTo>
                  <a:lnTo>
                    <a:pt x="50261" y="1410853"/>
                  </a:lnTo>
                  <a:lnTo>
                    <a:pt x="82296" y="1417320"/>
                  </a:lnTo>
                  <a:lnTo>
                    <a:pt x="5266944" y="1417320"/>
                  </a:lnTo>
                  <a:lnTo>
                    <a:pt x="5298983" y="1410853"/>
                  </a:lnTo>
                  <a:lnTo>
                    <a:pt x="5325141" y="1393216"/>
                  </a:lnTo>
                  <a:lnTo>
                    <a:pt x="5342774" y="1367058"/>
                  </a:lnTo>
                  <a:lnTo>
                    <a:pt x="5349240" y="1335024"/>
                  </a:lnTo>
                  <a:lnTo>
                    <a:pt x="5349240" y="82296"/>
                  </a:lnTo>
                  <a:lnTo>
                    <a:pt x="5342774" y="50256"/>
                  </a:lnTo>
                  <a:lnTo>
                    <a:pt x="5325141" y="24098"/>
                  </a:lnTo>
                  <a:lnTo>
                    <a:pt x="5298983" y="6465"/>
                  </a:lnTo>
                  <a:lnTo>
                    <a:pt x="5266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0079" y="489203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0" y="82296"/>
                  </a:moveTo>
                  <a:lnTo>
                    <a:pt x="6466" y="50256"/>
                  </a:lnTo>
                  <a:lnTo>
                    <a:pt x="24103" y="24098"/>
                  </a:lnTo>
                  <a:lnTo>
                    <a:pt x="50261" y="6465"/>
                  </a:lnTo>
                  <a:lnTo>
                    <a:pt x="82296" y="0"/>
                  </a:lnTo>
                  <a:lnTo>
                    <a:pt x="5266944" y="0"/>
                  </a:lnTo>
                  <a:lnTo>
                    <a:pt x="5298983" y="6465"/>
                  </a:lnTo>
                  <a:lnTo>
                    <a:pt x="5325141" y="24098"/>
                  </a:lnTo>
                  <a:lnTo>
                    <a:pt x="5342774" y="50256"/>
                  </a:lnTo>
                  <a:lnTo>
                    <a:pt x="5349240" y="82296"/>
                  </a:lnTo>
                  <a:lnTo>
                    <a:pt x="5349240" y="1335024"/>
                  </a:lnTo>
                  <a:lnTo>
                    <a:pt x="5342774" y="1367058"/>
                  </a:lnTo>
                  <a:lnTo>
                    <a:pt x="5325141" y="1393216"/>
                  </a:lnTo>
                  <a:lnTo>
                    <a:pt x="5298983" y="1410853"/>
                  </a:lnTo>
                  <a:lnTo>
                    <a:pt x="5266944" y="1417320"/>
                  </a:lnTo>
                  <a:lnTo>
                    <a:pt x="82296" y="1417320"/>
                  </a:lnTo>
                  <a:lnTo>
                    <a:pt x="50261" y="1410853"/>
                  </a:lnTo>
                  <a:lnTo>
                    <a:pt x="24103" y="1393216"/>
                  </a:lnTo>
                  <a:lnTo>
                    <a:pt x="6466" y="1367058"/>
                  </a:lnTo>
                  <a:lnTo>
                    <a:pt x="0" y="133502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8679" y="5143499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60" h="594360">
                  <a:moveTo>
                    <a:pt x="297179" y="0"/>
                  </a:moveTo>
                  <a:lnTo>
                    <a:pt x="248977" y="3890"/>
                  </a:lnTo>
                  <a:lnTo>
                    <a:pt x="203250" y="15154"/>
                  </a:lnTo>
                  <a:lnTo>
                    <a:pt x="160611" y="33179"/>
                  </a:lnTo>
                  <a:lnTo>
                    <a:pt x="121671" y="57351"/>
                  </a:lnTo>
                  <a:lnTo>
                    <a:pt x="87044" y="87058"/>
                  </a:lnTo>
                  <a:lnTo>
                    <a:pt x="57340" y="121688"/>
                  </a:lnTo>
                  <a:lnTo>
                    <a:pt x="33171" y="160628"/>
                  </a:lnTo>
                  <a:lnTo>
                    <a:pt x="15150" y="203265"/>
                  </a:lnTo>
                  <a:lnTo>
                    <a:pt x="3889" y="248986"/>
                  </a:lnTo>
                  <a:lnTo>
                    <a:pt x="0" y="297180"/>
                  </a:lnTo>
                  <a:lnTo>
                    <a:pt x="3889" y="345382"/>
                  </a:lnTo>
                  <a:lnTo>
                    <a:pt x="15150" y="391109"/>
                  </a:lnTo>
                  <a:lnTo>
                    <a:pt x="33171" y="433748"/>
                  </a:lnTo>
                  <a:lnTo>
                    <a:pt x="57340" y="472688"/>
                  </a:lnTo>
                  <a:lnTo>
                    <a:pt x="87044" y="507315"/>
                  </a:lnTo>
                  <a:lnTo>
                    <a:pt x="121671" y="537019"/>
                  </a:lnTo>
                  <a:lnTo>
                    <a:pt x="160611" y="561188"/>
                  </a:lnTo>
                  <a:lnTo>
                    <a:pt x="203250" y="579209"/>
                  </a:lnTo>
                  <a:lnTo>
                    <a:pt x="248977" y="590470"/>
                  </a:lnTo>
                  <a:lnTo>
                    <a:pt x="297179" y="594360"/>
                  </a:lnTo>
                  <a:lnTo>
                    <a:pt x="345373" y="590470"/>
                  </a:lnTo>
                  <a:lnTo>
                    <a:pt x="391094" y="579209"/>
                  </a:lnTo>
                  <a:lnTo>
                    <a:pt x="433731" y="561188"/>
                  </a:lnTo>
                  <a:lnTo>
                    <a:pt x="472671" y="537019"/>
                  </a:lnTo>
                  <a:lnTo>
                    <a:pt x="507301" y="507315"/>
                  </a:lnTo>
                  <a:lnTo>
                    <a:pt x="537008" y="472688"/>
                  </a:lnTo>
                  <a:lnTo>
                    <a:pt x="561180" y="433748"/>
                  </a:lnTo>
                  <a:lnTo>
                    <a:pt x="579205" y="391109"/>
                  </a:lnTo>
                  <a:lnTo>
                    <a:pt x="590469" y="345382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79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4983" y="5289803"/>
              <a:ext cx="301752" cy="301752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587753" y="5093970"/>
            <a:ext cx="23456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5.</a:t>
            </a:r>
            <a:r>
              <a:rPr sz="1600" b="1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Backend</a:t>
            </a:r>
            <a:r>
              <a:rPr sz="1600" b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Implementation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7753" y="5723026"/>
            <a:ext cx="373380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Node.js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+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Express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layered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architecture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REST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endpoints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213297" y="4841664"/>
            <a:ext cx="5480050" cy="1548130"/>
            <a:chOff x="6213297" y="4841664"/>
            <a:chExt cx="5480050" cy="1548130"/>
          </a:xfrm>
        </p:grpSpPr>
        <p:pic>
          <p:nvPicPr>
            <p:cNvPr id="44" name="object 4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13297" y="4841664"/>
              <a:ext cx="5479643" cy="1547737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263640" y="489203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526694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1335024"/>
                  </a:lnTo>
                  <a:lnTo>
                    <a:pt x="6465" y="1367058"/>
                  </a:lnTo>
                  <a:lnTo>
                    <a:pt x="24098" y="1393216"/>
                  </a:lnTo>
                  <a:lnTo>
                    <a:pt x="50256" y="1410853"/>
                  </a:lnTo>
                  <a:lnTo>
                    <a:pt x="82296" y="1417320"/>
                  </a:lnTo>
                  <a:lnTo>
                    <a:pt x="5266944" y="1417320"/>
                  </a:lnTo>
                  <a:lnTo>
                    <a:pt x="5298983" y="1410853"/>
                  </a:lnTo>
                  <a:lnTo>
                    <a:pt x="5325141" y="1393216"/>
                  </a:lnTo>
                  <a:lnTo>
                    <a:pt x="5342774" y="1367058"/>
                  </a:lnTo>
                  <a:lnTo>
                    <a:pt x="5349240" y="1335024"/>
                  </a:lnTo>
                  <a:lnTo>
                    <a:pt x="5349240" y="82296"/>
                  </a:lnTo>
                  <a:lnTo>
                    <a:pt x="5342774" y="50256"/>
                  </a:lnTo>
                  <a:lnTo>
                    <a:pt x="5325141" y="24098"/>
                  </a:lnTo>
                  <a:lnTo>
                    <a:pt x="5298983" y="6465"/>
                  </a:lnTo>
                  <a:lnTo>
                    <a:pt x="5266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263640" y="4892039"/>
              <a:ext cx="5349240" cy="1417320"/>
            </a:xfrm>
            <a:custGeom>
              <a:avLst/>
              <a:gdLst/>
              <a:ahLst/>
              <a:cxnLst/>
              <a:rect l="l" t="t" r="r" b="b"/>
              <a:pathLst>
                <a:path w="5349240" h="1417320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5266944" y="0"/>
                  </a:lnTo>
                  <a:lnTo>
                    <a:pt x="5298983" y="6465"/>
                  </a:lnTo>
                  <a:lnTo>
                    <a:pt x="5325141" y="24098"/>
                  </a:lnTo>
                  <a:lnTo>
                    <a:pt x="5342774" y="50256"/>
                  </a:lnTo>
                  <a:lnTo>
                    <a:pt x="5349240" y="82296"/>
                  </a:lnTo>
                  <a:lnTo>
                    <a:pt x="5349240" y="1335024"/>
                  </a:lnTo>
                  <a:lnTo>
                    <a:pt x="5342774" y="1367058"/>
                  </a:lnTo>
                  <a:lnTo>
                    <a:pt x="5325141" y="1393216"/>
                  </a:lnTo>
                  <a:lnTo>
                    <a:pt x="5298983" y="1410853"/>
                  </a:lnTo>
                  <a:lnTo>
                    <a:pt x="5266944" y="1417320"/>
                  </a:lnTo>
                  <a:lnTo>
                    <a:pt x="82296" y="1417320"/>
                  </a:lnTo>
                  <a:lnTo>
                    <a:pt x="50256" y="1410853"/>
                  </a:lnTo>
                  <a:lnTo>
                    <a:pt x="24098" y="1393216"/>
                  </a:lnTo>
                  <a:lnTo>
                    <a:pt x="6465" y="1367058"/>
                  </a:lnTo>
                  <a:lnTo>
                    <a:pt x="0" y="133502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92240" y="5143499"/>
              <a:ext cx="594360" cy="594360"/>
            </a:xfrm>
            <a:custGeom>
              <a:avLst/>
              <a:gdLst/>
              <a:ahLst/>
              <a:cxnLst/>
              <a:rect l="l" t="t" r="r" b="b"/>
              <a:pathLst>
                <a:path w="594359" h="594360">
                  <a:moveTo>
                    <a:pt x="297180" y="0"/>
                  </a:moveTo>
                  <a:lnTo>
                    <a:pt x="248986" y="3890"/>
                  </a:lnTo>
                  <a:lnTo>
                    <a:pt x="203265" y="15154"/>
                  </a:lnTo>
                  <a:lnTo>
                    <a:pt x="160628" y="33179"/>
                  </a:lnTo>
                  <a:lnTo>
                    <a:pt x="121688" y="57351"/>
                  </a:lnTo>
                  <a:lnTo>
                    <a:pt x="87058" y="87058"/>
                  </a:lnTo>
                  <a:lnTo>
                    <a:pt x="57351" y="121688"/>
                  </a:lnTo>
                  <a:lnTo>
                    <a:pt x="33179" y="160628"/>
                  </a:lnTo>
                  <a:lnTo>
                    <a:pt x="15154" y="203265"/>
                  </a:lnTo>
                  <a:lnTo>
                    <a:pt x="3890" y="248986"/>
                  </a:lnTo>
                  <a:lnTo>
                    <a:pt x="0" y="297180"/>
                  </a:lnTo>
                  <a:lnTo>
                    <a:pt x="3890" y="345382"/>
                  </a:lnTo>
                  <a:lnTo>
                    <a:pt x="15154" y="391109"/>
                  </a:lnTo>
                  <a:lnTo>
                    <a:pt x="33179" y="433748"/>
                  </a:lnTo>
                  <a:lnTo>
                    <a:pt x="57351" y="472688"/>
                  </a:lnTo>
                  <a:lnTo>
                    <a:pt x="87058" y="507315"/>
                  </a:lnTo>
                  <a:lnTo>
                    <a:pt x="121688" y="537019"/>
                  </a:lnTo>
                  <a:lnTo>
                    <a:pt x="160628" y="561188"/>
                  </a:lnTo>
                  <a:lnTo>
                    <a:pt x="203265" y="579209"/>
                  </a:lnTo>
                  <a:lnTo>
                    <a:pt x="248986" y="590470"/>
                  </a:lnTo>
                  <a:lnTo>
                    <a:pt x="297180" y="594360"/>
                  </a:lnTo>
                  <a:lnTo>
                    <a:pt x="345373" y="590470"/>
                  </a:lnTo>
                  <a:lnTo>
                    <a:pt x="391094" y="579209"/>
                  </a:lnTo>
                  <a:lnTo>
                    <a:pt x="433731" y="561188"/>
                  </a:lnTo>
                  <a:lnTo>
                    <a:pt x="472671" y="537019"/>
                  </a:lnTo>
                  <a:lnTo>
                    <a:pt x="507301" y="507315"/>
                  </a:lnTo>
                  <a:lnTo>
                    <a:pt x="537008" y="472688"/>
                  </a:lnTo>
                  <a:lnTo>
                    <a:pt x="561180" y="433748"/>
                  </a:lnTo>
                  <a:lnTo>
                    <a:pt x="579205" y="391109"/>
                  </a:lnTo>
                  <a:lnTo>
                    <a:pt x="590469" y="345382"/>
                  </a:lnTo>
                  <a:lnTo>
                    <a:pt x="594360" y="297180"/>
                  </a:lnTo>
                  <a:lnTo>
                    <a:pt x="590469" y="248986"/>
                  </a:lnTo>
                  <a:lnTo>
                    <a:pt x="579205" y="203265"/>
                  </a:lnTo>
                  <a:lnTo>
                    <a:pt x="561180" y="160628"/>
                  </a:lnTo>
                  <a:lnTo>
                    <a:pt x="537008" y="121688"/>
                  </a:lnTo>
                  <a:lnTo>
                    <a:pt x="507301" y="87058"/>
                  </a:lnTo>
                  <a:lnTo>
                    <a:pt x="472671" y="57351"/>
                  </a:lnTo>
                  <a:lnTo>
                    <a:pt x="433731" y="33179"/>
                  </a:lnTo>
                  <a:lnTo>
                    <a:pt x="391094" y="15154"/>
                  </a:lnTo>
                  <a:lnTo>
                    <a:pt x="345373" y="3890"/>
                  </a:lnTo>
                  <a:lnTo>
                    <a:pt x="29718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8544" y="5289803"/>
              <a:ext cx="301751" cy="30175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211948" y="5093970"/>
            <a:ext cx="29902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6.</a:t>
            </a:r>
            <a:r>
              <a:rPr sz="1600" b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Connecting</a:t>
            </a:r>
            <a:r>
              <a:rPr sz="1600" b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Database</a:t>
            </a:r>
            <a:r>
              <a:rPr sz="1600" b="1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600" b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Backend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50" name="object 50"/>
          <p:cNvSpPr txBox="1"/>
          <p:nvPr/>
        </p:nvSpPr>
        <p:spPr>
          <a:xfrm>
            <a:off x="7211948" y="5723026"/>
            <a:ext cx="34836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Connection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pooling,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request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lifecycle,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live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SQL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queries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7380" y="448767"/>
            <a:ext cx="139001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R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U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Why</a:t>
            </a:r>
            <a:r>
              <a:rPr spc="-80" dirty="0"/>
              <a:t> </a:t>
            </a:r>
            <a:r>
              <a:rPr dirty="0"/>
              <a:t>a</a:t>
            </a:r>
            <a:r>
              <a:rPr spc="-90" dirty="0"/>
              <a:t> </a:t>
            </a:r>
            <a:r>
              <a:rPr dirty="0"/>
              <a:t>Strong</a:t>
            </a:r>
            <a:r>
              <a:rPr spc="-85" dirty="0"/>
              <a:t> </a:t>
            </a:r>
            <a:r>
              <a:rPr dirty="0"/>
              <a:t>Database</a:t>
            </a:r>
            <a:r>
              <a:rPr spc="-110" dirty="0"/>
              <a:t> </a:t>
            </a:r>
            <a:r>
              <a:rPr dirty="0"/>
              <a:t>Layer</a:t>
            </a:r>
            <a:r>
              <a:rPr spc="-90" dirty="0"/>
              <a:t> </a:t>
            </a:r>
            <a:r>
              <a:rPr spc="-10" dirty="0"/>
              <a:t>Matters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7380" y="1814830"/>
            <a:ext cx="5427980" cy="1258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8130">
              <a:lnSpc>
                <a:spcPct val="134700"/>
              </a:lnSpc>
              <a:spcBef>
                <a:spcPts val="100"/>
              </a:spcBef>
            </a:pP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SpeeDT</a:t>
            </a:r>
            <a:r>
              <a:rPr sz="15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is</a:t>
            </a:r>
            <a:r>
              <a:rPr sz="15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a</a:t>
            </a:r>
            <a:r>
              <a:rPr sz="15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crowdsensing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application</a:t>
            </a:r>
            <a:r>
              <a:rPr sz="15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that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collects</a:t>
            </a:r>
            <a:r>
              <a:rPr sz="15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mobile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 network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quality</a:t>
            </a:r>
            <a:r>
              <a:rPr sz="1500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15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from</a:t>
            </a:r>
            <a:r>
              <a:rPr sz="15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everyday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smartphone</a:t>
            </a:r>
            <a:r>
              <a:rPr sz="15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users</a:t>
            </a:r>
            <a:r>
              <a:rPr sz="15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across</a:t>
            </a:r>
            <a:r>
              <a:rPr sz="15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Cameroon.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34700"/>
              </a:lnSpc>
              <a:spcBef>
                <a:spcPts val="10"/>
              </a:spcBef>
            </a:pP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Our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1E293A"/>
                </a:solidFill>
                <a:latin typeface="Calibri"/>
                <a:cs typeface="Calibri"/>
              </a:rPr>
              <a:t>Task</a:t>
            </a:r>
            <a:r>
              <a:rPr sz="15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2</a:t>
            </a:r>
            <a:r>
              <a:rPr sz="15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survey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found</a:t>
            </a:r>
            <a:r>
              <a:rPr sz="15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that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462EB"/>
                </a:solidFill>
                <a:latin typeface="Calibri"/>
                <a:cs typeface="Calibri"/>
              </a:rPr>
              <a:t>94%</a:t>
            </a:r>
            <a:r>
              <a:rPr sz="1500" b="1" spc="-2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462EB"/>
                </a:solidFill>
                <a:latin typeface="Calibri"/>
                <a:cs typeface="Calibri"/>
              </a:rPr>
              <a:t>of</a:t>
            </a:r>
            <a:r>
              <a:rPr sz="1500" b="1" spc="-2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2462EB"/>
                </a:solidFill>
                <a:latin typeface="Calibri"/>
                <a:cs typeface="Calibri"/>
              </a:rPr>
              <a:t>respondents</a:t>
            </a:r>
            <a:r>
              <a:rPr sz="1500" b="1" spc="-4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experience</a:t>
            </a:r>
            <a:r>
              <a:rPr sz="15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network problems</a:t>
            </a:r>
            <a:r>
              <a:rPr sz="15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regularly,</a:t>
            </a:r>
            <a:r>
              <a:rPr sz="15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49569"/>
                </a:solidFill>
                <a:latin typeface="Calibri"/>
                <a:cs typeface="Calibri"/>
              </a:rPr>
              <a:t>MTN</a:t>
            </a:r>
            <a:r>
              <a:rPr sz="1500" b="1" spc="-3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was</a:t>
            </a:r>
            <a:r>
              <a:rPr sz="15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used</a:t>
            </a:r>
            <a:r>
              <a:rPr sz="15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by</a:t>
            </a:r>
            <a:r>
              <a:rPr sz="15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over</a:t>
            </a:r>
            <a:r>
              <a:rPr sz="15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83%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E293A"/>
                </a:solidFill>
                <a:latin typeface="Calibri"/>
                <a:cs typeface="Calibri"/>
              </a:rPr>
              <a:t>of</a:t>
            </a:r>
            <a:r>
              <a:rPr sz="15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E293A"/>
                </a:solidFill>
                <a:latin typeface="Calibri"/>
                <a:cs typeface="Calibri"/>
              </a:rPr>
              <a:t>respondents.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7380" y="3436721"/>
            <a:ext cx="5673090" cy="857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1400" i="1" spc="-25" dirty="0">
                <a:solidFill>
                  <a:srgbClr val="63748A"/>
                </a:solidFill>
                <a:latin typeface="Calibri"/>
                <a:cs typeface="Calibri"/>
              </a:rPr>
              <a:t>Task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6</a:t>
            </a:r>
            <a:r>
              <a:rPr sz="14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builds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persistent</a:t>
            </a:r>
            <a:r>
              <a:rPr sz="1400" i="1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data layer</a:t>
            </a:r>
            <a:r>
              <a:rPr sz="14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that</a:t>
            </a:r>
            <a:r>
              <a:rPr sz="1400" i="1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makes</a:t>
            </a:r>
            <a:r>
              <a:rPr sz="14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all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of</a:t>
            </a:r>
            <a:r>
              <a:rPr sz="14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this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 possible:</a:t>
            </a:r>
            <a:r>
              <a:rPr sz="1400" i="1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storing measurements</a:t>
            </a:r>
            <a:r>
              <a:rPr sz="1400" i="1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reliably,</a:t>
            </a:r>
            <a:r>
              <a:rPr sz="14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querying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them</a:t>
            </a:r>
            <a:r>
              <a:rPr sz="1400" i="1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efficiently,</a:t>
            </a:r>
            <a:r>
              <a:rPr sz="14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connecting</a:t>
            </a:r>
            <a:r>
              <a:rPr sz="14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sz="14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part</a:t>
            </a:r>
            <a:r>
              <a:rPr sz="1400" i="1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25" dirty="0">
                <a:solidFill>
                  <a:srgbClr val="63748A"/>
                </a:solidFill>
                <a:latin typeface="Calibri"/>
                <a:cs typeface="Calibri"/>
              </a:rPr>
              <a:t>of </a:t>
            </a:r>
            <a:r>
              <a:rPr sz="1400" i="1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400" i="1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system</a:t>
            </a:r>
            <a:r>
              <a:rPr sz="14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63748A"/>
                </a:solidFill>
                <a:latin typeface="Calibri"/>
                <a:cs typeface="Calibri"/>
              </a:rPr>
              <a:t>together.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92823" y="1472183"/>
            <a:ext cx="2590165" cy="1538605"/>
            <a:chOff x="6592823" y="1472183"/>
            <a:chExt cx="2590165" cy="15386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823" y="1472183"/>
              <a:ext cx="2590037" cy="153847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675119" y="1554479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80">
                  <a:moveTo>
                    <a:pt x="22860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1234440"/>
                  </a:lnTo>
                  <a:lnTo>
                    <a:pt x="7179" y="1270051"/>
                  </a:lnTo>
                  <a:lnTo>
                    <a:pt x="26765" y="1299114"/>
                  </a:lnTo>
                  <a:lnTo>
                    <a:pt x="55828" y="1318700"/>
                  </a:lnTo>
                  <a:lnTo>
                    <a:pt x="91439" y="1325880"/>
                  </a:lnTo>
                  <a:lnTo>
                    <a:pt x="2286000" y="1325880"/>
                  </a:lnTo>
                  <a:lnTo>
                    <a:pt x="2321611" y="1318700"/>
                  </a:lnTo>
                  <a:lnTo>
                    <a:pt x="2350674" y="1299114"/>
                  </a:lnTo>
                  <a:lnTo>
                    <a:pt x="2370260" y="1270051"/>
                  </a:lnTo>
                  <a:lnTo>
                    <a:pt x="2377439" y="1234440"/>
                  </a:lnTo>
                  <a:lnTo>
                    <a:pt x="2377439" y="91440"/>
                  </a:lnTo>
                  <a:lnTo>
                    <a:pt x="2370260" y="55828"/>
                  </a:lnTo>
                  <a:lnTo>
                    <a:pt x="2350674" y="26765"/>
                  </a:lnTo>
                  <a:lnTo>
                    <a:pt x="2321611" y="7179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675119" y="1554479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286000" y="0"/>
                  </a:lnTo>
                  <a:lnTo>
                    <a:pt x="2321611" y="7179"/>
                  </a:lnTo>
                  <a:lnTo>
                    <a:pt x="2350674" y="26765"/>
                  </a:lnTo>
                  <a:lnTo>
                    <a:pt x="2370260" y="55828"/>
                  </a:lnTo>
                  <a:lnTo>
                    <a:pt x="2377439" y="91440"/>
                  </a:lnTo>
                  <a:lnTo>
                    <a:pt x="2377439" y="1234440"/>
                  </a:lnTo>
                  <a:lnTo>
                    <a:pt x="2370260" y="1270051"/>
                  </a:lnTo>
                  <a:lnTo>
                    <a:pt x="2350674" y="1299114"/>
                  </a:lnTo>
                  <a:lnTo>
                    <a:pt x="2321611" y="1318700"/>
                  </a:lnTo>
                  <a:lnTo>
                    <a:pt x="2286000" y="1325880"/>
                  </a:lnTo>
                  <a:lnTo>
                    <a:pt x="91439" y="1325880"/>
                  </a:lnTo>
                  <a:lnTo>
                    <a:pt x="55828" y="1318700"/>
                  </a:lnTo>
                  <a:lnTo>
                    <a:pt x="26765" y="1299114"/>
                  </a:lnTo>
                  <a:lnTo>
                    <a:pt x="7179" y="1270051"/>
                  </a:lnTo>
                  <a:lnTo>
                    <a:pt x="0" y="123444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40371" y="1717674"/>
            <a:ext cx="1649095" cy="93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b="1" spc="-25" dirty="0">
                <a:solidFill>
                  <a:srgbClr val="2462EB"/>
                </a:solidFill>
                <a:latin typeface="Calibri"/>
                <a:cs typeface="Calibri"/>
              </a:rPr>
              <a:t>94%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experience</a:t>
            </a:r>
            <a:r>
              <a:rPr sz="10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network</a:t>
            </a:r>
            <a:r>
              <a:rPr sz="1050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problems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153143" y="1472183"/>
            <a:ext cx="2590165" cy="1538605"/>
            <a:chOff x="9153143" y="1472183"/>
            <a:chExt cx="2590165" cy="15386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3143" y="1472183"/>
              <a:ext cx="2590038" cy="153847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235439" y="1554479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80">
                  <a:moveTo>
                    <a:pt x="22860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40"/>
                  </a:lnTo>
                  <a:lnTo>
                    <a:pt x="0" y="1234440"/>
                  </a:lnTo>
                  <a:lnTo>
                    <a:pt x="7179" y="1270051"/>
                  </a:lnTo>
                  <a:lnTo>
                    <a:pt x="26765" y="1299114"/>
                  </a:lnTo>
                  <a:lnTo>
                    <a:pt x="55828" y="1318700"/>
                  </a:lnTo>
                  <a:lnTo>
                    <a:pt x="91439" y="1325880"/>
                  </a:lnTo>
                  <a:lnTo>
                    <a:pt x="2286000" y="1325880"/>
                  </a:lnTo>
                  <a:lnTo>
                    <a:pt x="2321611" y="1318700"/>
                  </a:lnTo>
                  <a:lnTo>
                    <a:pt x="2350674" y="1299114"/>
                  </a:lnTo>
                  <a:lnTo>
                    <a:pt x="2370260" y="1270051"/>
                  </a:lnTo>
                  <a:lnTo>
                    <a:pt x="2377439" y="1234440"/>
                  </a:lnTo>
                  <a:lnTo>
                    <a:pt x="2377439" y="91440"/>
                  </a:lnTo>
                  <a:lnTo>
                    <a:pt x="2370260" y="55828"/>
                  </a:lnTo>
                  <a:lnTo>
                    <a:pt x="2350674" y="26765"/>
                  </a:lnTo>
                  <a:lnTo>
                    <a:pt x="2321611" y="7179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35439" y="1554479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80">
                  <a:moveTo>
                    <a:pt x="0" y="91440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286000" y="0"/>
                  </a:lnTo>
                  <a:lnTo>
                    <a:pt x="2321611" y="7179"/>
                  </a:lnTo>
                  <a:lnTo>
                    <a:pt x="2350674" y="26765"/>
                  </a:lnTo>
                  <a:lnTo>
                    <a:pt x="2370260" y="55828"/>
                  </a:lnTo>
                  <a:lnTo>
                    <a:pt x="2377439" y="91440"/>
                  </a:lnTo>
                  <a:lnTo>
                    <a:pt x="2377439" y="1234440"/>
                  </a:lnTo>
                  <a:lnTo>
                    <a:pt x="2370260" y="1270051"/>
                  </a:lnTo>
                  <a:lnTo>
                    <a:pt x="2350674" y="1299114"/>
                  </a:lnTo>
                  <a:lnTo>
                    <a:pt x="2321611" y="1318700"/>
                  </a:lnTo>
                  <a:lnTo>
                    <a:pt x="2286000" y="1325880"/>
                  </a:lnTo>
                  <a:lnTo>
                    <a:pt x="91439" y="1325880"/>
                  </a:lnTo>
                  <a:lnTo>
                    <a:pt x="55828" y="1318700"/>
                  </a:lnTo>
                  <a:lnTo>
                    <a:pt x="26765" y="1299114"/>
                  </a:lnTo>
                  <a:lnTo>
                    <a:pt x="7179" y="1270051"/>
                  </a:lnTo>
                  <a:lnTo>
                    <a:pt x="0" y="1234440"/>
                  </a:lnTo>
                  <a:lnTo>
                    <a:pt x="0" y="91440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98481" y="1717674"/>
            <a:ext cx="1453515" cy="93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b="1" spc="-25" dirty="0">
                <a:solidFill>
                  <a:srgbClr val="049569"/>
                </a:solidFill>
                <a:latin typeface="Calibri"/>
                <a:cs typeface="Calibri"/>
              </a:rPr>
              <a:t>83%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use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MTN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as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their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operator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592823" y="2980944"/>
            <a:ext cx="2590165" cy="1538605"/>
            <a:chOff x="6592823" y="2980944"/>
            <a:chExt cx="2590165" cy="153860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2823" y="2980944"/>
              <a:ext cx="2590037" cy="153847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675119" y="3063240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79">
                  <a:moveTo>
                    <a:pt x="22860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34440"/>
                  </a:lnTo>
                  <a:lnTo>
                    <a:pt x="7179" y="1270051"/>
                  </a:lnTo>
                  <a:lnTo>
                    <a:pt x="26765" y="1299114"/>
                  </a:lnTo>
                  <a:lnTo>
                    <a:pt x="55828" y="1318700"/>
                  </a:lnTo>
                  <a:lnTo>
                    <a:pt x="91439" y="1325880"/>
                  </a:lnTo>
                  <a:lnTo>
                    <a:pt x="2286000" y="1325880"/>
                  </a:lnTo>
                  <a:lnTo>
                    <a:pt x="2321611" y="1318700"/>
                  </a:lnTo>
                  <a:lnTo>
                    <a:pt x="2350674" y="1299114"/>
                  </a:lnTo>
                  <a:lnTo>
                    <a:pt x="2370260" y="1270051"/>
                  </a:lnTo>
                  <a:lnTo>
                    <a:pt x="2377439" y="1234440"/>
                  </a:lnTo>
                  <a:lnTo>
                    <a:pt x="2377439" y="91439"/>
                  </a:lnTo>
                  <a:lnTo>
                    <a:pt x="2370260" y="55828"/>
                  </a:lnTo>
                  <a:lnTo>
                    <a:pt x="2350674" y="26765"/>
                  </a:lnTo>
                  <a:lnTo>
                    <a:pt x="2321611" y="7179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75119" y="3063240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7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286000" y="0"/>
                  </a:lnTo>
                  <a:lnTo>
                    <a:pt x="2321611" y="7179"/>
                  </a:lnTo>
                  <a:lnTo>
                    <a:pt x="2350674" y="26765"/>
                  </a:lnTo>
                  <a:lnTo>
                    <a:pt x="2370260" y="55828"/>
                  </a:lnTo>
                  <a:lnTo>
                    <a:pt x="2377439" y="91439"/>
                  </a:lnTo>
                  <a:lnTo>
                    <a:pt x="2377439" y="1234440"/>
                  </a:lnTo>
                  <a:lnTo>
                    <a:pt x="2370260" y="1270051"/>
                  </a:lnTo>
                  <a:lnTo>
                    <a:pt x="2350674" y="1299114"/>
                  </a:lnTo>
                  <a:lnTo>
                    <a:pt x="2321611" y="1318700"/>
                  </a:lnTo>
                  <a:lnTo>
                    <a:pt x="2286000" y="1325880"/>
                  </a:lnTo>
                  <a:lnTo>
                    <a:pt x="91439" y="1325880"/>
                  </a:lnTo>
                  <a:lnTo>
                    <a:pt x="55828" y="1318700"/>
                  </a:lnTo>
                  <a:lnTo>
                    <a:pt x="26765" y="1299114"/>
                  </a:lnTo>
                  <a:lnTo>
                    <a:pt x="7179" y="1270051"/>
                  </a:lnTo>
                  <a:lnTo>
                    <a:pt x="0" y="123444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425943" y="3226688"/>
            <a:ext cx="878205" cy="93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b="1" spc="-50" dirty="0">
                <a:solidFill>
                  <a:srgbClr val="7B39EC"/>
                </a:solidFill>
                <a:latin typeface="Calibri"/>
                <a:cs typeface="Calibri"/>
              </a:rPr>
              <a:t>4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database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tables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9153143" y="2980944"/>
            <a:ext cx="2590165" cy="1538605"/>
            <a:chOff x="9153143" y="2980944"/>
            <a:chExt cx="2590165" cy="153860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3143" y="2980944"/>
              <a:ext cx="2590038" cy="153847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9235439" y="3063240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79">
                  <a:moveTo>
                    <a:pt x="22860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234440"/>
                  </a:lnTo>
                  <a:lnTo>
                    <a:pt x="7179" y="1270051"/>
                  </a:lnTo>
                  <a:lnTo>
                    <a:pt x="26765" y="1299114"/>
                  </a:lnTo>
                  <a:lnTo>
                    <a:pt x="55828" y="1318700"/>
                  </a:lnTo>
                  <a:lnTo>
                    <a:pt x="91439" y="1325880"/>
                  </a:lnTo>
                  <a:lnTo>
                    <a:pt x="2286000" y="1325880"/>
                  </a:lnTo>
                  <a:lnTo>
                    <a:pt x="2321611" y="1318700"/>
                  </a:lnTo>
                  <a:lnTo>
                    <a:pt x="2350674" y="1299114"/>
                  </a:lnTo>
                  <a:lnTo>
                    <a:pt x="2370260" y="1270051"/>
                  </a:lnTo>
                  <a:lnTo>
                    <a:pt x="2377439" y="1234440"/>
                  </a:lnTo>
                  <a:lnTo>
                    <a:pt x="2377439" y="91439"/>
                  </a:lnTo>
                  <a:lnTo>
                    <a:pt x="2370260" y="55828"/>
                  </a:lnTo>
                  <a:lnTo>
                    <a:pt x="2350674" y="26765"/>
                  </a:lnTo>
                  <a:lnTo>
                    <a:pt x="2321611" y="7179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235439" y="3063240"/>
              <a:ext cx="2377440" cy="1325880"/>
            </a:xfrm>
            <a:custGeom>
              <a:avLst/>
              <a:gdLst/>
              <a:ahLst/>
              <a:cxnLst/>
              <a:rect l="l" t="t" r="r" b="b"/>
              <a:pathLst>
                <a:path w="2377440" h="132587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286000" y="0"/>
                  </a:lnTo>
                  <a:lnTo>
                    <a:pt x="2321611" y="7179"/>
                  </a:lnTo>
                  <a:lnTo>
                    <a:pt x="2350674" y="26765"/>
                  </a:lnTo>
                  <a:lnTo>
                    <a:pt x="2370260" y="55828"/>
                  </a:lnTo>
                  <a:lnTo>
                    <a:pt x="2377439" y="91439"/>
                  </a:lnTo>
                  <a:lnTo>
                    <a:pt x="2377439" y="1234440"/>
                  </a:lnTo>
                  <a:lnTo>
                    <a:pt x="2370260" y="1270051"/>
                  </a:lnTo>
                  <a:lnTo>
                    <a:pt x="2350674" y="1299114"/>
                  </a:lnTo>
                  <a:lnTo>
                    <a:pt x="2321611" y="1318700"/>
                  </a:lnTo>
                  <a:lnTo>
                    <a:pt x="2286000" y="1325880"/>
                  </a:lnTo>
                  <a:lnTo>
                    <a:pt x="91439" y="1325880"/>
                  </a:lnTo>
                  <a:lnTo>
                    <a:pt x="55828" y="1318700"/>
                  </a:lnTo>
                  <a:lnTo>
                    <a:pt x="26765" y="1299114"/>
                  </a:lnTo>
                  <a:lnTo>
                    <a:pt x="7179" y="1270051"/>
                  </a:lnTo>
                  <a:lnTo>
                    <a:pt x="0" y="123444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887457" y="3226688"/>
            <a:ext cx="1074420" cy="932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3400" b="1" spc="-25" dirty="0">
                <a:solidFill>
                  <a:srgbClr val="0891B1"/>
                </a:solidFill>
                <a:latin typeface="Calibri"/>
                <a:cs typeface="Calibri"/>
              </a:rPr>
              <a:t>10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00"/>
              </a:spcBef>
            </a:pP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REST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r>
              <a:rPr sz="10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endpoints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2238755"/>
              <a:ext cx="1438656" cy="143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233172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13" y="1970"/>
                  </a:lnTo>
                  <a:lnTo>
                    <a:pt x="497951" y="7778"/>
                  </a:lnTo>
                  <a:lnTo>
                    <a:pt x="451528" y="17271"/>
                  </a:lnTo>
                  <a:lnTo>
                    <a:pt x="406495" y="30297"/>
                  </a:lnTo>
                  <a:lnTo>
                    <a:pt x="363007" y="46702"/>
                  </a:lnTo>
                  <a:lnTo>
                    <a:pt x="321216" y="66334"/>
                  </a:lnTo>
                  <a:lnTo>
                    <a:pt x="281276" y="89039"/>
                  </a:lnTo>
                  <a:lnTo>
                    <a:pt x="243338" y="114665"/>
                  </a:lnTo>
                  <a:lnTo>
                    <a:pt x="207556" y="143060"/>
                  </a:lnTo>
                  <a:lnTo>
                    <a:pt x="174083" y="174069"/>
                  </a:lnTo>
                  <a:lnTo>
                    <a:pt x="143072" y="207540"/>
                  </a:lnTo>
                  <a:lnTo>
                    <a:pt x="114676" y="243321"/>
                  </a:lnTo>
                  <a:lnTo>
                    <a:pt x="89048" y="281259"/>
                  </a:lnTo>
                  <a:lnTo>
                    <a:pt x="66341" y="321200"/>
                  </a:lnTo>
                  <a:lnTo>
                    <a:pt x="46707" y="362991"/>
                  </a:lnTo>
                  <a:lnTo>
                    <a:pt x="30300" y="406481"/>
                  </a:lnTo>
                  <a:lnTo>
                    <a:pt x="17273" y="451515"/>
                  </a:lnTo>
                  <a:lnTo>
                    <a:pt x="7779" y="497942"/>
                  </a:lnTo>
                  <a:lnTo>
                    <a:pt x="1970" y="545607"/>
                  </a:lnTo>
                  <a:lnTo>
                    <a:pt x="0" y="594359"/>
                  </a:lnTo>
                  <a:lnTo>
                    <a:pt x="1970" y="643112"/>
                  </a:lnTo>
                  <a:lnTo>
                    <a:pt x="7779" y="690777"/>
                  </a:lnTo>
                  <a:lnTo>
                    <a:pt x="17273" y="737204"/>
                  </a:lnTo>
                  <a:lnTo>
                    <a:pt x="30300" y="782238"/>
                  </a:lnTo>
                  <a:lnTo>
                    <a:pt x="46707" y="825728"/>
                  </a:lnTo>
                  <a:lnTo>
                    <a:pt x="66341" y="867519"/>
                  </a:lnTo>
                  <a:lnTo>
                    <a:pt x="89048" y="907460"/>
                  </a:lnTo>
                  <a:lnTo>
                    <a:pt x="114676" y="945398"/>
                  </a:lnTo>
                  <a:lnTo>
                    <a:pt x="143072" y="981179"/>
                  </a:lnTo>
                  <a:lnTo>
                    <a:pt x="174083" y="1014650"/>
                  </a:lnTo>
                  <a:lnTo>
                    <a:pt x="207556" y="1045659"/>
                  </a:lnTo>
                  <a:lnTo>
                    <a:pt x="243338" y="1074054"/>
                  </a:lnTo>
                  <a:lnTo>
                    <a:pt x="281276" y="1099680"/>
                  </a:lnTo>
                  <a:lnTo>
                    <a:pt x="321216" y="1122385"/>
                  </a:lnTo>
                  <a:lnTo>
                    <a:pt x="363007" y="1142017"/>
                  </a:lnTo>
                  <a:lnTo>
                    <a:pt x="406495" y="1158422"/>
                  </a:lnTo>
                  <a:lnTo>
                    <a:pt x="451528" y="1171448"/>
                  </a:lnTo>
                  <a:lnTo>
                    <a:pt x="497951" y="1180941"/>
                  </a:lnTo>
                  <a:lnTo>
                    <a:pt x="545613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59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" y="2670048"/>
              <a:ext cx="512064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90673" y="2179141"/>
            <a:ext cx="796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>
                <a:solidFill>
                  <a:srgbClr val="2462EB"/>
                </a:solidFill>
              </a:rPr>
              <a:t>01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645668" y="3583304"/>
            <a:ext cx="5260340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4000" b="1" spc="-1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Elements</a:t>
            </a:r>
            <a:endParaRPr sz="4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900"/>
              </a:spcBef>
            </a:pP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Identifying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sz="1500" i="1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field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system</a:t>
            </a:r>
            <a:r>
              <a:rPr sz="1500" i="1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needs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store,</a:t>
            </a:r>
            <a:r>
              <a:rPr sz="15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across</a:t>
            </a:r>
            <a:r>
              <a:rPr sz="15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four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 entities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14776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42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Four</a:t>
            </a:r>
            <a:r>
              <a:rPr sz="2800" spc="-100" dirty="0"/>
              <a:t> </a:t>
            </a:r>
            <a:r>
              <a:rPr sz="2800" dirty="0"/>
              <a:t>Entities,</a:t>
            </a:r>
            <a:r>
              <a:rPr sz="2800" spc="-95" dirty="0"/>
              <a:t> </a:t>
            </a:r>
            <a:r>
              <a:rPr sz="2800" dirty="0"/>
              <a:t>Four</a:t>
            </a:r>
            <a:r>
              <a:rPr sz="2800" spc="-95" dirty="0"/>
              <a:t> </a:t>
            </a:r>
            <a:r>
              <a:rPr sz="2800" dirty="0"/>
              <a:t>Data</a:t>
            </a:r>
            <a:r>
              <a:rPr sz="2800" spc="-90" dirty="0"/>
              <a:t> </a:t>
            </a:r>
            <a:r>
              <a:rPr sz="2800" spc="-10" dirty="0"/>
              <a:t>Categories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27380" y="1340866"/>
            <a:ext cx="58146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Each</a:t>
            </a:r>
            <a:r>
              <a:rPr sz="13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table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groups</a:t>
            </a:r>
            <a:r>
              <a:rPr sz="13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related</a:t>
            </a:r>
            <a:r>
              <a:rPr sz="13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set</a:t>
            </a:r>
            <a:r>
              <a:rPr sz="13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of</a:t>
            </a:r>
            <a:r>
              <a:rPr sz="13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fields</a:t>
            </a:r>
            <a:r>
              <a:rPr sz="13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derived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3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SRS</a:t>
            </a:r>
            <a:r>
              <a:rPr sz="13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functional</a:t>
            </a:r>
            <a:r>
              <a:rPr sz="13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48A"/>
                </a:solidFill>
                <a:latin typeface="Calibri"/>
                <a:cs typeface="Calibri"/>
              </a:rPr>
              <a:t>requirements.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89625" y="1778444"/>
            <a:ext cx="2800985" cy="4382770"/>
            <a:chOff x="589625" y="1778444"/>
            <a:chExt cx="2800985" cy="438277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625" y="1778444"/>
              <a:ext cx="2800675" cy="43823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80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2578608" y="0"/>
                  </a:moveTo>
                  <a:lnTo>
                    <a:pt x="91452" y="0"/>
                  </a:lnTo>
                  <a:lnTo>
                    <a:pt x="55855" y="7179"/>
                  </a:lnTo>
                  <a:lnTo>
                    <a:pt x="26785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4160507"/>
                  </a:lnTo>
                  <a:lnTo>
                    <a:pt x="7186" y="4196104"/>
                  </a:lnTo>
                  <a:lnTo>
                    <a:pt x="26785" y="4225174"/>
                  </a:lnTo>
                  <a:lnTo>
                    <a:pt x="55855" y="4244773"/>
                  </a:lnTo>
                  <a:lnTo>
                    <a:pt x="91452" y="4251960"/>
                  </a:lnTo>
                  <a:lnTo>
                    <a:pt x="2578608" y="4251960"/>
                  </a:lnTo>
                  <a:lnTo>
                    <a:pt x="2614219" y="4244773"/>
                  </a:lnTo>
                  <a:lnTo>
                    <a:pt x="2643282" y="4225174"/>
                  </a:lnTo>
                  <a:lnTo>
                    <a:pt x="2662868" y="4196104"/>
                  </a:lnTo>
                  <a:lnTo>
                    <a:pt x="2670047" y="4160507"/>
                  </a:lnTo>
                  <a:lnTo>
                    <a:pt x="2670047" y="91439"/>
                  </a:lnTo>
                  <a:lnTo>
                    <a:pt x="2662868" y="55828"/>
                  </a:lnTo>
                  <a:lnTo>
                    <a:pt x="2643282" y="26765"/>
                  </a:lnTo>
                  <a:lnTo>
                    <a:pt x="2614219" y="7179"/>
                  </a:lnTo>
                  <a:lnTo>
                    <a:pt x="257860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0080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0" y="91439"/>
                  </a:moveTo>
                  <a:lnTo>
                    <a:pt x="7186" y="55828"/>
                  </a:lnTo>
                  <a:lnTo>
                    <a:pt x="26785" y="26765"/>
                  </a:lnTo>
                  <a:lnTo>
                    <a:pt x="55855" y="7179"/>
                  </a:lnTo>
                  <a:lnTo>
                    <a:pt x="91452" y="0"/>
                  </a:lnTo>
                  <a:lnTo>
                    <a:pt x="2578608" y="0"/>
                  </a:lnTo>
                  <a:lnTo>
                    <a:pt x="2614219" y="7179"/>
                  </a:lnTo>
                  <a:lnTo>
                    <a:pt x="2643282" y="26765"/>
                  </a:lnTo>
                  <a:lnTo>
                    <a:pt x="2662868" y="55828"/>
                  </a:lnTo>
                  <a:lnTo>
                    <a:pt x="2670047" y="91439"/>
                  </a:lnTo>
                  <a:lnTo>
                    <a:pt x="2670047" y="4160507"/>
                  </a:lnTo>
                  <a:lnTo>
                    <a:pt x="2662868" y="4196104"/>
                  </a:lnTo>
                  <a:lnTo>
                    <a:pt x="2643282" y="4225174"/>
                  </a:lnTo>
                  <a:lnTo>
                    <a:pt x="2614219" y="4244773"/>
                  </a:lnTo>
                  <a:lnTo>
                    <a:pt x="2578608" y="4251960"/>
                  </a:lnTo>
                  <a:lnTo>
                    <a:pt x="91452" y="4251960"/>
                  </a:lnTo>
                  <a:lnTo>
                    <a:pt x="55855" y="4244773"/>
                  </a:lnTo>
                  <a:lnTo>
                    <a:pt x="26785" y="4225174"/>
                  </a:lnTo>
                  <a:lnTo>
                    <a:pt x="7186" y="4196104"/>
                  </a:lnTo>
                  <a:lnTo>
                    <a:pt x="0" y="416050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41247" y="20574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2" y="370042"/>
                  </a:lnTo>
                  <a:lnTo>
                    <a:pt x="37453" y="412778"/>
                  </a:lnTo>
                  <a:lnTo>
                    <a:pt x="64518" y="451064"/>
                  </a:lnTo>
                  <a:lnTo>
                    <a:pt x="97580" y="484126"/>
                  </a:lnTo>
                  <a:lnTo>
                    <a:pt x="135867" y="511189"/>
                  </a:lnTo>
                  <a:lnTo>
                    <a:pt x="178602" y="531478"/>
                  </a:lnTo>
                  <a:lnTo>
                    <a:pt x="225011" y="544220"/>
                  </a:lnTo>
                  <a:lnTo>
                    <a:pt x="274320" y="548639"/>
                  </a:lnTo>
                  <a:lnTo>
                    <a:pt x="323628" y="544220"/>
                  </a:lnTo>
                  <a:lnTo>
                    <a:pt x="370037" y="531478"/>
                  </a:lnTo>
                  <a:lnTo>
                    <a:pt x="412772" y="511189"/>
                  </a:lnTo>
                  <a:lnTo>
                    <a:pt x="451059" y="484126"/>
                  </a:lnTo>
                  <a:lnTo>
                    <a:pt x="484121" y="451064"/>
                  </a:lnTo>
                  <a:lnTo>
                    <a:pt x="511186" y="412778"/>
                  </a:lnTo>
                  <a:lnTo>
                    <a:pt x="531477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7" y="178597"/>
                  </a:lnTo>
                  <a:lnTo>
                    <a:pt x="511186" y="135861"/>
                  </a:lnTo>
                  <a:lnTo>
                    <a:pt x="484121" y="97575"/>
                  </a:lnTo>
                  <a:lnTo>
                    <a:pt x="451059" y="64513"/>
                  </a:lnTo>
                  <a:lnTo>
                    <a:pt x="412772" y="37450"/>
                  </a:lnTo>
                  <a:lnTo>
                    <a:pt x="370037" y="17161"/>
                  </a:lnTo>
                  <a:lnTo>
                    <a:pt x="323628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8408" y="2194560"/>
              <a:ext cx="274320" cy="27432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28547" y="2856103"/>
            <a:ext cx="14224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Subscriber</a:t>
            </a:r>
            <a:r>
              <a:rPr sz="1500" b="1" spc="-8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Device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8547" y="3771112"/>
            <a:ext cx="2230755" cy="65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5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metadata,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consent</a:t>
            </a:r>
            <a:r>
              <a:rPr sz="11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flags,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and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user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preferences.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anonymous_id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UUID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is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hub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linking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other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tables.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41247" y="1737360"/>
            <a:ext cx="5424805" cy="4464685"/>
            <a:chOff x="841247" y="1737360"/>
            <a:chExt cx="5424805" cy="4464685"/>
          </a:xfrm>
        </p:grpSpPr>
        <p:sp>
          <p:nvSpPr>
            <p:cNvPr id="14" name="object 14"/>
            <p:cNvSpPr/>
            <p:nvPr/>
          </p:nvSpPr>
          <p:spPr>
            <a:xfrm>
              <a:off x="841247" y="5074919"/>
              <a:ext cx="2268220" cy="9525"/>
            </a:xfrm>
            <a:custGeom>
              <a:avLst/>
              <a:gdLst/>
              <a:ahLst/>
              <a:cxnLst/>
              <a:rect l="l" t="t" r="r" b="b"/>
              <a:pathLst>
                <a:path w="2268220" h="9525">
                  <a:moveTo>
                    <a:pt x="2267712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2267712" y="9143"/>
                  </a:lnTo>
                  <a:lnTo>
                    <a:pt x="2267712" y="0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3280" y="1737360"/>
              <a:ext cx="2882646" cy="446455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74719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2578607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160507"/>
                  </a:lnTo>
                  <a:lnTo>
                    <a:pt x="7179" y="4196104"/>
                  </a:lnTo>
                  <a:lnTo>
                    <a:pt x="26765" y="4225174"/>
                  </a:lnTo>
                  <a:lnTo>
                    <a:pt x="55828" y="4244773"/>
                  </a:lnTo>
                  <a:lnTo>
                    <a:pt x="91439" y="4251960"/>
                  </a:lnTo>
                  <a:lnTo>
                    <a:pt x="2578607" y="4251960"/>
                  </a:lnTo>
                  <a:lnTo>
                    <a:pt x="2614219" y="4244773"/>
                  </a:lnTo>
                  <a:lnTo>
                    <a:pt x="2643282" y="4225174"/>
                  </a:lnTo>
                  <a:lnTo>
                    <a:pt x="2662868" y="4196104"/>
                  </a:lnTo>
                  <a:lnTo>
                    <a:pt x="2670047" y="4160507"/>
                  </a:lnTo>
                  <a:lnTo>
                    <a:pt x="2670047" y="91439"/>
                  </a:lnTo>
                  <a:lnTo>
                    <a:pt x="2662868" y="55828"/>
                  </a:lnTo>
                  <a:lnTo>
                    <a:pt x="2643282" y="26765"/>
                  </a:lnTo>
                  <a:lnTo>
                    <a:pt x="2614219" y="7179"/>
                  </a:lnTo>
                  <a:lnTo>
                    <a:pt x="2578607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474719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78607" y="0"/>
                  </a:lnTo>
                  <a:lnTo>
                    <a:pt x="2614219" y="7179"/>
                  </a:lnTo>
                  <a:lnTo>
                    <a:pt x="2643282" y="26765"/>
                  </a:lnTo>
                  <a:lnTo>
                    <a:pt x="2662868" y="55828"/>
                  </a:lnTo>
                  <a:lnTo>
                    <a:pt x="2670047" y="91439"/>
                  </a:lnTo>
                  <a:lnTo>
                    <a:pt x="2670047" y="4160507"/>
                  </a:lnTo>
                  <a:lnTo>
                    <a:pt x="2662868" y="4196104"/>
                  </a:lnTo>
                  <a:lnTo>
                    <a:pt x="2643282" y="4225174"/>
                  </a:lnTo>
                  <a:lnTo>
                    <a:pt x="2614219" y="4244773"/>
                  </a:lnTo>
                  <a:lnTo>
                    <a:pt x="2578607" y="4251960"/>
                  </a:lnTo>
                  <a:lnTo>
                    <a:pt x="91439" y="4251960"/>
                  </a:lnTo>
                  <a:lnTo>
                    <a:pt x="55828" y="4244773"/>
                  </a:lnTo>
                  <a:lnTo>
                    <a:pt x="26765" y="4225174"/>
                  </a:lnTo>
                  <a:lnTo>
                    <a:pt x="7179" y="4196104"/>
                  </a:lnTo>
                  <a:lnTo>
                    <a:pt x="0" y="416050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75887" y="20574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39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3047" y="2194560"/>
              <a:ext cx="274320" cy="27432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28547" y="5397804"/>
            <a:ext cx="2238375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anonymous_id</a:t>
            </a:r>
            <a:r>
              <a:rPr sz="850" spc="-4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·</a:t>
            </a:r>
            <a:r>
              <a:rPr sz="850" spc="-5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device_model</a:t>
            </a:r>
            <a:r>
              <a:rPr sz="850" spc="-45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·</a:t>
            </a:r>
            <a:r>
              <a:rPr sz="850" spc="-4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os</a:t>
            </a:r>
            <a:r>
              <a:rPr sz="850" spc="-35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2462EB"/>
                </a:solidFill>
                <a:latin typeface="Courier New"/>
                <a:cs typeface="Courier New"/>
              </a:rPr>
              <a:t>· </a:t>
            </a: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consent_given</a:t>
            </a:r>
            <a:r>
              <a:rPr sz="850" spc="-5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2462EB"/>
                </a:solidFill>
                <a:latin typeface="Courier New"/>
                <a:cs typeface="Courier New"/>
              </a:rPr>
              <a:t>·</a:t>
            </a:r>
            <a:r>
              <a:rPr sz="850" spc="-55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2462EB"/>
                </a:solidFill>
                <a:latin typeface="Courier New"/>
                <a:cs typeface="Courier New"/>
              </a:rPr>
              <a:t>registered_at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63822" y="2856103"/>
            <a:ext cx="12763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Network</a:t>
            </a:r>
            <a:r>
              <a:rPr sz="1500" b="1" spc="-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Metric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63822" y="3771112"/>
            <a:ext cx="2247265" cy="65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5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One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timestamped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snapshot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of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network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conditions,</a:t>
            </a:r>
            <a:r>
              <a:rPr sz="11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collected</a:t>
            </a:r>
            <a:r>
              <a:rPr sz="1100" spc="-6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roughly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60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seconds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by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background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service.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675888" y="1737360"/>
            <a:ext cx="5424805" cy="4464685"/>
            <a:chOff x="3675888" y="1737360"/>
            <a:chExt cx="5424805" cy="4464685"/>
          </a:xfrm>
        </p:grpSpPr>
        <p:sp>
          <p:nvSpPr>
            <p:cNvPr id="24" name="object 24"/>
            <p:cNvSpPr/>
            <p:nvPr/>
          </p:nvSpPr>
          <p:spPr>
            <a:xfrm>
              <a:off x="3675888" y="5074919"/>
              <a:ext cx="2268220" cy="9525"/>
            </a:xfrm>
            <a:custGeom>
              <a:avLst/>
              <a:gdLst/>
              <a:ahLst/>
              <a:cxnLst/>
              <a:rect l="l" t="t" r="r" b="b"/>
              <a:pathLst>
                <a:path w="2268220" h="9525">
                  <a:moveTo>
                    <a:pt x="2267712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2267712" y="9143"/>
                  </a:lnTo>
                  <a:lnTo>
                    <a:pt x="2267712" y="0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7920" y="1737360"/>
              <a:ext cx="2882646" cy="44645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309360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2578608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160507"/>
                  </a:lnTo>
                  <a:lnTo>
                    <a:pt x="7179" y="4196104"/>
                  </a:lnTo>
                  <a:lnTo>
                    <a:pt x="26765" y="4225174"/>
                  </a:lnTo>
                  <a:lnTo>
                    <a:pt x="55828" y="4244773"/>
                  </a:lnTo>
                  <a:lnTo>
                    <a:pt x="91439" y="4251960"/>
                  </a:lnTo>
                  <a:lnTo>
                    <a:pt x="2578608" y="4251960"/>
                  </a:lnTo>
                  <a:lnTo>
                    <a:pt x="2614219" y="4244773"/>
                  </a:lnTo>
                  <a:lnTo>
                    <a:pt x="2643282" y="4225174"/>
                  </a:lnTo>
                  <a:lnTo>
                    <a:pt x="2662868" y="4196104"/>
                  </a:lnTo>
                  <a:lnTo>
                    <a:pt x="2670047" y="4160507"/>
                  </a:lnTo>
                  <a:lnTo>
                    <a:pt x="2670047" y="91439"/>
                  </a:lnTo>
                  <a:lnTo>
                    <a:pt x="2662868" y="55828"/>
                  </a:lnTo>
                  <a:lnTo>
                    <a:pt x="2643282" y="26765"/>
                  </a:lnTo>
                  <a:lnTo>
                    <a:pt x="2614219" y="7179"/>
                  </a:lnTo>
                  <a:lnTo>
                    <a:pt x="257860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09360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2578608" y="0"/>
                  </a:lnTo>
                  <a:lnTo>
                    <a:pt x="2614219" y="7179"/>
                  </a:lnTo>
                  <a:lnTo>
                    <a:pt x="2643282" y="26765"/>
                  </a:lnTo>
                  <a:lnTo>
                    <a:pt x="2662868" y="55828"/>
                  </a:lnTo>
                  <a:lnTo>
                    <a:pt x="2670047" y="91439"/>
                  </a:lnTo>
                  <a:lnTo>
                    <a:pt x="2670047" y="4160507"/>
                  </a:lnTo>
                  <a:lnTo>
                    <a:pt x="2662868" y="4196104"/>
                  </a:lnTo>
                  <a:lnTo>
                    <a:pt x="2643282" y="4225174"/>
                  </a:lnTo>
                  <a:lnTo>
                    <a:pt x="2614219" y="4244773"/>
                  </a:lnTo>
                  <a:lnTo>
                    <a:pt x="2578608" y="4251960"/>
                  </a:lnTo>
                  <a:lnTo>
                    <a:pt x="91439" y="4251960"/>
                  </a:lnTo>
                  <a:lnTo>
                    <a:pt x="55828" y="4244773"/>
                  </a:lnTo>
                  <a:lnTo>
                    <a:pt x="26765" y="4225174"/>
                  </a:lnTo>
                  <a:lnTo>
                    <a:pt x="7179" y="4196104"/>
                  </a:lnTo>
                  <a:lnTo>
                    <a:pt x="0" y="4160507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10527" y="20574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47688" y="2194560"/>
              <a:ext cx="274320" cy="274320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663822" y="5397804"/>
            <a:ext cx="2238375" cy="3397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850" dirty="0">
                <a:solidFill>
                  <a:srgbClr val="049569"/>
                </a:solidFill>
                <a:latin typeface="Courier New"/>
                <a:cs typeface="Courier New"/>
              </a:rPr>
              <a:t>network_type</a:t>
            </a:r>
            <a:r>
              <a:rPr sz="850" spc="-45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49569"/>
                </a:solidFill>
                <a:latin typeface="Courier New"/>
                <a:cs typeface="Courier New"/>
              </a:rPr>
              <a:t>·</a:t>
            </a:r>
            <a:r>
              <a:rPr sz="850" spc="-55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49569"/>
                </a:solidFill>
                <a:latin typeface="Courier New"/>
                <a:cs typeface="Courier New"/>
              </a:rPr>
              <a:t>signal_strength_dbm</a:t>
            </a:r>
            <a:endParaRPr sz="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850" dirty="0">
                <a:solidFill>
                  <a:srgbClr val="049569"/>
                </a:solidFill>
                <a:latin typeface="Courier New"/>
                <a:cs typeface="Courier New"/>
              </a:rPr>
              <a:t>·</a:t>
            </a:r>
            <a:r>
              <a:rPr sz="850" spc="-35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49569"/>
                </a:solidFill>
                <a:latin typeface="Courier New"/>
                <a:cs typeface="Courier New"/>
              </a:rPr>
              <a:t>download_mbps</a:t>
            </a:r>
            <a:r>
              <a:rPr sz="850" spc="-40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49569"/>
                </a:solidFill>
                <a:latin typeface="Courier New"/>
                <a:cs typeface="Courier New"/>
              </a:rPr>
              <a:t>·</a:t>
            </a:r>
            <a:r>
              <a:rPr sz="850" spc="-40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49569"/>
                </a:solidFill>
                <a:latin typeface="Courier New"/>
                <a:cs typeface="Courier New"/>
              </a:rPr>
              <a:t>latency_ms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98716" y="2856103"/>
            <a:ext cx="6959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Location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98716" y="3666606"/>
            <a:ext cx="2029460" cy="86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00"/>
              </a:lnSpc>
              <a:spcBef>
                <a:spcPts val="100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GPS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readings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linked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device,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enabling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coverage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mapping.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Kept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separate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so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tracking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can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be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toggled independently.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510528" y="1737360"/>
            <a:ext cx="5424805" cy="4464685"/>
            <a:chOff x="6510528" y="1737360"/>
            <a:chExt cx="5424805" cy="4464685"/>
          </a:xfrm>
        </p:grpSpPr>
        <p:sp>
          <p:nvSpPr>
            <p:cNvPr id="34" name="object 34"/>
            <p:cNvSpPr/>
            <p:nvPr/>
          </p:nvSpPr>
          <p:spPr>
            <a:xfrm>
              <a:off x="6510528" y="5074919"/>
              <a:ext cx="2268220" cy="9525"/>
            </a:xfrm>
            <a:custGeom>
              <a:avLst/>
              <a:gdLst/>
              <a:ahLst/>
              <a:cxnLst/>
              <a:rect l="l" t="t" r="r" b="b"/>
              <a:pathLst>
                <a:path w="2268220" h="9525">
                  <a:moveTo>
                    <a:pt x="2267712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2267712" y="9143"/>
                  </a:lnTo>
                  <a:lnTo>
                    <a:pt x="2267712" y="0"/>
                  </a:lnTo>
                  <a:close/>
                </a:path>
              </a:pathLst>
            </a:custGeom>
            <a:solidFill>
              <a:srgbClr val="E1E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52560" y="1737360"/>
              <a:ext cx="2882646" cy="446455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9144000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2578607" y="0"/>
                  </a:moveTo>
                  <a:lnTo>
                    <a:pt x="91440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4160507"/>
                  </a:lnTo>
                  <a:lnTo>
                    <a:pt x="7179" y="4196104"/>
                  </a:lnTo>
                  <a:lnTo>
                    <a:pt x="26765" y="4225174"/>
                  </a:lnTo>
                  <a:lnTo>
                    <a:pt x="55828" y="4244773"/>
                  </a:lnTo>
                  <a:lnTo>
                    <a:pt x="91440" y="4251960"/>
                  </a:lnTo>
                  <a:lnTo>
                    <a:pt x="2578607" y="4251960"/>
                  </a:lnTo>
                  <a:lnTo>
                    <a:pt x="2614219" y="4244773"/>
                  </a:lnTo>
                  <a:lnTo>
                    <a:pt x="2643282" y="4225174"/>
                  </a:lnTo>
                  <a:lnTo>
                    <a:pt x="2662868" y="4196104"/>
                  </a:lnTo>
                  <a:lnTo>
                    <a:pt x="2670048" y="4160507"/>
                  </a:lnTo>
                  <a:lnTo>
                    <a:pt x="2670048" y="91439"/>
                  </a:lnTo>
                  <a:lnTo>
                    <a:pt x="2662868" y="55828"/>
                  </a:lnTo>
                  <a:lnTo>
                    <a:pt x="2643282" y="26765"/>
                  </a:lnTo>
                  <a:lnTo>
                    <a:pt x="2614219" y="7179"/>
                  </a:lnTo>
                  <a:lnTo>
                    <a:pt x="2578607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144000" y="1828800"/>
              <a:ext cx="2670175" cy="4251960"/>
            </a:xfrm>
            <a:custGeom>
              <a:avLst/>
              <a:gdLst/>
              <a:ahLst/>
              <a:cxnLst/>
              <a:rect l="l" t="t" r="r" b="b"/>
              <a:pathLst>
                <a:path w="2670175" h="425196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40" y="0"/>
                  </a:lnTo>
                  <a:lnTo>
                    <a:pt x="2578607" y="0"/>
                  </a:lnTo>
                  <a:lnTo>
                    <a:pt x="2614219" y="7179"/>
                  </a:lnTo>
                  <a:lnTo>
                    <a:pt x="2643282" y="26765"/>
                  </a:lnTo>
                  <a:lnTo>
                    <a:pt x="2662868" y="55828"/>
                  </a:lnTo>
                  <a:lnTo>
                    <a:pt x="2670048" y="91439"/>
                  </a:lnTo>
                  <a:lnTo>
                    <a:pt x="2670048" y="4160507"/>
                  </a:lnTo>
                  <a:lnTo>
                    <a:pt x="2662868" y="4196104"/>
                  </a:lnTo>
                  <a:lnTo>
                    <a:pt x="2643282" y="4225174"/>
                  </a:lnTo>
                  <a:lnTo>
                    <a:pt x="2614219" y="4244773"/>
                  </a:lnTo>
                  <a:lnTo>
                    <a:pt x="2578607" y="4251960"/>
                  </a:lnTo>
                  <a:lnTo>
                    <a:pt x="91440" y="4251960"/>
                  </a:lnTo>
                  <a:lnTo>
                    <a:pt x="55828" y="4244773"/>
                  </a:lnTo>
                  <a:lnTo>
                    <a:pt x="26765" y="4225174"/>
                  </a:lnTo>
                  <a:lnTo>
                    <a:pt x="7179" y="4196104"/>
                  </a:lnTo>
                  <a:lnTo>
                    <a:pt x="0" y="4160507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345168" y="205740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82328" y="2194560"/>
              <a:ext cx="274320" cy="27432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498716" y="5397804"/>
            <a:ext cx="1783080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850" dirty="0">
                <a:solidFill>
                  <a:srgbClr val="7B39EC"/>
                </a:solidFill>
                <a:latin typeface="Courier New"/>
                <a:cs typeface="Courier New"/>
              </a:rPr>
              <a:t>latitude</a:t>
            </a:r>
            <a:r>
              <a:rPr sz="850" spc="-50" dirty="0">
                <a:solidFill>
                  <a:srgbClr val="7B39EC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7B39EC"/>
                </a:solidFill>
                <a:latin typeface="Courier New"/>
                <a:cs typeface="Courier New"/>
              </a:rPr>
              <a:t>·</a:t>
            </a:r>
            <a:r>
              <a:rPr sz="850" spc="-45" dirty="0">
                <a:solidFill>
                  <a:srgbClr val="7B39EC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7B39EC"/>
                </a:solidFill>
                <a:latin typeface="Courier New"/>
                <a:cs typeface="Courier New"/>
              </a:rPr>
              <a:t>longitude</a:t>
            </a:r>
            <a:r>
              <a:rPr sz="850" spc="-35" dirty="0">
                <a:solidFill>
                  <a:srgbClr val="7B39EC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7B39EC"/>
                </a:solidFill>
                <a:latin typeface="Courier New"/>
                <a:cs typeface="Courier New"/>
              </a:rPr>
              <a:t>· </a:t>
            </a:r>
            <a:r>
              <a:rPr sz="850" dirty="0">
                <a:solidFill>
                  <a:srgbClr val="7B39EC"/>
                </a:solidFill>
                <a:latin typeface="Courier New"/>
                <a:cs typeface="Courier New"/>
              </a:rPr>
              <a:t>location_name</a:t>
            </a:r>
            <a:r>
              <a:rPr sz="850" spc="-50" dirty="0">
                <a:solidFill>
                  <a:srgbClr val="7B39EC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7B39EC"/>
                </a:solidFill>
                <a:latin typeface="Courier New"/>
                <a:cs typeface="Courier New"/>
              </a:rPr>
              <a:t>·</a:t>
            </a:r>
            <a:r>
              <a:rPr sz="850" spc="-55" dirty="0">
                <a:solidFill>
                  <a:srgbClr val="7B39EC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7B39EC"/>
                </a:solidFill>
                <a:latin typeface="Courier New"/>
                <a:cs typeface="Courier New"/>
              </a:rPr>
              <a:t>recorded_at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33738" y="2856103"/>
            <a:ext cx="7708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Feedback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333738" y="3771112"/>
            <a:ext cx="2317750" cy="6553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5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Subjective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QoE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star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ratings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submitted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by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users,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optionally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linked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metric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reading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that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triggered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them.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345168" y="5074920"/>
            <a:ext cx="2268220" cy="9525"/>
          </a:xfrm>
          <a:custGeom>
            <a:avLst/>
            <a:gdLst/>
            <a:ahLst/>
            <a:cxnLst/>
            <a:rect l="l" t="t" r="r" b="b"/>
            <a:pathLst>
              <a:path w="2268220" h="9525">
                <a:moveTo>
                  <a:pt x="2267712" y="0"/>
                </a:moveTo>
                <a:lnTo>
                  <a:pt x="0" y="0"/>
                </a:lnTo>
                <a:lnTo>
                  <a:pt x="0" y="9143"/>
                </a:lnTo>
                <a:lnTo>
                  <a:pt x="2267712" y="9143"/>
                </a:lnTo>
                <a:lnTo>
                  <a:pt x="2267712" y="0"/>
                </a:lnTo>
                <a:close/>
              </a:path>
            </a:pathLst>
          </a:custGeom>
          <a:solidFill>
            <a:srgbClr val="E1E8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9333738" y="5397804"/>
            <a:ext cx="2043430" cy="339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100"/>
              </a:spcBef>
            </a:pPr>
            <a:r>
              <a:rPr sz="850" dirty="0">
                <a:solidFill>
                  <a:srgbClr val="0891B1"/>
                </a:solidFill>
                <a:latin typeface="Courier New"/>
                <a:cs typeface="Courier New"/>
              </a:rPr>
              <a:t>overall_rating</a:t>
            </a:r>
            <a:r>
              <a:rPr sz="850" spc="-7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891B1"/>
                </a:solidFill>
                <a:latin typeface="Courier New"/>
                <a:cs typeface="Courier New"/>
              </a:rPr>
              <a:t>·</a:t>
            </a:r>
            <a:r>
              <a:rPr sz="850" spc="-6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891B1"/>
                </a:solidFill>
                <a:latin typeface="Courier New"/>
                <a:cs typeface="Courier New"/>
              </a:rPr>
              <a:t>speed_rating</a:t>
            </a:r>
            <a:r>
              <a:rPr sz="850" spc="-6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850" spc="-50" dirty="0">
                <a:solidFill>
                  <a:srgbClr val="0891B1"/>
                </a:solidFill>
                <a:latin typeface="Courier New"/>
                <a:cs typeface="Courier New"/>
              </a:rPr>
              <a:t>· </a:t>
            </a:r>
            <a:r>
              <a:rPr sz="850" dirty="0">
                <a:solidFill>
                  <a:srgbClr val="0891B1"/>
                </a:solidFill>
                <a:latin typeface="Courier New"/>
                <a:cs typeface="Courier New"/>
              </a:rPr>
              <a:t>delay_rating</a:t>
            </a:r>
            <a:r>
              <a:rPr sz="850" spc="-4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850" dirty="0">
                <a:solidFill>
                  <a:srgbClr val="0891B1"/>
                </a:solidFill>
                <a:latin typeface="Courier New"/>
                <a:cs typeface="Courier New"/>
              </a:rPr>
              <a:t>·</a:t>
            </a:r>
            <a:r>
              <a:rPr sz="850" spc="-5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850" spc="-10" dirty="0">
                <a:solidFill>
                  <a:srgbClr val="0891B1"/>
                </a:solidFill>
                <a:latin typeface="Courier New"/>
                <a:cs typeface="Courier New"/>
              </a:rPr>
              <a:t>comment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/>
          <p:cNvSpPr txBox="1"/>
          <p:nvPr/>
        </p:nvSpPr>
        <p:spPr>
          <a:xfrm>
            <a:off x="627380" y="448767"/>
            <a:ext cx="25514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16075" algn="l"/>
              </a:tabLst>
            </a:pP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A</a:t>
            </a:r>
            <a:r>
              <a:rPr sz="1300" b="1" spc="42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49569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49569"/>
                </a:solidFill>
                <a:latin typeface="Calibri"/>
                <a:cs typeface="Calibri"/>
              </a:rPr>
              <a:t>S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	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P</a:t>
            </a:r>
            <a:r>
              <a:rPr sz="1300" b="1" spc="41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D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V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network_metric:</a:t>
            </a:r>
            <a:r>
              <a:rPr sz="2600" spc="-95" dirty="0"/>
              <a:t> </a:t>
            </a:r>
            <a:r>
              <a:rPr sz="2600" dirty="0"/>
              <a:t>The</a:t>
            </a:r>
            <a:r>
              <a:rPr sz="2600" spc="-70" dirty="0"/>
              <a:t> </a:t>
            </a:r>
            <a:r>
              <a:rPr sz="2600" dirty="0"/>
              <a:t>Core</a:t>
            </a:r>
            <a:r>
              <a:rPr sz="2600" spc="-95" dirty="0"/>
              <a:t> </a:t>
            </a:r>
            <a:r>
              <a:rPr sz="2600" spc="-10" dirty="0"/>
              <a:t>Measurement</a:t>
            </a:r>
            <a:r>
              <a:rPr sz="2600" spc="-70" dirty="0"/>
              <a:t> </a:t>
            </a:r>
            <a:r>
              <a:rPr sz="2600" spc="-10" dirty="0"/>
              <a:t>Table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627380" y="1304290"/>
            <a:ext cx="56349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This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table</a:t>
            </a:r>
            <a:r>
              <a:rPr sz="13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receives</a:t>
            </a:r>
            <a:r>
              <a:rPr sz="13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one</a:t>
            </a:r>
            <a:r>
              <a:rPr sz="13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new</a:t>
            </a:r>
            <a:r>
              <a:rPr sz="13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row</a:t>
            </a:r>
            <a:r>
              <a:rPr sz="13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roughly</a:t>
            </a:r>
            <a:r>
              <a:rPr sz="13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60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seconds</a:t>
            </a:r>
            <a:r>
              <a:rPr sz="13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sz="13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active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48A"/>
                </a:solidFill>
                <a:latin typeface="Calibri"/>
                <a:cs typeface="Calibri"/>
              </a:rPr>
              <a:t>device.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6905" y="1779904"/>
          <a:ext cx="10881359" cy="449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7440"/>
                <a:gridCol w="1737360"/>
                <a:gridCol w="6766559"/>
              </a:tblGrid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49569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49569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49569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metric_id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SERIAL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Auto-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incremented</a:t>
                      </a:r>
                      <a:r>
                        <a:rPr sz="1050" spc="-4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integer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uniquely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identifies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each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reading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anonymous_id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UUID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Foreign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linking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recorded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network_type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2G,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3G,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4G</a:t>
                      </a:r>
                      <a:r>
                        <a:rPr sz="1050" spc="-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LTE,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5G,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WiFi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operator_name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MTN,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Orange,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or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CAMTEL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signal_strength_dbm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INTEGER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Signal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strength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dBm</a:t>
                      </a:r>
                      <a:r>
                        <a:rPr sz="1050" spc="19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closer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means</a:t>
                      </a:r>
                      <a:r>
                        <a:rPr sz="1050" spc="-3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stronger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download_mbps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NUMERIC(8,2)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Measured</a:t>
                      </a:r>
                      <a:r>
                        <a:rPr sz="1050" spc="-4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download</a:t>
                      </a:r>
                      <a:r>
                        <a:rPr sz="1050" spc="-4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throughput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upload_mbps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NUMERIC(8,2)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Measured</a:t>
                      </a:r>
                      <a:r>
                        <a:rPr sz="1050" spc="-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upload</a:t>
                      </a:r>
                      <a:r>
                        <a:rPr sz="1050" spc="-3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throughput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latency_ms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NUMERIC(8,2)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0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Round-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trip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ping</a:t>
                      </a:r>
                      <a:r>
                        <a:rPr sz="1050" spc="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jitter_ms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NUMERIC(8,2)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Variability</a:t>
                      </a:r>
                      <a:r>
                        <a:rPr sz="1050" spc="-3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latency</a:t>
                      </a:r>
                      <a:r>
                        <a:rPr sz="1050" spc="229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indicates connection</a:t>
                      </a:r>
                      <a:r>
                        <a:rPr sz="1050" spc="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stability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packet_loss_pct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NUMERIC(5,2)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Percentage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packets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lost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transmission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50" b="1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recorded_at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050" spc="-1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TIMESTAMPTZ</a:t>
                      </a:r>
                      <a:endParaRPr sz="1050">
                        <a:latin typeface="Courier New"/>
                        <a:cs typeface="Courier New"/>
                      </a:endParaRPr>
                    </a:p>
                  </a:txBody>
                  <a:tcPr marL="0" marR="0" marT="9271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Timestamp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measurement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2238755"/>
              <a:ext cx="1438656" cy="143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233172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13" y="1970"/>
                  </a:lnTo>
                  <a:lnTo>
                    <a:pt x="497951" y="7778"/>
                  </a:lnTo>
                  <a:lnTo>
                    <a:pt x="451528" y="17271"/>
                  </a:lnTo>
                  <a:lnTo>
                    <a:pt x="406495" y="30297"/>
                  </a:lnTo>
                  <a:lnTo>
                    <a:pt x="363007" y="46702"/>
                  </a:lnTo>
                  <a:lnTo>
                    <a:pt x="321216" y="66334"/>
                  </a:lnTo>
                  <a:lnTo>
                    <a:pt x="281276" y="89039"/>
                  </a:lnTo>
                  <a:lnTo>
                    <a:pt x="243338" y="114665"/>
                  </a:lnTo>
                  <a:lnTo>
                    <a:pt x="207556" y="143060"/>
                  </a:lnTo>
                  <a:lnTo>
                    <a:pt x="174083" y="174069"/>
                  </a:lnTo>
                  <a:lnTo>
                    <a:pt x="143072" y="207540"/>
                  </a:lnTo>
                  <a:lnTo>
                    <a:pt x="114676" y="243321"/>
                  </a:lnTo>
                  <a:lnTo>
                    <a:pt x="89048" y="281259"/>
                  </a:lnTo>
                  <a:lnTo>
                    <a:pt x="66341" y="321200"/>
                  </a:lnTo>
                  <a:lnTo>
                    <a:pt x="46707" y="362991"/>
                  </a:lnTo>
                  <a:lnTo>
                    <a:pt x="30300" y="406481"/>
                  </a:lnTo>
                  <a:lnTo>
                    <a:pt x="17273" y="451515"/>
                  </a:lnTo>
                  <a:lnTo>
                    <a:pt x="7779" y="497942"/>
                  </a:lnTo>
                  <a:lnTo>
                    <a:pt x="1970" y="545607"/>
                  </a:lnTo>
                  <a:lnTo>
                    <a:pt x="0" y="594359"/>
                  </a:lnTo>
                  <a:lnTo>
                    <a:pt x="1970" y="643112"/>
                  </a:lnTo>
                  <a:lnTo>
                    <a:pt x="7779" y="690777"/>
                  </a:lnTo>
                  <a:lnTo>
                    <a:pt x="17273" y="737204"/>
                  </a:lnTo>
                  <a:lnTo>
                    <a:pt x="30300" y="782238"/>
                  </a:lnTo>
                  <a:lnTo>
                    <a:pt x="46707" y="825728"/>
                  </a:lnTo>
                  <a:lnTo>
                    <a:pt x="66341" y="867519"/>
                  </a:lnTo>
                  <a:lnTo>
                    <a:pt x="89048" y="907460"/>
                  </a:lnTo>
                  <a:lnTo>
                    <a:pt x="114676" y="945398"/>
                  </a:lnTo>
                  <a:lnTo>
                    <a:pt x="143072" y="981179"/>
                  </a:lnTo>
                  <a:lnTo>
                    <a:pt x="174083" y="1014650"/>
                  </a:lnTo>
                  <a:lnTo>
                    <a:pt x="207556" y="1045659"/>
                  </a:lnTo>
                  <a:lnTo>
                    <a:pt x="243338" y="1074054"/>
                  </a:lnTo>
                  <a:lnTo>
                    <a:pt x="281276" y="1099680"/>
                  </a:lnTo>
                  <a:lnTo>
                    <a:pt x="321216" y="1122385"/>
                  </a:lnTo>
                  <a:lnTo>
                    <a:pt x="363007" y="1142017"/>
                  </a:lnTo>
                  <a:lnTo>
                    <a:pt x="406495" y="1158422"/>
                  </a:lnTo>
                  <a:lnTo>
                    <a:pt x="451528" y="1171448"/>
                  </a:lnTo>
                  <a:lnTo>
                    <a:pt x="497951" y="1180941"/>
                  </a:lnTo>
                  <a:lnTo>
                    <a:pt x="545613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59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" y="2670048"/>
              <a:ext cx="512064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90673" y="2179141"/>
            <a:ext cx="796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>
                <a:solidFill>
                  <a:srgbClr val="7B39EC"/>
                </a:solidFill>
              </a:rPr>
              <a:t>02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645668" y="3583304"/>
            <a:ext cx="4436745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1E293A"/>
                </a:solidFill>
                <a:latin typeface="Calibri"/>
                <a:cs typeface="Calibri"/>
              </a:rPr>
              <a:t>Conceptual</a:t>
            </a:r>
            <a:r>
              <a:rPr sz="4000" b="1" spc="-1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Design</a:t>
            </a:r>
            <a:endParaRPr sz="4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900"/>
              </a:spcBef>
            </a:pP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Entities,</a:t>
            </a:r>
            <a:r>
              <a:rPr sz="15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relationships,</a:t>
            </a:r>
            <a:r>
              <a:rPr sz="1500" i="1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 attributes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sz="15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Chen</a:t>
            </a:r>
            <a:r>
              <a:rPr sz="1500" i="1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ER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notation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19132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U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L</a:t>
            </a:r>
            <a:r>
              <a:rPr sz="1300" b="1" spc="409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G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Entities</a:t>
            </a:r>
            <a:r>
              <a:rPr sz="2800" spc="-60" dirty="0"/>
              <a:t> </a:t>
            </a:r>
            <a:r>
              <a:rPr sz="2800" dirty="0"/>
              <a:t>and</a:t>
            </a:r>
            <a:r>
              <a:rPr sz="2800" spc="-55" dirty="0"/>
              <a:t> </a:t>
            </a:r>
            <a:r>
              <a:rPr sz="2800" dirty="0"/>
              <a:t>How</a:t>
            </a:r>
            <a:r>
              <a:rPr sz="2800" spc="-65" dirty="0"/>
              <a:t> </a:t>
            </a:r>
            <a:r>
              <a:rPr sz="2800" dirty="0"/>
              <a:t>They</a:t>
            </a:r>
            <a:r>
              <a:rPr sz="2800" spc="-45" dirty="0"/>
              <a:t> </a:t>
            </a:r>
            <a:r>
              <a:rPr sz="2800" spc="-10" dirty="0"/>
              <a:t>Relate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633730" y="1410969"/>
            <a:ext cx="5499100" cy="652780"/>
            <a:chOff x="633730" y="1410969"/>
            <a:chExt cx="5499100" cy="652780"/>
          </a:xfrm>
        </p:grpSpPr>
        <p:sp>
          <p:nvSpPr>
            <p:cNvPr id="5" name="object 5"/>
            <p:cNvSpPr/>
            <p:nvPr/>
          </p:nvSpPr>
          <p:spPr>
            <a:xfrm>
              <a:off x="640080" y="1417319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541324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566927"/>
                  </a:lnTo>
                  <a:lnTo>
                    <a:pt x="5748" y="595395"/>
                  </a:lnTo>
                  <a:lnTo>
                    <a:pt x="21426" y="618648"/>
                  </a:lnTo>
                  <a:lnTo>
                    <a:pt x="44678" y="634329"/>
                  </a:lnTo>
                  <a:lnTo>
                    <a:pt x="73151" y="640079"/>
                  </a:lnTo>
                  <a:lnTo>
                    <a:pt x="5413248" y="640079"/>
                  </a:lnTo>
                  <a:lnTo>
                    <a:pt x="5441715" y="634329"/>
                  </a:lnTo>
                  <a:lnTo>
                    <a:pt x="5464968" y="618648"/>
                  </a:lnTo>
                  <a:lnTo>
                    <a:pt x="5480649" y="595395"/>
                  </a:lnTo>
                  <a:lnTo>
                    <a:pt x="5486400" y="566927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0080" y="1417319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8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566927"/>
                  </a:lnTo>
                  <a:lnTo>
                    <a:pt x="5480649" y="595395"/>
                  </a:lnTo>
                  <a:lnTo>
                    <a:pt x="5464968" y="618648"/>
                  </a:lnTo>
                  <a:lnTo>
                    <a:pt x="5441715" y="634329"/>
                  </a:lnTo>
                  <a:lnTo>
                    <a:pt x="5413248" y="640079"/>
                  </a:lnTo>
                  <a:lnTo>
                    <a:pt x="73151" y="640079"/>
                  </a:lnTo>
                  <a:lnTo>
                    <a:pt x="44678" y="634329"/>
                  </a:lnTo>
                  <a:lnTo>
                    <a:pt x="21426" y="618648"/>
                  </a:lnTo>
                  <a:lnTo>
                    <a:pt x="5748" y="595395"/>
                  </a:lnTo>
                  <a:lnTo>
                    <a:pt x="0" y="56692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259" y="1624329"/>
            <a:ext cx="373887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SUBSCRIBER_DEVICE</a:t>
            </a:r>
            <a:r>
              <a:rPr sz="1200" b="1" spc="26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2462EB"/>
                </a:solidFill>
                <a:latin typeface="Calibri"/>
                <a:cs typeface="Calibri"/>
              </a:rPr>
              <a:t>generates</a:t>
            </a:r>
            <a:r>
              <a:rPr sz="1200" i="1" spc="23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NETWORK_METRIC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74920" y="1508760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166" y="2087"/>
                </a:lnTo>
                <a:lnTo>
                  <a:pt x="335668" y="8166"/>
                </a:lnTo>
                <a:lnTo>
                  <a:pt x="279249" y="17966"/>
                </a:lnTo>
                <a:lnTo>
                  <a:pt x="226455" y="31213"/>
                </a:lnTo>
                <a:lnTo>
                  <a:pt x="177830" y="47636"/>
                </a:lnTo>
                <a:lnTo>
                  <a:pt x="133921" y="66960"/>
                </a:lnTo>
                <a:lnTo>
                  <a:pt x="95272" y="88915"/>
                </a:lnTo>
                <a:lnTo>
                  <a:pt x="62427" y="113227"/>
                </a:lnTo>
                <a:lnTo>
                  <a:pt x="16333" y="167834"/>
                </a:lnTo>
                <a:lnTo>
                  <a:pt x="0" y="228600"/>
                </a:lnTo>
                <a:lnTo>
                  <a:pt x="4174" y="259616"/>
                </a:lnTo>
                <a:lnTo>
                  <a:pt x="35933" y="317575"/>
                </a:lnTo>
                <a:lnTo>
                  <a:pt x="95272" y="368284"/>
                </a:lnTo>
                <a:lnTo>
                  <a:pt x="133921" y="390239"/>
                </a:lnTo>
                <a:lnTo>
                  <a:pt x="177830" y="409563"/>
                </a:lnTo>
                <a:lnTo>
                  <a:pt x="226455" y="425986"/>
                </a:lnTo>
                <a:lnTo>
                  <a:pt x="279249" y="439233"/>
                </a:lnTo>
                <a:lnTo>
                  <a:pt x="335668" y="449033"/>
                </a:lnTo>
                <a:lnTo>
                  <a:pt x="395166" y="455112"/>
                </a:lnTo>
                <a:lnTo>
                  <a:pt x="457200" y="457200"/>
                </a:lnTo>
                <a:lnTo>
                  <a:pt x="519233" y="455112"/>
                </a:lnTo>
                <a:lnTo>
                  <a:pt x="578731" y="449033"/>
                </a:lnTo>
                <a:lnTo>
                  <a:pt x="635150" y="439233"/>
                </a:lnTo>
                <a:lnTo>
                  <a:pt x="687944" y="425986"/>
                </a:lnTo>
                <a:lnTo>
                  <a:pt x="736569" y="409563"/>
                </a:lnTo>
                <a:lnTo>
                  <a:pt x="780478" y="390239"/>
                </a:lnTo>
                <a:lnTo>
                  <a:pt x="819127" y="368284"/>
                </a:lnTo>
                <a:lnTo>
                  <a:pt x="851972" y="343972"/>
                </a:lnTo>
                <a:lnTo>
                  <a:pt x="898066" y="289365"/>
                </a:lnTo>
                <a:lnTo>
                  <a:pt x="914400" y="228600"/>
                </a:lnTo>
                <a:lnTo>
                  <a:pt x="910225" y="197583"/>
                </a:lnTo>
                <a:lnTo>
                  <a:pt x="878466" y="139624"/>
                </a:lnTo>
                <a:lnTo>
                  <a:pt x="819127" y="88915"/>
                </a:lnTo>
                <a:lnTo>
                  <a:pt x="780478" y="66960"/>
                </a:lnTo>
                <a:lnTo>
                  <a:pt x="736569" y="47636"/>
                </a:lnTo>
                <a:lnTo>
                  <a:pt x="687944" y="31213"/>
                </a:lnTo>
                <a:lnTo>
                  <a:pt x="635150" y="17966"/>
                </a:lnTo>
                <a:lnTo>
                  <a:pt x="578731" y="8166"/>
                </a:lnTo>
                <a:lnTo>
                  <a:pt x="519233" y="2087"/>
                </a:lnTo>
                <a:lnTo>
                  <a:pt x="457200" y="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85942" y="1631950"/>
            <a:ext cx="2914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33730" y="2169922"/>
            <a:ext cx="5499100" cy="652780"/>
            <a:chOff x="633730" y="2169922"/>
            <a:chExt cx="5499100" cy="652780"/>
          </a:xfrm>
        </p:grpSpPr>
        <p:sp>
          <p:nvSpPr>
            <p:cNvPr id="11" name="object 11"/>
            <p:cNvSpPr/>
            <p:nvPr/>
          </p:nvSpPr>
          <p:spPr>
            <a:xfrm>
              <a:off x="640080" y="2176272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541324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566927"/>
                  </a:lnTo>
                  <a:lnTo>
                    <a:pt x="5748" y="595395"/>
                  </a:lnTo>
                  <a:lnTo>
                    <a:pt x="21426" y="618648"/>
                  </a:lnTo>
                  <a:lnTo>
                    <a:pt x="44678" y="634329"/>
                  </a:lnTo>
                  <a:lnTo>
                    <a:pt x="73151" y="640079"/>
                  </a:lnTo>
                  <a:lnTo>
                    <a:pt x="5413248" y="640079"/>
                  </a:lnTo>
                  <a:lnTo>
                    <a:pt x="5441715" y="634329"/>
                  </a:lnTo>
                  <a:lnTo>
                    <a:pt x="5464968" y="618648"/>
                  </a:lnTo>
                  <a:lnTo>
                    <a:pt x="5480649" y="595395"/>
                  </a:lnTo>
                  <a:lnTo>
                    <a:pt x="5486400" y="566927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" y="2176272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8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8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566927"/>
                  </a:lnTo>
                  <a:lnTo>
                    <a:pt x="5480649" y="595395"/>
                  </a:lnTo>
                  <a:lnTo>
                    <a:pt x="5464968" y="618648"/>
                  </a:lnTo>
                  <a:lnTo>
                    <a:pt x="5441715" y="634329"/>
                  </a:lnTo>
                  <a:lnTo>
                    <a:pt x="5413248" y="640079"/>
                  </a:lnTo>
                  <a:lnTo>
                    <a:pt x="73151" y="640079"/>
                  </a:lnTo>
                  <a:lnTo>
                    <a:pt x="44678" y="634329"/>
                  </a:lnTo>
                  <a:lnTo>
                    <a:pt x="21426" y="618648"/>
                  </a:lnTo>
                  <a:lnTo>
                    <a:pt x="5748" y="595395"/>
                  </a:lnTo>
                  <a:lnTo>
                    <a:pt x="0" y="56692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0259" y="2383663"/>
            <a:ext cx="29997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SUBSCRIBER_DEVICE</a:t>
            </a:r>
            <a:r>
              <a:rPr sz="1200" b="1" spc="2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7B39EC"/>
                </a:solidFill>
                <a:latin typeface="Calibri"/>
                <a:cs typeface="Calibri"/>
              </a:rPr>
              <a:t>records</a:t>
            </a:r>
            <a:r>
              <a:rPr sz="1200" i="1" spc="24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LOCATION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4920" y="2267711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166" y="2087"/>
                </a:lnTo>
                <a:lnTo>
                  <a:pt x="335668" y="8166"/>
                </a:lnTo>
                <a:lnTo>
                  <a:pt x="279249" y="17966"/>
                </a:lnTo>
                <a:lnTo>
                  <a:pt x="226455" y="31213"/>
                </a:lnTo>
                <a:lnTo>
                  <a:pt x="177830" y="47636"/>
                </a:lnTo>
                <a:lnTo>
                  <a:pt x="133921" y="66960"/>
                </a:lnTo>
                <a:lnTo>
                  <a:pt x="95272" y="88915"/>
                </a:lnTo>
                <a:lnTo>
                  <a:pt x="62427" y="113227"/>
                </a:lnTo>
                <a:lnTo>
                  <a:pt x="16333" y="167834"/>
                </a:lnTo>
                <a:lnTo>
                  <a:pt x="0" y="228600"/>
                </a:lnTo>
                <a:lnTo>
                  <a:pt x="4174" y="259616"/>
                </a:lnTo>
                <a:lnTo>
                  <a:pt x="35933" y="317575"/>
                </a:lnTo>
                <a:lnTo>
                  <a:pt x="95272" y="368284"/>
                </a:lnTo>
                <a:lnTo>
                  <a:pt x="133921" y="390239"/>
                </a:lnTo>
                <a:lnTo>
                  <a:pt x="177830" y="409563"/>
                </a:lnTo>
                <a:lnTo>
                  <a:pt x="226455" y="425986"/>
                </a:lnTo>
                <a:lnTo>
                  <a:pt x="279249" y="439233"/>
                </a:lnTo>
                <a:lnTo>
                  <a:pt x="335668" y="449033"/>
                </a:lnTo>
                <a:lnTo>
                  <a:pt x="395166" y="455112"/>
                </a:lnTo>
                <a:lnTo>
                  <a:pt x="457200" y="457200"/>
                </a:lnTo>
                <a:lnTo>
                  <a:pt x="519233" y="455112"/>
                </a:lnTo>
                <a:lnTo>
                  <a:pt x="578731" y="449033"/>
                </a:lnTo>
                <a:lnTo>
                  <a:pt x="635150" y="439233"/>
                </a:lnTo>
                <a:lnTo>
                  <a:pt x="687944" y="425986"/>
                </a:lnTo>
                <a:lnTo>
                  <a:pt x="736569" y="409563"/>
                </a:lnTo>
                <a:lnTo>
                  <a:pt x="780478" y="390239"/>
                </a:lnTo>
                <a:lnTo>
                  <a:pt x="819127" y="368284"/>
                </a:lnTo>
                <a:lnTo>
                  <a:pt x="851972" y="343972"/>
                </a:lnTo>
                <a:lnTo>
                  <a:pt x="898066" y="289365"/>
                </a:lnTo>
                <a:lnTo>
                  <a:pt x="914400" y="228600"/>
                </a:lnTo>
                <a:lnTo>
                  <a:pt x="910225" y="197583"/>
                </a:lnTo>
                <a:lnTo>
                  <a:pt x="878466" y="139624"/>
                </a:lnTo>
                <a:lnTo>
                  <a:pt x="819127" y="88915"/>
                </a:lnTo>
                <a:lnTo>
                  <a:pt x="780478" y="66960"/>
                </a:lnTo>
                <a:lnTo>
                  <a:pt x="736569" y="47636"/>
                </a:lnTo>
                <a:lnTo>
                  <a:pt x="687944" y="31213"/>
                </a:lnTo>
                <a:lnTo>
                  <a:pt x="635150" y="17966"/>
                </a:lnTo>
                <a:lnTo>
                  <a:pt x="578731" y="8166"/>
                </a:lnTo>
                <a:lnTo>
                  <a:pt x="519233" y="2087"/>
                </a:lnTo>
                <a:lnTo>
                  <a:pt x="457200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385942" y="2391282"/>
            <a:ext cx="29146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33730" y="2928873"/>
            <a:ext cx="5499100" cy="652780"/>
            <a:chOff x="633730" y="2928873"/>
            <a:chExt cx="5499100" cy="652780"/>
          </a:xfrm>
        </p:grpSpPr>
        <p:sp>
          <p:nvSpPr>
            <p:cNvPr id="17" name="object 17"/>
            <p:cNvSpPr/>
            <p:nvPr/>
          </p:nvSpPr>
          <p:spPr>
            <a:xfrm>
              <a:off x="640080" y="2935223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79">
                  <a:moveTo>
                    <a:pt x="541324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566927"/>
                  </a:lnTo>
                  <a:lnTo>
                    <a:pt x="5748" y="595395"/>
                  </a:lnTo>
                  <a:lnTo>
                    <a:pt x="21426" y="618648"/>
                  </a:lnTo>
                  <a:lnTo>
                    <a:pt x="44678" y="634329"/>
                  </a:lnTo>
                  <a:lnTo>
                    <a:pt x="73151" y="640079"/>
                  </a:lnTo>
                  <a:lnTo>
                    <a:pt x="5413248" y="640079"/>
                  </a:lnTo>
                  <a:lnTo>
                    <a:pt x="5441715" y="634329"/>
                  </a:lnTo>
                  <a:lnTo>
                    <a:pt x="5464968" y="618648"/>
                  </a:lnTo>
                  <a:lnTo>
                    <a:pt x="5480649" y="595395"/>
                  </a:lnTo>
                  <a:lnTo>
                    <a:pt x="5486400" y="566927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0080" y="2935223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8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566927"/>
                  </a:lnTo>
                  <a:lnTo>
                    <a:pt x="5480649" y="595395"/>
                  </a:lnTo>
                  <a:lnTo>
                    <a:pt x="5464968" y="618648"/>
                  </a:lnTo>
                  <a:lnTo>
                    <a:pt x="5441715" y="634329"/>
                  </a:lnTo>
                  <a:lnTo>
                    <a:pt x="5413248" y="640079"/>
                  </a:lnTo>
                  <a:lnTo>
                    <a:pt x="73151" y="640079"/>
                  </a:lnTo>
                  <a:lnTo>
                    <a:pt x="44678" y="634329"/>
                  </a:lnTo>
                  <a:lnTo>
                    <a:pt x="21426" y="618648"/>
                  </a:lnTo>
                  <a:lnTo>
                    <a:pt x="5748" y="595395"/>
                  </a:lnTo>
                  <a:lnTo>
                    <a:pt x="0" y="56692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10259" y="3142310"/>
            <a:ext cx="30346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SUBSCRIBER_DEVICE</a:t>
            </a:r>
            <a:r>
              <a:rPr sz="1200" b="1" spc="2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54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49569"/>
                </a:solidFill>
                <a:latin typeface="Calibri"/>
                <a:cs typeface="Calibri"/>
              </a:rPr>
              <a:t>submits</a:t>
            </a:r>
            <a:r>
              <a:rPr sz="1200" i="1" spc="22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FEEDBACK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074920" y="3026664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166" y="2087"/>
                </a:lnTo>
                <a:lnTo>
                  <a:pt x="335668" y="8166"/>
                </a:lnTo>
                <a:lnTo>
                  <a:pt x="279249" y="17966"/>
                </a:lnTo>
                <a:lnTo>
                  <a:pt x="226455" y="31213"/>
                </a:lnTo>
                <a:lnTo>
                  <a:pt x="177830" y="47636"/>
                </a:lnTo>
                <a:lnTo>
                  <a:pt x="133921" y="66960"/>
                </a:lnTo>
                <a:lnTo>
                  <a:pt x="95272" y="88915"/>
                </a:lnTo>
                <a:lnTo>
                  <a:pt x="62427" y="113227"/>
                </a:lnTo>
                <a:lnTo>
                  <a:pt x="16333" y="167834"/>
                </a:lnTo>
                <a:lnTo>
                  <a:pt x="0" y="228600"/>
                </a:lnTo>
                <a:lnTo>
                  <a:pt x="4174" y="259616"/>
                </a:lnTo>
                <a:lnTo>
                  <a:pt x="35933" y="317575"/>
                </a:lnTo>
                <a:lnTo>
                  <a:pt x="95272" y="368284"/>
                </a:lnTo>
                <a:lnTo>
                  <a:pt x="133921" y="390239"/>
                </a:lnTo>
                <a:lnTo>
                  <a:pt x="177830" y="409563"/>
                </a:lnTo>
                <a:lnTo>
                  <a:pt x="226455" y="425986"/>
                </a:lnTo>
                <a:lnTo>
                  <a:pt x="279249" y="439233"/>
                </a:lnTo>
                <a:lnTo>
                  <a:pt x="335668" y="449033"/>
                </a:lnTo>
                <a:lnTo>
                  <a:pt x="395166" y="455112"/>
                </a:lnTo>
                <a:lnTo>
                  <a:pt x="457200" y="457200"/>
                </a:lnTo>
                <a:lnTo>
                  <a:pt x="519233" y="455112"/>
                </a:lnTo>
                <a:lnTo>
                  <a:pt x="578731" y="449033"/>
                </a:lnTo>
                <a:lnTo>
                  <a:pt x="635150" y="439233"/>
                </a:lnTo>
                <a:lnTo>
                  <a:pt x="687944" y="425986"/>
                </a:lnTo>
                <a:lnTo>
                  <a:pt x="736569" y="409563"/>
                </a:lnTo>
                <a:lnTo>
                  <a:pt x="780478" y="390239"/>
                </a:lnTo>
                <a:lnTo>
                  <a:pt x="819127" y="368284"/>
                </a:lnTo>
                <a:lnTo>
                  <a:pt x="851972" y="343972"/>
                </a:lnTo>
                <a:lnTo>
                  <a:pt x="898066" y="289365"/>
                </a:lnTo>
                <a:lnTo>
                  <a:pt x="914400" y="228600"/>
                </a:lnTo>
                <a:lnTo>
                  <a:pt x="910225" y="197583"/>
                </a:lnTo>
                <a:lnTo>
                  <a:pt x="878466" y="139624"/>
                </a:lnTo>
                <a:lnTo>
                  <a:pt x="819127" y="88915"/>
                </a:lnTo>
                <a:lnTo>
                  <a:pt x="780478" y="66960"/>
                </a:lnTo>
                <a:lnTo>
                  <a:pt x="736569" y="47636"/>
                </a:lnTo>
                <a:lnTo>
                  <a:pt x="687944" y="31213"/>
                </a:lnTo>
                <a:lnTo>
                  <a:pt x="635150" y="17966"/>
                </a:lnTo>
                <a:lnTo>
                  <a:pt x="578731" y="8166"/>
                </a:lnTo>
                <a:lnTo>
                  <a:pt x="519233" y="2087"/>
                </a:lnTo>
                <a:lnTo>
                  <a:pt x="457200" y="0"/>
                </a:lnTo>
                <a:close/>
              </a:path>
            </a:pathLst>
          </a:custGeom>
          <a:solidFill>
            <a:srgbClr val="049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385942" y="3149930"/>
            <a:ext cx="29146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1 :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33730" y="3687826"/>
            <a:ext cx="5499100" cy="652780"/>
            <a:chOff x="633730" y="3687826"/>
            <a:chExt cx="5499100" cy="652780"/>
          </a:xfrm>
        </p:grpSpPr>
        <p:sp>
          <p:nvSpPr>
            <p:cNvPr id="23" name="object 23"/>
            <p:cNvSpPr/>
            <p:nvPr/>
          </p:nvSpPr>
          <p:spPr>
            <a:xfrm>
              <a:off x="640080" y="3694176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79">
                  <a:moveTo>
                    <a:pt x="541324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1"/>
                  </a:lnTo>
                  <a:lnTo>
                    <a:pt x="0" y="566928"/>
                  </a:lnTo>
                  <a:lnTo>
                    <a:pt x="5748" y="595395"/>
                  </a:lnTo>
                  <a:lnTo>
                    <a:pt x="21426" y="618648"/>
                  </a:lnTo>
                  <a:lnTo>
                    <a:pt x="44678" y="634329"/>
                  </a:lnTo>
                  <a:lnTo>
                    <a:pt x="73151" y="640080"/>
                  </a:lnTo>
                  <a:lnTo>
                    <a:pt x="5413248" y="640080"/>
                  </a:lnTo>
                  <a:lnTo>
                    <a:pt x="5441715" y="634329"/>
                  </a:lnTo>
                  <a:lnTo>
                    <a:pt x="5464968" y="618648"/>
                  </a:lnTo>
                  <a:lnTo>
                    <a:pt x="5480649" y="595395"/>
                  </a:lnTo>
                  <a:lnTo>
                    <a:pt x="5486400" y="566928"/>
                  </a:lnTo>
                  <a:lnTo>
                    <a:pt x="5486400" y="73151"/>
                  </a:lnTo>
                  <a:lnTo>
                    <a:pt x="5480649" y="44684"/>
                  </a:lnTo>
                  <a:lnTo>
                    <a:pt x="5464968" y="21431"/>
                  </a:lnTo>
                  <a:lnTo>
                    <a:pt x="5441715" y="5750"/>
                  </a:lnTo>
                  <a:lnTo>
                    <a:pt x="541324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0080" y="3694176"/>
              <a:ext cx="5486400" cy="640080"/>
            </a:xfrm>
            <a:custGeom>
              <a:avLst/>
              <a:gdLst/>
              <a:ahLst/>
              <a:cxnLst/>
              <a:rect l="l" t="t" r="r" b="b"/>
              <a:pathLst>
                <a:path w="5486400" h="640079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5413248" y="0"/>
                  </a:lnTo>
                  <a:lnTo>
                    <a:pt x="5441715" y="5750"/>
                  </a:lnTo>
                  <a:lnTo>
                    <a:pt x="5464968" y="21431"/>
                  </a:lnTo>
                  <a:lnTo>
                    <a:pt x="5480649" y="44684"/>
                  </a:lnTo>
                  <a:lnTo>
                    <a:pt x="5486400" y="73151"/>
                  </a:lnTo>
                  <a:lnTo>
                    <a:pt x="5486400" y="566928"/>
                  </a:lnTo>
                  <a:lnTo>
                    <a:pt x="5480649" y="595395"/>
                  </a:lnTo>
                  <a:lnTo>
                    <a:pt x="5464968" y="618648"/>
                  </a:lnTo>
                  <a:lnTo>
                    <a:pt x="5441715" y="634329"/>
                  </a:lnTo>
                  <a:lnTo>
                    <a:pt x="5413248" y="640080"/>
                  </a:lnTo>
                  <a:lnTo>
                    <a:pt x="73151" y="640080"/>
                  </a:lnTo>
                  <a:lnTo>
                    <a:pt x="44678" y="634329"/>
                  </a:lnTo>
                  <a:lnTo>
                    <a:pt x="21426" y="618648"/>
                  </a:lnTo>
                  <a:lnTo>
                    <a:pt x="5748" y="595395"/>
                  </a:lnTo>
                  <a:lnTo>
                    <a:pt x="0" y="566928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0259" y="3901820"/>
            <a:ext cx="36252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NETWORK_METRIC</a:t>
            </a:r>
            <a:r>
              <a:rPr sz="1200" b="1" spc="2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29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891B1"/>
                </a:solidFill>
                <a:latin typeface="Calibri"/>
                <a:cs typeface="Calibri"/>
              </a:rPr>
              <a:t>linked</a:t>
            </a:r>
            <a:r>
              <a:rPr sz="1200" i="1" spc="-1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891B1"/>
                </a:solidFill>
                <a:latin typeface="Calibri"/>
                <a:cs typeface="Calibri"/>
              </a:rPr>
              <a:t>to</a:t>
            </a:r>
            <a:r>
              <a:rPr sz="1200" i="1" spc="-4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891B1"/>
                </a:solidFill>
                <a:latin typeface="Calibri"/>
                <a:cs typeface="Calibri"/>
              </a:rPr>
              <a:t>(optional)</a:t>
            </a:r>
            <a:r>
              <a:rPr sz="1200" i="1" spc="22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93A2B8"/>
                </a:solidFill>
                <a:latin typeface="Calibri"/>
                <a:cs typeface="Calibri"/>
              </a:rPr>
              <a:t>→</a:t>
            </a:r>
            <a:r>
              <a:rPr sz="1200" spc="2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FEEDBACK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074920" y="3785615"/>
            <a:ext cx="914400" cy="457200"/>
          </a:xfrm>
          <a:custGeom>
            <a:avLst/>
            <a:gdLst/>
            <a:ahLst/>
            <a:cxnLst/>
            <a:rect l="l" t="t" r="r" b="b"/>
            <a:pathLst>
              <a:path w="914400" h="457200">
                <a:moveTo>
                  <a:pt x="457200" y="0"/>
                </a:moveTo>
                <a:lnTo>
                  <a:pt x="395166" y="2087"/>
                </a:lnTo>
                <a:lnTo>
                  <a:pt x="335668" y="8166"/>
                </a:lnTo>
                <a:lnTo>
                  <a:pt x="279249" y="17966"/>
                </a:lnTo>
                <a:lnTo>
                  <a:pt x="226455" y="31213"/>
                </a:lnTo>
                <a:lnTo>
                  <a:pt x="177830" y="47636"/>
                </a:lnTo>
                <a:lnTo>
                  <a:pt x="133921" y="66960"/>
                </a:lnTo>
                <a:lnTo>
                  <a:pt x="95272" y="88915"/>
                </a:lnTo>
                <a:lnTo>
                  <a:pt x="62427" y="113227"/>
                </a:lnTo>
                <a:lnTo>
                  <a:pt x="16333" y="167834"/>
                </a:lnTo>
                <a:lnTo>
                  <a:pt x="0" y="228599"/>
                </a:lnTo>
                <a:lnTo>
                  <a:pt x="4174" y="259616"/>
                </a:lnTo>
                <a:lnTo>
                  <a:pt x="35933" y="317575"/>
                </a:lnTo>
                <a:lnTo>
                  <a:pt x="95272" y="368284"/>
                </a:lnTo>
                <a:lnTo>
                  <a:pt x="133921" y="390239"/>
                </a:lnTo>
                <a:lnTo>
                  <a:pt x="177830" y="409563"/>
                </a:lnTo>
                <a:lnTo>
                  <a:pt x="226455" y="425986"/>
                </a:lnTo>
                <a:lnTo>
                  <a:pt x="279249" y="439233"/>
                </a:lnTo>
                <a:lnTo>
                  <a:pt x="335668" y="449033"/>
                </a:lnTo>
                <a:lnTo>
                  <a:pt x="395166" y="455112"/>
                </a:lnTo>
                <a:lnTo>
                  <a:pt x="457200" y="457199"/>
                </a:lnTo>
                <a:lnTo>
                  <a:pt x="519233" y="455112"/>
                </a:lnTo>
                <a:lnTo>
                  <a:pt x="578731" y="449033"/>
                </a:lnTo>
                <a:lnTo>
                  <a:pt x="635150" y="439233"/>
                </a:lnTo>
                <a:lnTo>
                  <a:pt x="687944" y="425986"/>
                </a:lnTo>
                <a:lnTo>
                  <a:pt x="736569" y="409563"/>
                </a:lnTo>
                <a:lnTo>
                  <a:pt x="780478" y="390239"/>
                </a:lnTo>
                <a:lnTo>
                  <a:pt x="819127" y="368284"/>
                </a:lnTo>
                <a:lnTo>
                  <a:pt x="851972" y="343972"/>
                </a:lnTo>
                <a:lnTo>
                  <a:pt x="898066" y="289365"/>
                </a:lnTo>
                <a:lnTo>
                  <a:pt x="914400" y="228599"/>
                </a:lnTo>
                <a:lnTo>
                  <a:pt x="910225" y="197583"/>
                </a:lnTo>
                <a:lnTo>
                  <a:pt x="878466" y="139624"/>
                </a:lnTo>
                <a:lnTo>
                  <a:pt x="819127" y="88915"/>
                </a:lnTo>
                <a:lnTo>
                  <a:pt x="780478" y="66960"/>
                </a:lnTo>
                <a:lnTo>
                  <a:pt x="736569" y="47636"/>
                </a:lnTo>
                <a:lnTo>
                  <a:pt x="687944" y="31213"/>
                </a:lnTo>
                <a:lnTo>
                  <a:pt x="635150" y="17966"/>
                </a:lnTo>
                <a:lnTo>
                  <a:pt x="578731" y="8166"/>
                </a:lnTo>
                <a:lnTo>
                  <a:pt x="519233" y="2087"/>
                </a:lnTo>
                <a:lnTo>
                  <a:pt x="457200" y="0"/>
                </a:lnTo>
                <a:close/>
              </a:path>
            </a:pathLst>
          </a:custGeom>
          <a:solidFill>
            <a:srgbClr val="089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323459" y="3909440"/>
            <a:ext cx="4178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1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100" b="1" spc="-20" dirty="0">
                <a:solidFill>
                  <a:srgbClr val="FFFFFF"/>
                </a:solidFill>
                <a:latin typeface="Calibri"/>
                <a:cs typeface="Calibri"/>
              </a:rPr>
              <a:t>0..1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7380" y="4594097"/>
            <a:ext cx="13455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Design</a:t>
            </a:r>
            <a:r>
              <a:rPr sz="1500" b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Decisions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7380" y="5209743"/>
            <a:ext cx="140652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50" b="1" spc="-10" dirty="0">
                <a:solidFill>
                  <a:srgbClr val="2462EB"/>
                </a:solidFill>
                <a:latin typeface="Calibri"/>
                <a:cs typeface="Calibri"/>
              </a:rPr>
              <a:t>Privacy-</a:t>
            </a:r>
            <a:r>
              <a:rPr sz="1150" b="1" dirty="0">
                <a:solidFill>
                  <a:srgbClr val="2462EB"/>
                </a:solidFill>
                <a:latin typeface="Calibri"/>
                <a:cs typeface="Calibri"/>
              </a:rPr>
              <a:t>first</a:t>
            </a:r>
            <a:r>
              <a:rPr sz="1150" b="1" spc="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150" b="1" spc="-10" dirty="0">
                <a:solidFill>
                  <a:srgbClr val="2462EB"/>
                </a:solidFill>
                <a:latin typeface="Calibri"/>
                <a:cs typeface="Calibri"/>
              </a:rPr>
              <a:t>identifiers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7380" y="5387339"/>
            <a:ext cx="3356610" cy="6661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UUID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replaces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phone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number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/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IMEI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satisfy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NFR-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07.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50" b="1" spc="-10" dirty="0">
                <a:solidFill>
                  <a:srgbClr val="7B39EC"/>
                </a:solidFill>
                <a:latin typeface="Calibri"/>
                <a:cs typeface="Calibri"/>
              </a:rPr>
              <a:t>Append-</a:t>
            </a:r>
            <a:r>
              <a:rPr sz="1150" b="1" dirty="0">
                <a:solidFill>
                  <a:srgbClr val="7B39EC"/>
                </a:solidFill>
                <a:latin typeface="Calibri"/>
                <a:cs typeface="Calibri"/>
              </a:rPr>
              <a:t>only</a:t>
            </a:r>
            <a:r>
              <a:rPr sz="1150" b="1" spc="-3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150" b="1" dirty="0">
                <a:solidFill>
                  <a:srgbClr val="7B39EC"/>
                </a:solidFill>
                <a:latin typeface="Calibri"/>
                <a:cs typeface="Calibri"/>
              </a:rPr>
              <a:t>measurement </a:t>
            </a:r>
            <a:r>
              <a:rPr sz="1150" b="1" spc="-10" dirty="0">
                <a:solidFill>
                  <a:srgbClr val="7B39EC"/>
                </a:solidFill>
                <a:latin typeface="Calibri"/>
                <a:cs typeface="Calibri"/>
              </a:rPr>
              <a:t>tables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metrics</a:t>
            </a:r>
            <a:r>
              <a:rPr sz="115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locations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never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updated,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only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inserted.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02420" y="1138101"/>
            <a:ext cx="1557655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b="1" spc="-160" dirty="0">
                <a:solidFill>
                  <a:srgbClr val="1E293A"/>
                </a:solidFill>
                <a:latin typeface="Arial"/>
                <a:cs typeface="Arial"/>
              </a:rPr>
              <a:t>SpeeDT</a:t>
            </a:r>
            <a:r>
              <a:rPr sz="1050" b="1" spc="200" dirty="0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sz="1050" b="1" spc="-155" dirty="0">
                <a:solidFill>
                  <a:srgbClr val="1E293A"/>
                </a:solidFill>
                <a:latin typeface="Arial"/>
                <a:cs typeface="Arial"/>
              </a:rPr>
              <a:t>Conceptual</a:t>
            </a:r>
            <a:r>
              <a:rPr sz="1050" b="1" spc="-55" dirty="0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sz="1050" b="1" spc="-145" dirty="0">
                <a:solidFill>
                  <a:srgbClr val="1E293A"/>
                </a:solidFill>
                <a:latin typeface="Arial"/>
                <a:cs typeface="Arial"/>
              </a:rPr>
              <a:t>Data</a:t>
            </a:r>
            <a:r>
              <a:rPr sz="1050" b="1" spc="-80" dirty="0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sz="1050" b="1" spc="-120" dirty="0">
                <a:solidFill>
                  <a:srgbClr val="1E293A"/>
                </a:solidFill>
                <a:latin typeface="Arial"/>
                <a:cs typeface="Arial"/>
              </a:rPr>
              <a:t>Model</a:t>
            </a:r>
            <a:endParaRPr sz="1050">
              <a:latin typeface="Arial"/>
              <a:cs typeface="Arial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7304" y="1581192"/>
            <a:ext cx="5291085" cy="357000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0543370" y="4227226"/>
            <a:ext cx="405765" cy="138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750" b="1" spc="-135" dirty="0">
                <a:solidFill>
                  <a:srgbClr val="991B1B"/>
                </a:solidFill>
                <a:latin typeface="Arial"/>
                <a:cs typeface="Arial"/>
              </a:rPr>
              <a:t>FEEDBACK</a:t>
            </a:r>
            <a:endParaRPr sz="7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653228" y="3298338"/>
            <a:ext cx="27940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i="1" spc="-65" dirty="0">
                <a:latin typeface="Arial"/>
                <a:cs typeface="Arial"/>
              </a:rPr>
              <a:t>generates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800429" y="3392436"/>
            <a:ext cx="21399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i="1" spc="-60" dirty="0">
                <a:latin typeface="Arial"/>
                <a:cs typeface="Arial"/>
              </a:rPr>
              <a:t>records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100591" y="3298338"/>
            <a:ext cx="219075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i="1" spc="-65" dirty="0">
                <a:latin typeface="Arial"/>
                <a:cs typeface="Arial"/>
              </a:rPr>
              <a:t>submits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789117" y="4254111"/>
            <a:ext cx="426084" cy="138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25" b="1" spc="-315" baseline="14814" dirty="0">
                <a:solidFill>
                  <a:srgbClr val="92400D"/>
                </a:solidFill>
                <a:latin typeface="Arial"/>
                <a:cs typeface="Arial"/>
              </a:rPr>
              <a:t>LO</a:t>
            </a:r>
            <a:r>
              <a:rPr sz="500" i="1" spc="-210" dirty="0">
                <a:latin typeface="Arial"/>
                <a:cs typeface="Arial"/>
              </a:rPr>
              <a:t>lin</a:t>
            </a:r>
            <a:r>
              <a:rPr sz="1125" b="1" spc="-315" baseline="14814" dirty="0">
                <a:solidFill>
                  <a:srgbClr val="92400D"/>
                </a:solidFill>
                <a:latin typeface="Arial"/>
                <a:cs typeface="Arial"/>
              </a:rPr>
              <a:t>C</a:t>
            </a:r>
            <a:r>
              <a:rPr sz="500" i="1" spc="-210" dirty="0">
                <a:latin typeface="Arial"/>
                <a:cs typeface="Arial"/>
              </a:rPr>
              <a:t>ke</a:t>
            </a:r>
            <a:r>
              <a:rPr sz="1125" b="1" spc="-315" baseline="14814" dirty="0">
                <a:solidFill>
                  <a:srgbClr val="92400D"/>
                </a:solidFill>
                <a:latin typeface="Arial"/>
                <a:cs typeface="Arial"/>
              </a:rPr>
              <a:t>A</a:t>
            </a:r>
            <a:r>
              <a:rPr sz="500" i="1" spc="-210" dirty="0">
                <a:latin typeface="Arial"/>
                <a:cs typeface="Arial"/>
              </a:rPr>
              <a:t>d</a:t>
            </a:r>
            <a:r>
              <a:rPr sz="1125" b="1" spc="-315" baseline="14814" dirty="0">
                <a:solidFill>
                  <a:srgbClr val="92400D"/>
                </a:solidFill>
                <a:latin typeface="Arial"/>
                <a:cs typeface="Arial"/>
              </a:rPr>
              <a:t>T</a:t>
            </a:r>
            <a:r>
              <a:rPr sz="500" i="1" spc="-210" dirty="0">
                <a:latin typeface="Arial"/>
                <a:cs typeface="Arial"/>
              </a:rPr>
              <a:t>to</a:t>
            </a:r>
            <a:r>
              <a:rPr sz="1125" b="1" spc="-315" baseline="14814" dirty="0">
                <a:solidFill>
                  <a:srgbClr val="92400D"/>
                </a:solidFill>
                <a:latin typeface="Arial"/>
                <a:cs typeface="Arial"/>
              </a:rPr>
              <a:t>I</a:t>
            </a:r>
            <a:r>
              <a:rPr sz="500" i="1" spc="-210" dirty="0">
                <a:latin typeface="Arial"/>
                <a:cs typeface="Arial"/>
              </a:rPr>
              <a:t>.</a:t>
            </a:r>
            <a:r>
              <a:rPr sz="1125" b="1" spc="-315" baseline="14814" dirty="0">
                <a:solidFill>
                  <a:srgbClr val="92400D"/>
                </a:solidFill>
                <a:latin typeface="Arial"/>
                <a:cs typeface="Arial"/>
              </a:rPr>
              <a:t>O</a:t>
            </a:r>
            <a:r>
              <a:rPr sz="500" i="1" spc="-210" dirty="0">
                <a:latin typeface="Arial"/>
                <a:cs typeface="Arial"/>
              </a:rPr>
              <a:t>..</a:t>
            </a:r>
            <a:r>
              <a:rPr sz="500" i="1" spc="25" dirty="0">
                <a:latin typeface="Arial"/>
                <a:cs typeface="Arial"/>
              </a:rPr>
              <a:t> </a:t>
            </a:r>
            <a:r>
              <a:rPr sz="1125" b="1" spc="-75" baseline="14814" dirty="0">
                <a:solidFill>
                  <a:srgbClr val="92400D"/>
                </a:solidFill>
                <a:latin typeface="Arial"/>
                <a:cs typeface="Arial"/>
              </a:rPr>
              <a:t>N</a:t>
            </a:r>
            <a:endParaRPr sz="1125" baseline="14814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26807" y="3911323"/>
            <a:ext cx="60325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b="1" spc="-50" dirty="0">
                <a:solidFill>
                  <a:srgbClr val="6266F0"/>
                </a:solidFill>
                <a:latin typeface="Arial"/>
                <a:cs typeface="Arial"/>
              </a:rPr>
              <a:t>N</a:t>
            </a:r>
            <a:endParaRPr sz="65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937288" y="3911323"/>
            <a:ext cx="60325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b="1" spc="-50" dirty="0">
                <a:solidFill>
                  <a:srgbClr val="6266F0"/>
                </a:solidFill>
                <a:latin typeface="Arial"/>
                <a:cs typeface="Arial"/>
              </a:rPr>
              <a:t>N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428856" y="2443384"/>
            <a:ext cx="921385" cy="508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0010" algn="ctr">
              <a:lnSpc>
                <a:spcPct val="100000"/>
              </a:lnSpc>
              <a:spcBef>
                <a:spcPts val="90"/>
              </a:spcBef>
            </a:pPr>
            <a:r>
              <a:rPr sz="750" b="1" spc="-100" dirty="0">
                <a:latin typeface="Arial"/>
                <a:cs typeface="Arial"/>
              </a:rPr>
              <a:t>SUBSCRIBER_DEVICE</a:t>
            </a:r>
            <a:endParaRPr sz="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750">
              <a:latin typeface="Arial"/>
              <a:cs typeface="Arial"/>
            </a:endParaRPr>
          </a:p>
          <a:p>
            <a:pPr marL="25400">
              <a:lnSpc>
                <a:spcPts val="735"/>
              </a:lnSpc>
              <a:tabLst>
                <a:tab pos="846455" algn="l"/>
              </a:tabLst>
            </a:pPr>
            <a:r>
              <a:rPr sz="975" b="1" spc="-75" baseline="-12820" dirty="0">
                <a:latin typeface="Arial"/>
                <a:cs typeface="Arial"/>
              </a:rPr>
              <a:t>1</a:t>
            </a:r>
            <a:r>
              <a:rPr sz="975" b="1" baseline="-12820" dirty="0">
                <a:latin typeface="Arial"/>
                <a:cs typeface="Arial"/>
              </a:rPr>
              <a:t>	</a:t>
            </a:r>
            <a:r>
              <a:rPr sz="650" b="1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  <a:p>
            <a:pPr marR="29209" algn="ctr">
              <a:lnSpc>
                <a:spcPts val="735"/>
              </a:lnSpc>
            </a:pPr>
            <a:r>
              <a:rPr sz="650" b="1" spc="-50" dirty="0"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534313" y="3911323"/>
            <a:ext cx="60325" cy="130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50" b="1" spc="-50" dirty="0">
                <a:solidFill>
                  <a:srgbClr val="6266F0"/>
                </a:solidFill>
                <a:latin typeface="Arial"/>
                <a:cs typeface="Arial"/>
              </a:rPr>
              <a:t>N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902274" y="4227226"/>
            <a:ext cx="996315" cy="138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923925" algn="l"/>
              </a:tabLst>
            </a:pPr>
            <a:r>
              <a:rPr sz="750" b="1" spc="-10" dirty="0">
                <a:solidFill>
                  <a:srgbClr val="055F46"/>
                </a:solidFill>
                <a:latin typeface="Arial"/>
                <a:cs typeface="Arial"/>
              </a:rPr>
              <a:t>NETWORK_METRIC</a:t>
            </a:r>
            <a:r>
              <a:rPr sz="750" b="1" dirty="0">
                <a:solidFill>
                  <a:srgbClr val="055F46"/>
                </a:solidFill>
                <a:latin typeface="Arial"/>
                <a:cs typeface="Arial"/>
              </a:rPr>
              <a:t>	</a:t>
            </a:r>
            <a:r>
              <a:rPr sz="900" b="1" spc="-75" baseline="-9259" dirty="0">
                <a:solidFill>
                  <a:srgbClr val="6266F0"/>
                </a:solidFill>
                <a:latin typeface="Arial"/>
                <a:cs typeface="Arial"/>
              </a:rPr>
              <a:t>1</a:t>
            </a:r>
            <a:endParaRPr sz="900" baseline="-9259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0119710" y="4254111"/>
            <a:ext cx="113030" cy="122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600" b="1" spc="-40" dirty="0">
                <a:solidFill>
                  <a:srgbClr val="6266F0"/>
                </a:solidFill>
                <a:latin typeface="Arial"/>
                <a:cs typeface="Arial"/>
              </a:rPr>
              <a:t>0..1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624323" y="1655644"/>
            <a:ext cx="45529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65" dirty="0">
                <a:latin typeface="Microsoft Sans Serif"/>
                <a:cs typeface="Microsoft Sans Serif"/>
              </a:rPr>
              <a:t>anonymous_id</a:t>
            </a:r>
            <a:r>
              <a:rPr sz="500" spc="70" dirty="0">
                <a:latin typeface="Microsoft Sans Serif"/>
                <a:cs typeface="Microsoft Sans Serif"/>
              </a:rPr>
              <a:t> </a:t>
            </a:r>
            <a:r>
              <a:rPr sz="500" spc="-40" dirty="0">
                <a:latin typeface="Microsoft Sans Serif"/>
                <a:cs typeface="Microsoft Sans Serif"/>
              </a:rPr>
              <a:t>(PK)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459566" y="1722857"/>
            <a:ext cx="70929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60" dirty="0">
                <a:latin typeface="Microsoft Sans Serif"/>
                <a:cs typeface="Microsoft Sans Serif"/>
              </a:rPr>
              <a:t>device_model,</a:t>
            </a:r>
            <a:r>
              <a:rPr sz="500" spc="25" dirty="0">
                <a:latin typeface="Microsoft Sans Serif"/>
                <a:cs typeface="Microsoft Sans Serif"/>
              </a:rPr>
              <a:t> </a:t>
            </a:r>
            <a:r>
              <a:rPr sz="500" spc="-50" dirty="0">
                <a:latin typeface="Microsoft Sans Serif"/>
                <a:cs typeface="Microsoft Sans Serif"/>
              </a:rPr>
              <a:t>os,</a:t>
            </a:r>
            <a:r>
              <a:rPr sz="500" spc="25" dirty="0">
                <a:latin typeface="Microsoft Sans Serif"/>
                <a:cs typeface="Microsoft Sans Serif"/>
              </a:rPr>
              <a:t> </a:t>
            </a:r>
            <a:r>
              <a:rPr sz="500" spc="-45" dirty="0">
                <a:latin typeface="Microsoft Sans Serif"/>
                <a:cs typeface="Microsoft Sans Serif"/>
              </a:rPr>
              <a:t>app_version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621026" y="1722857"/>
            <a:ext cx="66294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60" dirty="0">
                <a:latin typeface="Microsoft Sans Serif"/>
                <a:cs typeface="Microsoft Sans Serif"/>
              </a:rPr>
              <a:t>consent_given,</a:t>
            </a:r>
            <a:r>
              <a:rPr sz="500" spc="80" dirty="0">
                <a:latin typeface="Microsoft Sans Serif"/>
                <a:cs typeface="Microsoft Sans Serif"/>
              </a:rPr>
              <a:t> </a:t>
            </a:r>
            <a:r>
              <a:rPr sz="500" spc="-40" dirty="0">
                <a:latin typeface="Microsoft Sans Serif"/>
                <a:cs typeface="Microsoft Sans Serif"/>
              </a:rPr>
              <a:t>registered_at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525147" y="3606175"/>
            <a:ext cx="332740" cy="107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500" spc="-55" dirty="0">
                <a:latin typeface="Microsoft Sans Serif"/>
                <a:cs typeface="Microsoft Sans Serif"/>
              </a:rPr>
              <a:t>metric_id</a:t>
            </a:r>
            <a:r>
              <a:rPr sz="500" spc="25" dirty="0">
                <a:latin typeface="Microsoft Sans Serif"/>
                <a:cs typeface="Microsoft Sans Serif"/>
              </a:rPr>
              <a:t> </a:t>
            </a:r>
            <a:r>
              <a:rPr sz="500" spc="-35" dirty="0">
                <a:latin typeface="Microsoft Sans Serif"/>
                <a:cs typeface="Microsoft Sans Serif"/>
              </a:rPr>
              <a:t>(PK)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67147" y="4853637"/>
            <a:ext cx="979169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55" dirty="0">
                <a:latin typeface="Microsoft Sans Serif"/>
                <a:cs typeface="Microsoft Sans Serif"/>
              </a:rPr>
              <a:t>ignal_strength_dbm,</a:t>
            </a:r>
            <a:r>
              <a:rPr sz="500" spc="80" dirty="0">
                <a:latin typeface="Microsoft Sans Serif"/>
                <a:cs typeface="Microsoft Sans Serif"/>
              </a:rPr>
              <a:t> </a:t>
            </a:r>
            <a:r>
              <a:rPr sz="500" spc="-65" dirty="0">
                <a:latin typeface="Microsoft Sans Serif"/>
                <a:cs typeface="Microsoft Sans Serif"/>
              </a:rPr>
              <a:t>download_mbps,</a:t>
            </a:r>
            <a:r>
              <a:rPr sz="500" spc="95" dirty="0">
                <a:latin typeface="Microsoft Sans Serif"/>
                <a:cs typeface="Microsoft Sans Serif"/>
              </a:rPr>
              <a:t> </a:t>
            </a:r>
            <a:r>
              <a:rPr sz="500" spc="-20" dirty="0">
                <a:latin typeface="Microsoft Sans Serif"/>
                <a:cs typeface="Microsoft Sans Serif"/>
              </a:rPr>
              <a:t>up...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365700" y="4887244"/>
            <a:ext cx="36766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55" dirty="0">
                <a:latin typeface="Microsoft Sans Serif"/>
                <a:cs typeface="Microsoft Sans Serif"/>
              </a:rPr>
              <a:t>location_id</a:t>
            </a:r>
            <a:r>
              <a:rPr sz="500" spc="65" dirty="0">
                <a:latin typeface="Microsoft Sans Serif"/>
                <a:cs typeface="Microsoft Sans Serif"/>
              </a:rPr>
              <a:t> </a:t>
            </a:r>
            <a:r>
              <a:rPr sz="500" spc="-40" dirty="0">
                <a:latin typeface="Microsoft Sans Serif"/>
                <a:cs typeface="Microsoft Sans Serif"/>
              </a:rPr>
              <a:t>(PK)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027857" y="4920851"/>
            <a:ext cx="80899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45" dirty="0">
                <a:latin typeface="Microsoft Sans Serif"/>
                <a:cs typeface="Microsoft Sans Serif"/>
              </a:rPr>
              <a:t>latitude,</a:t>
            </a:r>
            <a:r>
              <a:rPr sz="500" spc="15" dirty="0">
                <a:latin typeface="Microsoft Sans Serif"/>
                <a:cs typeface="Microsoft Sans Serif"/>
              </a:rPr>
              <a:t> </a:t>
            </a:r>
            <a:r>
              <a:rPr sz="500" spc="-50" dirty="0">
                <a:latin typeface="Microsoft Sans Serif"/>
                <a:cs typeface="Microsoft Sans Serif"/>
              </a:rPr>
              <a:t>longitude,</a:t>
            </a:r>
            <a:r>
              <a:rPr sz="500" spc="20" dirty="0">
                <a:latin typeface="Microsoft Sans Serif"/>
                <a:cs typeface="Microsoft Sans Serif"/>
              </a:rPr>
              <a:t> </a:t>
            </a:r>
            <a:r>
              <a:rPr sz="500" spc="-45" dirty="0">
                <a:latin typeface="Microsoft Sans Serif"/>
                <a:cs typeface="Microsoft Sans Serif"/>
              </a:rPr>
              <a:t>location_name...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049548" y="3606175"/>
            <a:ext cx="399415" cy="1079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r>
              <a:rPr sz="500" spc="-60" dirty="0">
                <a:latin typeface="Microsoft Sans Serif"/>
                <a:cs typeface="Microsoft Sans Serif"/>
              </a:rPr>
              <a:t>feedback_id</a:t>
            </a:r>
            <a:r>
              <a:rPr sz="500" spc="45" dirty="0">
                <a:latin typeface="Microsoft Sans Serif"/>
                <a:cs typeface="Microsoft Sans Serif"/>
              </a:rPr>
              <a:t> </a:t>
            </a:r>
            <a:r>
              <a:rPr sz="500" spc="-35" dirty="0">
                <a:latin typeface="Microsoft Sans Serif"/>
                <a:cs typeface="Microsoft Sans Serif"/>
              </a:rPr>
              <a:t>(PK)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0634023" y="4873801"/>
            <a:ext cx="98171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50" dirty="0">
                <a:latin typeface="Microsoft Sans Serif"/>
                <a:cs typeface="Microsoft Sans Serif"/>
              </a:rPr>
              <a:t>overall_rating,</a:t>
            </a:r>
            <a:r>
              <a:rPr sz="500" spc="55" dirty="0">
                <a:latin typeface="Microsoft Sans Serif"/>
                <a:cs typeface="Microsoft Sans Serif"/>
              </a:rPr>
              <a:t> </a:t>
            </a:r>
            <a:r>
              <a:rPr sz="500" spc="-55" dirty="0">
                <a:latin typeface="Microsoft Sans Serif"/>
                <a:cs typeface="Microsoft Sans Serif"/>
              </a:rPr>
              <a:t>speed_rating,</a:t>
            </a:r>
            <a:r>
              <a:rPr sz="500" spc="55" dirty="0">
                <a:latin typeface="Microsoft Sans Serif"/>
                <a:cs typeface="Microsoft Sans Serif"/>
              </a:rPr>
              <a:t> </a:t>
            </a:r>
            <a:r>
              <a:rPr sz="500" spc="-40" dirty="0">
                <a:latin typeface="Microsoft Sans Serif"/>
                <a:cs typeface="Microsoft Sans Serif"/>
              </a:rPr>
              <a:t>delay_rating...</a:t>
            </a:r>
            <a:endParaRPr sz="5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674640" y="5115771"/>
            <a:ext cx="726440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500" spc="-65" dirty="0">
                <a:latin typeface="Arial MT"/>
                <a:cs typeface="Arial MT"/>
              </a:rPr>
              <a:t>Text</a:t>
            </a:r>
            <a:r>
              <a:rPr sz="500" spc="-45" dirty="0">
                <a:latin typeface="Arial MT"/>
                <a:cs typeface="Arial MT"/>
              </a:rPr>
              <a:t> is</a:t>
            </a:r>
            <a:r>
              <a:rPr sz="500" spc="-10" dirty="0">
                <a:latin typeface="Arial MT"/>
                <a:cs typeface="Arial MT"/>
              </a:rPr>
              <a:t> </a:t>
            </a:r>
            <a:r>
              <a:rPr sz="500" spc="-50" dirty="0">
                <a:latin typeface="Arial MT"/>
                <a:cs typeface="Arial MT"/>
              </a:rPr>
              <a:t>not</a:t>
            </a:r>
            <a:r>
              <a:rPr sz="500" dirty="0">
                <a:latin typeface="Arial MT"/>
                <a:cs typeface="Arial MT"/>
              </a:rPr>
              <a:t> </a:t>
            </a:r>
            <a:r>
              <a:rPr sz="500" spc="-85" dirty="0">
                <a:latin typeface="Arial MT"/>
                <a:cs typeface="Arial MT"/>
              </a:rPr>
              <a:t>SVG</a:t>
            </a:r>
            <a:r>
              <a:rPr sz="500" spc="-5" dirty="0">
                <a:latin typeface="Arial MT"/>
                <a:cs typeface="Arial MT"/>
              </a:rPr>
              <a:t> </a:t>
            </a:r>
            <a:r>
              <a:rPr sz="500" spc="-40" dirty="0">
                <a:latin typeface="Arial MT"/>
                <a:cs typeface="Arial MT"/>
              </a:rPr>
              <a:t>-</a:t>
            </a:r>
            <a:r>
              <a:rPr sz="500" spc="-25" dirty="0">
                <a:latin typeface="Arial MT"/>
                <a:cs typeface="Arial MT"/>
              </a:rPr>
              <a:t> </a:t>
            </a:r>
            <a:r>
              <a:rPr sz="500" spc="-60" dirty="0">
                <a:latin typeface="Arial MT"/>
                <a:cs typeface="Arial MT"/>
              </a:rPr>
              <a:t>cannot</a:t>
            </a:r>
            <a:r>
              <a:rPr sz="500" spc="5" dirty="0">
                <a:latin typeface="Arial MT"/>
                <a:cs typeface="Arial MT"/>
              </a:rPr>
              <a:t> </a:t>
            </a:r>
            <a:r>
              <a:rPr sz="500" spc="-35" dirty="0">
                <a:latin typeface="Arial MT"/>
                <a:cs typeface="Arial MT"/>
              </a:rPr>
              <a:t>display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355079" y="1106424"/>
            <a:ext cx="5349240" cy="4121150"/>
          </a:xfrm>
          <a:custGeom>
            <a:avLst/>
            <a:gdLst/>
            <a:ahLst/>
            <a:cxnLst/>
            <a:rect l="l" t="t" r="r" b="b"/>
            <a:pathLst>
              <a:path w="5349240" h="4121150">
                <a:moveTo>
                  <a:pt x="0" y="4120642"/>
                </a:moveTo>
                <a:lnTo>
                  <a:pt x="5349239" y="4120642"/>
                </a:lnTo>
                <a:lnTo>
                  <a:pt x="5349239" y="0"/>
                </a:lnTo>
                <a:lnTo>
                  <a:pt x="0" y="0"/>
                </a:lnTo>
                <a:lnTo>
                  <a:pt x="0" y="4120642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7633207" y="5496255"/>
            <a:ext cx="27139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solidFill>
                  <a:srgbClr val="93A2B8"/>
                </a:solidFill>
                <a:latin typeface="Calibri"/>
                <a:cs typeface="Calibri"/>
              </a:rPr>
              <a:t>Figure</a:t>
            </a:r>
            <a:r>
              <a:rPr sz="10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3A2B8"/>
                </a:solidFill>
                <a:latin typeface="Calibri"/>
                <a:cs typeface="Calibri"/>
              </a:rPr>
              <a:t>1</a:t>
            </a:r>
            <a:r>
              <a:rPr sz="1000" i="1" spc="21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93A2B8"/>
                </a:solidFill>
                <a:latin typeface="Calibri"/>
                <a:cs typeface="Calibri"/>
              </a:rPr>
              <a:t>Conceptual</a:t>
            </a:r>
            <a:r>
              <a:rPr sz="10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3A2B8"/>
                </a:solidFill>
                <a:latin typeface="Calibri"/>
                <a:cs typeface="Calibri"/>
              </a:rPr>
              <a:t>Data</a:t>
            </a:r>
            <a:r>
              <a:rPr sz="1000" i="1" spc="-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3A2B8"/>
                </a:solidFill>
                <a:latin typeface="Calibri"/>
                <a:cs typeface="Calibri"/>
              </a:rPr>
              <a:t>Model</a:t>
            </a:r>
            <a:r>
              <a:rPr sz="10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3A2B8"/>
                </a:solidFill>
                <a:latin typeface="Calibri"/>
                <a:cs typeface="Calibri"/>
              </a:rPr>
              <a:t>(Chen</a:t>
            </a:r>
            <a:r>
              <a:rPr sz="10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dirty="0">
                <a:solidFill>
                  <a:srgbClr val="93A2B8"/>
                </a:solidFill>
                <a:latin typeface="Calibri"/>
                <a:cs typeface="Calibri"/>
              </a:rPr>
              <a:t>ER</a:t>
            </a:r>
            <a:r>
              <a:rPr sz="10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000" i="1" spc="-10" dirty="0">
                <a:solidFill>
                  <a:srgbClr val="93A2B8"/>
                </a:solidFill>
                <a:latin typeface="Calibri"/>
                <a:cs typeface="Calibri"/>
              </a:rPr>
              <a:t>Notation)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>
              <a:alpha val="784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380" y="448767"/>
            <a:ext cx="19132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7B39EC"/>
                </a:solidFill>
              </a:rPr>
              <a:t>C</a:t>
            </a:r>
            <a:r>
              <a:rPr sz="1300" spc="-95" dirty="0">
                <a:solidFill>
                  <a:srgbClr val="7B39EC"/>
                </a:solidFill>
              </a:rPr>
              <a:t> </a:t>
            </a:r>
            <a:r>
              <a:rPr sz="1300" dirty="0">
                <a:solidFill>
                  <a:srgbClr val="7B39EC"/>
                </a:solidFill>
              </a:rPr>
              <a:t>O</a:t>
            </a:r>
            <a:r>
              <a:rPr sz="1300" spc="-95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N</a:t>
            </a:r>
            <a:r>
              <a:rPr sz="1300" spc="-95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C</a:t>
            </a:r>
            <a:r>
              <a:rPr sz="1300" spc="-95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E</a:t>
            </a:r>
            <a:r>
              <a:rPr sz="1300" spc="-85" dirty="0">
                <a:solidFill>
                  <a:srgbClr val="7B39EC"/>
                </a:solidFill>
              </a:rPr>
              <a:t> </a:t>
            </a:r>
            <a:r>
              <a:rPr sz="1300" dirty="0">
                <a:solidFill>
                  <a:srgbClr val="7B39EC"/>
                </a:solidFill>
              </a:rPr>
              <a:t>P</a:t>
            </a:r>
            <a:r>
              <a:rPr sz="1300" spc="-100" dirty="0">
                <a:solidFill>
                  <a:srgbClr val="7B39EC"/>
                </a:solidFill>
              </a:rPr>
              <a:t> </a:t>
            </a:r>
            <a:r>
              <a:rPr sz="1300" dirty="0">
                <a:solidFill>
                  <a:srgbClr val="7B39EC"/>
                </a:solidFill>
              </a:rPr>
              <a:t>T</a:t>
            </a:r>
            <a:r>
              <a:rPr sz="1300" spc="-100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U</a:t>
            </a:r>
            <a:r>
              <a:rPr sz="1300" spc="-90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A</a:t>
            </a:r>
            <a:r>
              <a:rPr sz="1300" spc="-100" dirty="0">
                <a:solidFill>
                  <a:srgbClr val="7B39EC"/>
                </a:solidFill>
              </a:rPr>
              <a:t> </a:t>
            </a:r>
            <a:r>
              <a:rPr sz="1300" dirty="0">
                <a:solidFill>
                  <a:srgbClr val="7B39EC"/>
                </a:solidFill>
              </a:rPr>
              <a:t>L</a:t>
            </a:r>
            <a:r>
              <a:rPr sz="1300" spc="409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D</a:t>
            </a:r>
            <a:r>
              <a:rPr sz="1300" spc="-95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E</a:t>
            </a:r>
            <a:r>
              <a:rPr sz="1300" spc="-90" dirty="0">
                <a:solidFill>
                  <a:srgbClr val="7B39EC"/>
                </a:solidFill>
              </a:rPr>
              <a:t> </a:t>
            </a:r>
            <a:r>
              <a:rPr sz="1300" dirty="0">
                <a:solidFill>
                  <a:srgbClr val="7B39EC"/>
                </a:solidFill>
              </a:rPr>
              <a:t>S</a:t>
            </a:r>
            <a:r>
              <a:rPr sz="1300" spc="-90" dirty="0">
                <a:solidFill>
                  <a:srgbClr val="7B39EC"/>
                </a:solidFill>
              </a:rPr>
              <a:t> </a:t>
            </a:r>
            <a:r>
              <a:rPr sz="1300" spc="-10" dirty="0">
                <a:solidFill>
                  <a:srgbClr val="7B39EC"/>
                </a:solidFill>
              </a:rPr>
              <a:t>I</a:t>
            </a:r>
            <a:r>
              <a:rPr sz="1300" spc="-90" dirty="0">
                <a:solidFill>
                  <a:srgbClr val="7B39EC"/>
                </a:solidFill>
              </a:rPr>
              <a:t> </a:t>
            </a:r>
            <a:r>
              <a:rPr sz="1300" dirty="0">
                <a:solidFill>
                  <a:srgbClr val="7B39EC"/>
                </a:solidFill>
              </a:rPr>
              <a:t>G</a:t>
            </a:r>
            <a:r>
              <a:rPr sz="1300" spc="-95" dirty="0">
                <a:solidFill>
                  <a:srgbClr val="7B39EC"/>
                </a:solidFill>
              </a:rPr>
              <a:t> </a:t>
            </a:r>
            <a:r>
              <a:rPr sz="1300" spc="-50" dirty="0">
                <a:solidFill>
                  <a:srgbClr val="7B39EC"/>
                </a:solidFill>
              </a:rPr>
              <a:t>N</a:t>
            </a:r>
            <a:endParaRPr sz="1300"/>
          </a:p>
        </p:txBody>
      </p:sp>
      <p:sp>
        <p:nvSpPr>
          <p:cNvPr id="4" name="object 4"/>
          <p:cNvSpPr txBox="1"/>
          <p:nvPr/>
        </p:nvSpPr>
        <p:spPr>
          <a:xfrm>
            <a:off x="627380" y="738886"/>
            <a:ext cx="7275195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1E293A"/>
                </a:solidFill>
                <a:latin typeface="Calibri"/>
                <a:cs typeface="Calibri"/>
              </a:rPr>
              <a:t>Full</a:t>
            </a:r>
            <a:r>
              <a:rPr sz="2800" b="1" spc="-9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E293A"/>
                </a:solidFill>
                <a:latin typeface="Calibri"/>
                <a:cs typeface="Calibri"/>
              </a:rPr>
              <a:t>Conceptual</a:t>
            </a:r>
            <a:r>
              <a:rPr sz="2800" b="1" spc="-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1E293A"/>
                </a:solidFill>
                <a:latin typeface="Calibri"/>
                <a:cs typeface="Calibri"/>
              </a:rPr>
              <a:t>Data</a:t>
            </a:r>
            <a:r>
              <a:rPr sz="2800" b="1" spc="-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E293A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Drawn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Chen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ER</a:t>
            </a:r>
            <a:r>
              <a:rPr sz="12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notation</a:t>
            </a:r>
            <a:r>
              <a:rPr sz="1250" spc="2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ellipses</a:t>
            </a:r>
            <a:r>
              <a:rPr sz="12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entities,</a:t>
            </a:r>
            <a:r>
              <a:rPr sz="1250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diamonds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relationships,</a:t>
            </a:r>
            <a:r>
              <a:rPr sz="12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small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dashed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ellipses</a:t>
            </a:r>
            <a:r>
              <a:rPr sz="12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attributes.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0547" y="1810460"/>
            <a:ext cx="73152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b="1" spc="200" dirty="0">
                <a:solidFill>
                  <a:srgbClr val="1E293A"/>
                </a:solidFill>
                <a:latin typeface="Arial"/>
                <a:cs typeface="Arial"/>
              </a:rPr>
              <a:t>SpeeDT</a:t>
            </a:r>
            <a:endParaRPr sz="11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4982" y="1810460"/>
            <a:ext cx="213233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b="1" spc="180" dirty="0">
                <a:solidFill>
                  <a:srgbClr val="1E293A"/>
                </a:solidFill>
                <a:latin typeface="Arial"/>
                <a:cs typeface="Arial"/>
              </a:rPr>
              <a:t>Conceptual</a:t>
            </a:r>
            <a:r>
              <a:rPr sz="1150" b="1" spc="100" dirty="0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sz="1150" b="1" spc="195" dirty="0">
                <a:solidFill>
                  <a:srgbClr val="1E293A"/>
                </a:solidFill>
                <a:latin typeface="Arial"/>
                <a:cs typeface="Arial"/>
              </a:rPr>
              <a:t>Data</a:t>
            </a:r>
            <a:r>
              <a:rPr sz="1150" b="1" spc="65" dirty="0">
                <a:solidFill>
                  <a:srgbClr val="1E293A"/>
                </a:solidFill>
                <a:latin typeface="Arial"/>
                <a:cs typeface="Arial"/>
              </a:rPr>
              <a:t> </a:t>
            </a:r>
            <a:r>
              <a:rPr sz="1150" b="1" spc="180" dirty="0">
                <a:solidFill>
                  <a:srgbClr val="1E293A"/>
                </a:solidFill>
                <a:latin typeface="Arial"/>
                <a:cs typeface="Arial"/>
              </a:rPr>
              <a:t>Model</a:t>
            </a:r>
            <a:endParaRPr sz="11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273" y="2300320"/>
            <a:ext cx="9999415" cy="395937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008262" y="3257991"/>
            <a:ext cx="147891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1" spc="140" dirty="0">
                <a:latin typeface="Arial"/>
                <a:cs typeface="Arial"/>
              </a:rPr>
              <a:t>SUBSCRIBER_DEVICE</a:t>
            </a:r>
            <a:endParaRPr sz="8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955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2108266" y="5236233"/>
            <a:ext cx="1308735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1" spc="160" dirty="0">
                <a:solidFill>
                  <a:srgbClr val="055F46"/>
                </a:solidFill>
                <a:latin typeface="Arial"/>
                <a:cs typeface="Arial"/>
              </a:rPr>
              <a:t>NETWORK_METRIC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45332" y="5236233"/>
            <a:ext cx="768350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b="1" spc="160" dirty="0">
                <a:solidFill>
                  <a:srgbClr val="991B1B"/>
                </a:solidFill>
                <a:latin typeface="Arial"/>
                <a:cs typeface="Arial"/>
              </a:rPr>
              <a:t>FEEDBACK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0246" y="4206116"/>
            <a:ext cx="52959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80" dirty="0">
                <a:latin typeface="Arial"/>
                <a:cs typeface="Arial"/>
              </a:rPr>
              <a:t>generates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9535" y="4310469"/>
            <a:ext cx="40640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75" dirty="0">
                <a:latin typeface="Arial"/>
                <a:cs typeface="Arial"/>
              </a:rPr>
              <a:t>records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08062" y="4206116"/>
            <a:ext cx="41529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i="1" spc="75" dirty="0">
                <a:latin typeface="Arial"/>
                <a:cs typeface="Arial"/>
              </a:rPr>
              <a:t>submits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50775" y="5266048"/>
            <a:ext cx="762000" cy="1511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00" b="1" spc="127" baseline="17361" dirty="0">
                <a:solidFill>
                  <a:srgbClr val="92400D"/>
                </a:solidFill>
                <a:latin typeface="Arial"/>
                <a:cs typeface="Arial"/>
              </a:rPr>
              <a:t>L</a:t>
            </a:r>
            <a:r>
              <a:rPr sz="1200" b="1" spc="-487" baseline="17361" dirty="0">
                <a:solidFill>
                  <a:srgbClr val="92400D"/>
                </a:solidFill>
                <a:latin typeface="Arial"/>
                <a:cs typeface="Arial"/>
              </a:rPr>
              <a:t>O</a:t>
            </a:r>
            <a:r>
              <a:rPr sz="550" i="1" spc="40" dirty="0">
                <a:latin typeface="Arial"/>
                <a:cs typeface="Arial"/>
              </a:rPr>
              <a:t>li</a:t>
            </a:r>
            <a:r>
              <a:rPr sz="550" i="1" spc="-165" dirty="0">
                <a:latin typeface="Arial"/>
                <a:cs typeface="Arial"/>
              </a:rPr>
              <a:t>n</a:t>
            </a:r>
            <a:r>
              <a:rPr sz="1200" b="1" spc="-412" baseline="17361" dirty="0">
                <a:solidFill>
                  <a:srgbClr val="92400D"/>
                </a:solidFill>
                <a:latin typeface="Arial"/>
                <a:cs typeface="Arial"/>
              </a:rPr>
              <a:t>C</a:t>
            </a:r>
            <a:r>
              <a:rPr sz="550" i="1" spc="50" dirty="0">
                <a:latin typeface="Arial"/>
                <a:cs typeface="Arial"/>
              </a:rPr>
              <a:t>k</a:t>
            </a:r>
            <a:r>
              <a:rPr sz="550" i="1" spc="-165" dirty="0">
                <a:latin typeface="Arial"/>
                <a:cs typeface="Arial"/>
              </a:rPr>
              <a:t>e</a:t>
            </a:r>
            <a:r>
              <a:rPr sz="1200" b="1" spc="-412" baseline="17361" dirty="0">
                <a:solidFill>
                  <a:srgbClr val="92400D"/>
                </a:solidFill>
                <a:latin typeface="Arial"/>
                <a:cs typeface="Arial"/>
              </a:rPr>
              <a:t>A</a:t>
            </a:r>
            <a:r>
              <a:rPr sz="550" i="1" dirty="0">
                <a:latin typeface="Arial"/>
                <a:cs typeface="Arial"/>
              </a:rPr>
              <a:t>d</a:t>
            </a:r>
            <a:r>
              <a:rPr sz="1200" b="1" spc="-367" baseline="17361" dirty="0">
                <a:solidFill>
                  <a:srgbClr val="92400D"/>
                </a:solidFill>
                <a:latin typeface="Arial"/>
                <a:cs typeface="Arial"/>
              </a:rPr>
              <a:t>T</a:t>
            </a:r>
            <a:r>
              <a:rPr sz="550" i="1" spc="70" dirty="0">
                <a:latin typeface="Arial"/>
                <a:cs typeface="Arial"/>
              </a:rPr>
              <a:t>t</a:t>
            </a:r>
            <a:r>
              <a:rPr sz="550" i="1" spc="-165" dirty="0">
                <a:latin typeface="Arial"/>
                <a:cs typeface="Arial"/>
              </a:rPr>
              <a:t>o</a:t>
            </a:r>
            <a:r>
              <a:rPr sz="1200" b="1" spc="52" baseline="17361" dirty="0">
                <a:solidFill>
                  <a:srgbClr val="92400D"/>
                </a:solidFill>
                <a:latin typeface="Arial"/>
                <a:cs typeface="Arial"/>
              </a:rPr>
              <a:t>I</a:t>
            </a:r>
            <a:r>
              <a:rPr sz="550" i="1" spc="-80" dirty="0">
                <a:latin typeface="Arial"/>
                <a:cs typeface="Arial"/>
              </a:rPr>
              <a:t>.</a:t>
            </a:r>
            <a:r>
              <a:rPr sz="1200" b="1" spc="-637" baseline="17361" dirty="0">
                <a:solidFill>
                  <a:srgbClr val="92400D"/>
                </a:solidFill>
                <a:latin typeface="Arial"/>
                <a:cs typeface="Arial"/>
              </a:rPr>
              <a:t>O</a:t>
            </a:r>
            <a:r>
              <a:rPr sz="550" i="1" spc="70" dirty="0">
                <a:latin typeface="Arial"/>
                <a:cs typeface="Arial"/>
              </a:rPr>
              <a:t>.</a:t>
            </a:r>
            <a:r>
              <a:rPr sz="550" i="1" spc="55" dirty="0">
                <a:latin typeface="Arial"/>
                <a:cs typeface="Arial"/>
              </a:rPr>
              <a:t>.</a:t>
            </a:r>
            <a:r>
              <a:rPr sz="550" i="1" spc="145" dirty="0">
                <a:latin typeface="Arial"/>
                <a:cs typeface="Arial"/>
              </a:rPr>
              <a:t> </a:t>
            </a:r>
            <a:r>
              <a:rPr sz="1200" b="1" spc="187" baseline="17361" dirty="0">
                <a:solidFill>
                  <a:srgbClr val="92400D"/>
                </a:solidFill>
                <a:latin typeface="Arial"/>
                <a:cs typeface="Arial"/>
              </a:rPr>
              <a:t>N</a:t>
            </a:r>
            <a:endParaRPr sz="1200" baseline="1736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4942" y="3602357"/>
            <a:ext cx="9461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75" dirty="0">
                <a:latin typeface="Arial"/>
                <a:cs typeface="Arial"/>
              </a:rPr>
              <a:t>1</a:t>
            </a:r>
            <a:endParaRPr sz="7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52097" y="4885904"/>
            <a:ext cx="11493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110" dirty="0">
                <a:solidFill>
                  <a:srgbClr val="6266F0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48485" y="3676895"/>
            <a:ext cx="9461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75" dirty="0">
                <a:latin typeface="Arial"/>
                <a:cs typeface="Arial"/>
              </a:rPr>
              <a:t>1</a:t>
            </a:r>
            <a:endParaRPr sz="7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08327" y="4885904"/>
            <a:ext cx="11493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110" dirty="0">
                <a:solidFill>
                  <a:srgbClr val="6266F0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47697" y="3579996"/>
            <a:ext cx="9461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75" dirty="0">
                <a:latin typeface="Arial"/>
                <a:cs typeface="Arial"/>
              </a:rPr>
              <a:t>1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28206" y="4885904"/>
            <a:ext cx="114935" cy="142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50" b="1" spc="110" dirty="0">
                <a:solidFill>
                  <a:srgbClr val="6266F0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07542" y="5266048"/>
            <a:ext cx="88900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60" dirty="0">
                <a:solidFill>
                  <a:srgbClr val="6266F0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44217" y="5266048"/>
            <a:ext cx="214629" cy="133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00" b="1" spc="55" dirty="0">
                <a:solidFill>
                  <a:srgbClr val="6266F0"/>
                </a:solidFill>
                <a:latin typeface="Arial"/>
                <a:cs typeface="Arial"/>
              </a:rPr>
              <a:t>0..1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16530" y="2384404"/>
            <a:ext cx="862330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105" dirty="0">
                <a:latin typeface="Microsoft Sans Serif"/>
                <a:cs typeface="Microsoft Sans Serif"/>
              </a:rPr>
              <a:t>anonymous_id</a:t>
            </a:r>
            <a:r>
              <a:rPr sz="550" spc="85" dirty="0">
                <a:latin typeface="Microsoft Sans Serif"/>
                <a:cs typeface="Microsoft Sans Serif"/>
              </a:rPr>
              <a:t> </a:t>
            </a:r>
            <a:r>
              <a:rPr sz="550" spc="75" dirty="0">
                <a:latin typeface="Microsoft Sans Serif"/>
                <a:cs typeface="Microsoft Sans Serif"/>
              </a:rPr>
              <a:t>(PK)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95924" y="2458942"/>
            <a:ext cx="134175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95" dirty="0">
                <a:latin typeface="Microsoft Sans Serif"/>
                <a:cs typeface="Microsoft Sans Serif"/>
              </a:rPr>
              <a:t>device_model,</a:t>
            </a:r>
            <a:r>
              <a:rPr sz="550" spc="80" dirty="0">
                <a:latin typeface="Microsoft Sans Serif"/>
                <a:cs typeface="Microsoft Sans Serif"/>
              </a:rPr>
              <a:t> </a:t>
            </a:r>
            <a:r>
              <a:rPr sz="550" spc="85" dirty="0">
                <a:latin typeface="Microsoft Sans Serif"/>
                <a:cs typeface="Microsoft Sans Serif"/>
              </a:rPr>
              <a:t>os, app_version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19354" y="2458942"/>
            <a:ext cx="125539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90" dirty="0">
                <a:latin typeface="Microsoft Sans Serif"/>
                <a:cs typeface="Microsoft Sans Serif"/>
              </a:rPr>
              <a:t>consent_given,</a:t>
            </a:r>
            <a:r>
              <a:rPr sz="550" spc="114" dirty="0">
                <a:latin typeface="Microsoft Sans Serif"/>
                <a:cs typeface="Microsoft Sans Serif"/>
              </a:rPr>
              <a:t> </a:t>
            </a:r>
            <a:r>
              <a:rPr sz="550" spc="80" dirty="0">
                <a:latin typeface="Microsoft Sans Serif"/>
                <a:cs typeface="Microsoft Sans Serif"/>
              </a:rPr>
              <a:t>registered_at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47112" y="4547501"/>
            <a:ext cx="6305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60" dirty="0">
                <a:latin typeface="Microsoft Sans Serif"/>
                <a:cs typeface="Microsoft Sans Serif"/>
              </a:rPr>
              <a:t>metric_id</a:t>
            </a:r>
            <a:r>
              <a:rPr sz="600" spc="80" dirty="0">
                <a:latin typeface="Microsoft Sans Serif"/>
                <a:cs typeface="Microsoft Sans Serif"/>
              </a:rPr>
              <a:t> </a:t>
            </a:r>
            <a:r>
              <a:rPr sz="600" spc="50" dirty="0">
                <a:latin typeface="Microsoft Sans Serif"/>
                <a:cs typeface="Microsoft Sans Serif"/>
              </a:rPr>
              <a:t>(PK)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8343" y="5930910"/>
            <a:ext cx="185229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95" dirty="0">
                <a:latin typeface="Microsoft Sans Serif"/>
                <a:cs typeface="Microsoft Sans Serif"/>
              </a:rPr>
              <a:t>ignal_strength_dbm,</a:t>
            </a:r>
            <a:r>
              <a:rPr sz="550" spc="65" dirty="0">
                <a:latin typeface="Microsoft Sans Serif"/>
                <a:cs typeface="Microsoft Sans Serif"/>
              </a:rPr>
              <a:t> </a:t>
            </a:r>
            <a:r>
              <a:rPr sz="550" spc="105" dirty="0">
                <a:latin typeface="Microsoft Sans Serif"/>
                <a:cs typeface="Microsoft Sans Serif"/>
              </a:rPr>
              <a:t>download_mbps,</a:t>
            </a:r>
            <a:r>
              <a:rPr sz="550" spc="85" dirty="0">
                <a:latin typeface="Microsoft Sans Serif"/>
                <a:cs typeface="Microsoft Sans Serif"/>
              </a:rPr>
              <a:t> </a:t>
            </a:r>
            <a:r>
              <a:rPr sz="550" spc="75" dirty="0">
                <a:latin typeface="Microsoft Sans Serif"/>
                <a:cs typeface="Microsoft Sans Serif"/>
              </a:rPr>
              <a:t>up...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27489" y="5968179"/>
            <a:ext cx="69659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80" dirty="0">
                <a:latin typeface="Microsoft Sans Serif"/>
                <a:cs typeface="Microsoft Sans Serif"/>
              </a:rPr>
              <a:t>location_id</a:t>
            </a:r>
            <a:r>
              <a:rPr sz="550" spc="120" dirty="0">
                <a:latin typeface="Microsoft Sans Serif"/>
                <a:cs typeface="Microsoft Sans Serif"/>
              </a:rPr>
              <a:t> </a:t>
            </a:r>
            <a:r>
              <a:rPr sz="550" spc="70" dirty="0">
                <a:latin typeface="Microsoft Sans Serif"/>
                <a:cs typeface="Microsoft Sans Serif"/>
              </a:rPr>
              <a:t>(PK)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079587" y="6005448"/>
            <a:ext cx="1530985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75" dirty="0">
                <a:latin typeface="Microsoft Sans Serif"/>
                <a:cs typeface="Microsoft Sans Serif"/>
              </a:rPr>
              <a:t>latitude, </a:t>
            </a:r>
            <a:r>
              <a:rPr sz="550" spc="85" dirty="0">
                <a:latin typeface="Microsoft Sans Serif"/>
                <a:cs typeface="Microsoft Sans Serif"/>
              </a:rPr>
              <a:t>longitude, </a:t>
            </a:r>
            <a:r>
              <a:rPr sz="550" spc="80" dirty="0">
                <a:latin typeface="Microsoft Sans Serif"/>
                <a:cs typeface="Microsoft Sans Serif"/>
              </a:rPr>
              <a:t>location_name...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902483" y="4547501"/>
            <a:ext cx="7562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65" dirty="0">
                <a:latin typeface="Microsoft Sans Serif"/>
                <a:cs typeface="Microsoft Sans Serif"/>
              </a:rPr>
              <a:t>feedback_id</a:t>
            </a:r>
            <a:r>
              <a:rPr sz="600" spc="60" dirty="0">
                <a:latin typeface="Microsoft Sans Serif"/>
                <a:cs typeface="Microsoft Sans Serif"/>
              </a:rPr>
              <a:t> </a:t>
            </a:r>
            <a:r>
              <a:rPr sz="600" spc="55" dirty="0">
                <a:latin typeface="Microsoft Sans Serif"/>
                <a:cs typeface="Microsoft Sans Serif"/>
              </a:rPr>
              <a:t>(PK)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16750" y="5953271"/>
            <a:ext cx="1858010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80" dirty="0">
                <a:latin typeface="Microsoft Sans Serif"/>
                <a:cs typeface="Microsoft Sans Serif"/>
              </a:rPr>
              <a:t>overall_rating,</a:t>
            </a:r>
            <a:r>
              <a:rPr sz="550" spc="85" dirty="0">
                <a:latin typeface="Microsoft Sans Serif"/>
                <a:cs typeface="Microsoft Sans Serif"/>
              </a:rPr>
              <a:t> </a:t>
            </a:r>
            <a:r>
              <a:rPr sz="550" spc="90" dirty="0">
                <a:latin typeface="Microsoft Sans Serif"/>
                <a:cs typeface="Microsoft Sans Serif"/>
              </a:rPr>
              <a:t>speed_rating,</a:t>
            </a:r>
            <a:r>
              <a:rPr sz="550" spc="85" dirty="0">
                <a:latin typeface="Microsoft Sans Serif"/>
                <a:cs typeface="Microsoft Sans Serif"/>
              </a:rPr>
              <a:t> </a:t>
            </a:r>
            <a:r>
              <a:rPr sz="550" spc="75" dirty="0">
                <a:latin typeface="Microsoft Sans Serif"/>
                <a:cs typeface="Microsoft Sans Serif"/>
              </a:rPr>
              <a:t>delay_rating...</a:t>
            </a:r>
            <a:endParaRPr sz="5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11674" y="6221610"/>
            <a:ext cx="1374140" cy="1149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50" spc="80" dirty="0">
                <a:latin typeface="Arial MT"/>
                <a:cs typeface="Arial MT"/>
              </a:rPr>
              <a:t>Text</a:t>
            </a:r>
            <a:r>
              <a:rPr sz="550" spc="10" dirty="0">
                <a:latin typeface="Arial MT"/>
                <a:cs typeface="Arial MT"/>
              </a:rPr>
              <a:t> </a:t>
            </a:r>
            <a:r>
              <a:rPr sz="550" spc="60" dirty="0">
                <a:latin typeface="Arial MT"/>
                <a:cs typeface="Arial MT"/>
              </a:rPr>
              <a:t>is</a:t>
            </a:r>
            <a:r>
              <a:rPr sz="550" spc="75" dirty="0">
                <a:latin typeface="Arial MT"/>
                <a:cs typeface="Arial MT"/>
              </a:rPr>
              <a:t> </a:t>
            </a:r>
            <a:r>
              <a:rPr sz="550" spc="90" dirty="0">
                <a:latin typeface="Arial MT"/>
                <a:cs typeface="Arial MT"/>
              </a:rPr>
              <a:t>not</a:t>
            </a:r>
            <a:r>
              <a:rPr sz="550" spc="85" dirty="0">
                <a:latin typeface="Arial MT"/>
                <a:cs typeface="Arial MT"/>
              </a:rPr>
              <a:t> </a:t>
            </a:r>
            <a:r>
              <a:rPr sz="550" spc="130" dirty="0">
                <a:latin typeface="Arial MT"/>
                <a:cs typeface="Arial MT"/>
              </a:rPr>
              <a:t>SVG</a:t>
            </a:r>
            <a:r>
              <a:rPr sz="550" spc="80" dirty="0">
                <a:latin typeface="Arial MT"/>
                <a:cs typeface="Arial MT"/>
              </a:rPr>
              <a:t> </a:t>
            </a:r>
            <a:r>
              <a:rPr sz="550" spc="60" dirty="0">
                <a:latin typeface="Arial MT"/>
                <a:cs typeface="Arial MT"/>
              </a:rPr>
              <a:t>-</a:t>
            </a:r>
            <a:r>
              <a:rPr sz="550" spc="45" dirty="0">
                <a:latin typeface="Arial MT"/>
                <a:cs typeface="Arial MT"/>
              </a:rPr>
              <a:t> </a:t>
            </a:r>
            <a:r>
              <a:rPr sz="550" spc="95" dirty="0">
                <a:latin typeface="Arial MT"/>
                <a:cs typeface="Arial MT"/>
              </a:rPr>
              <a:t>cannot</a:t>
            </a:r>
            <a:r>
              <a:rPr sz="550" spc="85" dirty="0">
                <a:latin typeface="Arial MT"/>
                <a:cs typeface="Arial MT"/>
              </a:rPr>
              <a:t> </a:t>
            </a:r>
            <a:r>
              <a:rPr sz="550" spc="70" dirty="0">
                <a:latin typeface="Arial MT"/>
                <a:cs typeface="Arial MT"/>
              </a:rPr>
              <a:t>display</a:t>
            </a:r>
            <a:endParaRPr sz="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2238755"/>
              <a:ext cx="1438656" cy="143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233172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13" y="1970"/>
                  </a:lnTo>
                  <a:lnTo>
                    <a:pt x="497951" y="7778"/>
                  </a:lnTo>
                  <a:lnTo>
                    <a:pt x="451528" y="17271"/>
                  </a:lnTo>
                  <a:lnTo>
                    <a:pt x="406495" y="30297"/>
                  </a:lnTo>
                  <a:lnTo>
                    <a:pt x="363007" y="46702"/>
                  </a:lnTo>
                  <a:lnTo>
                    <a:pt x="321216" y="66334"/>
                  </a:lnTo>
                  <a:lnTo>
                    <a:pt x="281276" y="89039"/>
                  </a:lnTo>
                  <a:lnTo>
                    <a:pt x="243338" y="114665"/>
                  </a:lnTo>
                  <a:lnTo>
                    <a:pt x="207556" y="143060"/>
                  </a:lnTo>
                  <a:lnTo>
                    <a:pt x="174083" y="174069"/>
                  </a:lnTo>
                  <a:lnTo>
                    <a:pt x="143072" y="207540"/>
                  </a:lnTo>
                  <a:lnTo>
                    <a:pt x="114676" y="243321"/>
                  </a:lnTo>
                  <a:lnTo>
                    <a:pt x="89048" y="281259"/>
                  </a:lnTo>
                  <a:lnTo>
                    <a:pt x="66341" y="321200"/>
                  </a:lnTo>
                  <a:lnTo>
                    <a:pt x="46707" y="362991"/>
                  </a:lnTo>
                  <a:lnTo>
                    <a:pt x="30300" y="406481"/>
                  </a:lnTo>
                  <a:lnTo>
                    <a:pt x="17273" y="451515"/>
                  </a:lnTo>
                  <a:lnTo>
                    <a:pt x="7779" y="497942"/>
                  </a:lnTo>
                  <a:lnTo>
                    <a:pt x="1970" y="545607"/>
                  </a:lnTo>
                  <a:lnTo>
                    <a:pt x="0" y="594359"/>
                  </a:lnTo>
                  <a:lnTo>
                    <a:pt x="1970" y="643112"/>
                  </a:lnTo>
                  <a:lnTo>
                    <a:pt x="7779" y="690777"/>
                  </a:lnTo>
                  <a:lnTo>
                    <a:pt x="17273" y="737204"/>
                  </a:lnTo>
                  <a:lnTo>
                    <a:pt x="30300" y="782238"/>
                  </a:lnTo>
                  <a:lnTo>
                    <a:pt x="46707" y="825728"/>
                  </a:lnTo>
                  <a:lnTo>
                    <a:pt x="66341" y="867519"/>
                  </a:lnTo>
                  <a:lnTo>
                    <a:pt x="89048" y="907460"/>
                  </a:lnTo>
                  <a:lnTo>
                    <a:pt x="114676" y="945398"/>
                  </a:lnTo>
                  <a:lnTo>
                    <a:pt x="143072" y="981179"/>
                  </a:lnTo>
                  <a:lnTo>
                    <a:pt x="174083" y="1014650"/>
                  </a:lnTo>
                  <a:lnTo>
                    <a:pt x="207556" y="1045659"/>
                  </a:lnTo>
                  <a:lnTo>
                    <a:pt x="243338" y="1074054"/>
                  </a:lnTo>
                  <a:lnTo>
                    <a:pt x="281276" y="1099680"/>
                  </a:lnTo>
                  <a:lnTo>
                    <a:pt x="321216" y="1122385"/>
                  </a:lnTo>
                  <a:lnTo>
                    <a:pt x="363007" y="1142017"/>
                  </a:lnTo>
                  <a:lnTo>
                    <a:pt x="406495" y="1158422"/>
                  </a:lnTo>
                  <a:lnTo>
                    <a:pt x="451528" y="1171448"/>
                  </a:lnTo>
                  <a:lnTo>
                    <a:pt x="497951" y="1180941"/>
                  </a:lnTo>
                  <a:lnTo>
                    <a:pt x="545613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59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" y="2670048"/>
              <a:ext cx="512064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90673" y="2179141"/>
            <a:ext cx="796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>
                <a:solidFill>
                  <a:srgbClr val="049569"/>
                </a:solidFill>
              </a:rPr>
              <a:t>03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645668" y="3583304"/>
            <a:ext cx="3876040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1E293A"/>
                </a:solidFill>
                <a:latin typeface="Calibri"/>
                <a:cs typeface="Calibri"/>
              </a:rPr>
              <a:t>ER</a:t>
            </a:r>
            <a:r>
              <a:rPr sz="4000" b="1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Diagram</a:t>
            </a:r>
            <a:endParaRPr sz="4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900"/>
              </a:spcBef>
            </a:pP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Tables,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columns,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data</a:t>
            </a:r>
            <a:r>
              <a:rPr sz="15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types,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key</a:t>
            </a:r>
            <a:r>
              <a:rPr sz="1500" i="1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relationships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11576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R</a:t>
            </a:r>
            <a:r>
              <a:rPr sz="1300" b="1" spc="41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G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49569"/>
                </a:solidFill>
                <a:latin typeface="Calibri"/>
                <a:cs typeface="Calibri"/>
              </a:rPr>
              <a:t>M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How</a:t>
            </a:r>
            <a:r>
              <a:rPr sz="2800" spc="-55" dirty="0"/>
              <a:t> </a:t>
            </a:r>
            <a:r>
              <a:rPr sz="2800" dirty="0"/>
              <a:t>to</a:t>
            </a:r>
            <a:r>
              <a:rPr sz="2800" spc="-45" dirty="0"/>
              <a:t> </a:t>
            </a:r>
            <a:r>
              <a:rPr sz="2800" dirty="0"/>
              <a:t>Read</a:t>
            </a:r>
            <a:r>
              <a:rPr sz="2800" spc="-45" dirty="0"/>
              <a:t> </a:t>
            </a:r>
            <a:r>
              <a:rPr sz="2800" dirty="0"/>
              <a:t>the</a:t>
            </a:r>
            <a:r>
              <a:rPr sz="2800" spc="-45" dirty="0"/>
              <a:t> </a:t>
            </a:r>
            <a:r>
              <a:rPr sz="2800" spc="-10" dirty="0"/>
              <a:t>Diagram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640080" y="1554480"/>
            <a:ext cx="1234440" cy="502920"/>
          </a:xfrm>
          <a:custGeom>
            <a:avLst/>
            <a:gdLst/>
            <a:ahLst/>
            <a:cxnLst/>
            <a:rect l="l" t="t" r="r" b="b"/>
            <a:pathLst>
              <a:path w="1234439" h="502919">
                <a:moveTo>
                  <a:pt x="1161288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2"/>
                </a:lnTo>
                <a:lnTo>
                  <a:pt x="0" y="429768"/>
                </a:lnTo>
                <a:lnTo>
                  <a:pt x="5748" y="458235"/>
                </a:lnTo>
                <a:lnTo>
                  <a:pt x="21426" y="481488"/>
                </a:lnTo>
                <a:lnTo>
                  <a:pt x="44678" y="497169"/>
                </a:lnTo>
                <a:lnTo>
                  <a:pt x="73151" y="502920"/>
                </a:lnTo>
                <a:lnTo>
                  <a:pt x="1161288" y="502920"/>
                </a:lnTo>
                <a:lnTo>
                  <a:pt x="1189755" y="497169"/>
                </a:lnTo>
                <a:lnTo>
                  <a:pt x="1213008" y="481488"/>
                </a:lnTo>
                <a:lnTo>
                  <a:pt x="1228689" y="458235"/>
                </a:lnTo>
                <a:lnTo>
                  <a:pt x="1234439" y="429768"/>
                </a:lnTo>
                <a:lnTo>
                  <a:pt x="1234439" y="73152"/>
                </a:lnTo>
                <a:lnTo>
                  <a:pt x="1228689" y="44684"/>
                </a:lnTo>
                <a:lnTo>
                  <a:pt x="1213008" y="21431"/>
                </a:lnTo>
                <a:lnTo>
                  <a:pt x="1189755" y="5750"/>
                </a:lnTo>
                <a:lnTo>
                  <a:pt x="1161288" y="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5293" y="1683461"/>
            <a:ext cx="20193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PK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44954" y="1692605"/>
            <a:ext cx="291528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Primary</a:t>
            </a:r>
            <a:r>
              <a:rPr sz="1200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Key</a:t>
            </a:r>
            <a:r>
              <a:rPr sz="1200" spc="2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unique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identifier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each</a:t>
            </a:r>
            <a:r>
              <a:rPr sz="1200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row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0080" y="2212848"/>
            <a:ext cx="1234440" cy="502920"/>
          </a:xfrm>
          <a:custGeom>
            <a:avLst/>
            <a:gdLst/>
            <a:ahLst/>
            <a:cxnLst/>
            <a:rect l="l" t="t" r="r" b="b"/>
            <a:pathLst>
              <a:path w="1234439" h="502919">
                <a:moveTo>
                  <a:pt x="1161288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429767"/>
                </a:lnTo>
                <a:lnTo>
                  <a:pt x="5748" y="458235"/>
                </a:lnTo>
                <a:lnTo>
                  <a:pt x="21426" y="481488"/>
                </a:lnTo>
                <a:lnTo>
                  <a:pt x="44678" y="497169"/>
                </a:lnTo>
                <a:lnTo>
                  <a:pt x="73151" y="502919"/>
                </a:lnTo>
                <a:lnTo>
                  <a:pt x="1161288" y="502919"/>
                </a:lnTo>
                <a:lnTo>
                  <a:pt x="1189755" y="497169"/>
                </a:lnTo>
                <a:lnTo>
                  <a:pt x="1213008" y="481488"/>
                </a:lnTo>
                <a:lnTo>
                  <a:pt x="1228689" y="458235"/>
                </a:lnTo>
                <a:lnTo>
                  <a:pt x="1234439" y="429767"/>
                </a:lnTo>
                <a:lnTo>
                  <a:pt x="1234439" y="73151"/>
                </a:lnTo>
                <a:lnTo>
                  <a:pt x="1228689" y="44684"/>
                </a:lnTo>
                <a:lnTo>
                  <a:pt x="1213008" y="21431"/>
                </a:lnTo>
                <a:lnTo>
                  <a:pt x="1189755" y="5750"/>
                </a:lnTo>
                <a:lnTo>
                  <a:pt x="1161288" y="0"/>
                </a:lnTo>
                <a:close/>
              </a:path>
            </a:pathLst>
          </a:custGeom>
          <a:solidFill>
            <a:srgbClr val="049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61389" y="2342514"/>
            <a:ext cx="1924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FK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44954" y="2351659"/>
            <a:ext cx="35020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Foreign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Key</a:t>
            </a:r>
            <a:r>
              <a:rPr sz="1200" spc="27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references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primary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key of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another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table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40080" y="2871216"/>
            <a:ext cx="1234440" cy="502920"/>
          </a:xfrm>
          <a:custGeom>
            <a:avLst/>
            <a:gdLst/>
            <a:ahLst/>
            <a:cxnLst/>
            <a:rect l="l" t="t" r="r" b="b"/>
            <a:pathLst>
              <a:path w="1234439" h="502920">
                <a:moveTo>
                  <a:pt x="1161288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429768"/>
                </a:lnTo>
                <a:lnTo>
                  <a:pt x="5748" y="458235"/>
                </a:lnTo>
                <a:lnTo>
                  <a:pt x="21426" y="481488"/>
                </a:lnTo>
                <a:lnTo>
                  <a:pt x="44678" y="497169"/>
                </a:lnTo>
                <a:lnTo>
                  <a:pt x="73151" y="502920"/>
                </a:lnTo>
                <a:lnTo>
                  <a:pt x="1161288" y="502920"/>
                </a:lnTo>
                <a:lnTo>
                  <a:pt x="1189755" y="497169"/>
                </a:lnTo>
                <a:lnTo>
                  <a:pt x="1213008" y="481488"/>
                </a:lnTo>
                <a:lnTo>
                  <a:pt x="1228689" y="458235"/>
                </a:lnTo>
                <a:lnTo>
                  <a:pt x="1234439" y="429768"/>
                </a:lnTo>
                <a:lnTo>
                  <a:pt x="1234439" y="73151"/>
                </a:lnTo>
                <a:lnTo>
                  <a:pt x="1228689" y="44684"/>
                </a:lnTo>
                <a:lnTo>
                  <a:pt x="1213008" y="21431"/>
                </a:lnTo>
                <a:lnTo>
                  <a:pt x="1189755" y="5750"/>
                </a:lnTo>
                <a:lnTo>
                  <a:pt x="1161288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3289" y="3000578"/>
            <a:ext cx="2679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Calibri"/>
                <a:cs typeface="Calibri"/>
              </a:rPr>
              <a:t>FK?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44954" y="3009722"/>
            <a:ext cx="27889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Optional</a:t>
            </a:r>
            <a:r>
              <a:rPr sz="1200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Foreign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Key</a:t>
            </a:r>
            <a:r>
              <a:rPr sz="1200" spc="2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column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can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be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null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0080" y="3529584"/>
            <a:ext cx="1234440" cy="502920"/>
          </a:xfrm>
          <a:custGeom>
            <a:avLst/>
            <a:gdLst/>
            <a:ahLst/>
            <a:cxnLst/>
            <a:rect l="l" t="t" r="r" b="b"/>
            <a:pathLst>
              <a:path w="1234439" h="502920">
                <a:moveTo>
                  <a:pt x="1161288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429767"/>
                </a:lnTo>
                <a:lnTo>
                  <a:pt x="5748" y="458235"/>
                </a:lnTo>
                <a:lnTo>
                  <a:pt x="21426" y="481488"/>
                </a:lnTo>
                <a:lnTo>
                  <a:pt x="44678" y="497169"/>
                </a:lnTo>
                <a:lnTo>
                  <a:pt x="73151" y="502919"/>
                </a:lnTo>
                <a:lnTo>
                  <a:pt x="1161288" y="502919"/>
                </a:lnTo>
                <a:lnTo>
                  <a:pt x="1189755" y="497169"/>
                </a:lnTo>
                <a:lnTo>
                  <a:pt x="1213008" y="481488"/>
                </a:lnTo>
                <a:lnTo>
                  <a:pt x="1228689" y="458235"/>
                </a:lnTo>
                <a:lnTo>
                  <a:pt x="1234439" y="429767"/>
                </a:lnTo>
                <a:lnTo>
                  <a:pt x="1234439" y="73151"/>
                </a:lnTo>
                <a:lnTo>
                  <a:pt x="1228689" y="44684"/>
                </a:lnTo>
                <a:lnTo>
                  <a:pt x="1213008" y="21431"/>
                </a:lnTo>
                <a:lnTo>
                  <a:pt x="1189755" y="5750"/>
                </a:lnTo>
                <a:lnTo>
                  <a:pt x="1161288" y="0"/>
                </a:lnTo>
                <a:close/>
              </a:path>
            </a:pathLst>
          </a:custGeom>
          <a:solidFill>
            <a:srgbClr val="089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86713" y="3659504"/>
            <a:ext cx="33972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300" b="1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44954" y="3668648"/>
            <a:ext cx="3279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One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record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links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many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records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in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the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related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table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40080" y="4187952"/>
            <a:ext cx="1234440" cy="502920"/>
          </a:xfrm>
          <a:custGeom>
            <a:avLst/>
            <a:gdLst/>
            <a:ahLst/>
            <a:cxnLst/>
            <a:rect l="l" t="t" r="r" b="b"/>
            <a:pathLst>
              <a:path w="1234439" h="502920">
                <a:moveTo>
                  <a:pt x="1161288" y="0"/>
                </a:moveTo>
                <a:lnTo>
                  <a:pt x="73151" y="0"/>
                </a:lnTo>
                <a:lnTo>
                  <a:pt x="44678" y="5750"/>
                </a:lnTo>
                <a:lnTo>
                  <a:pt x="21426" y="21431"/>
                </a:lnTo>
                <a:lnTo>
                  <a:pt x="5748" y="44684"/>
                </a:lnTo>
                <a:lnTo>
                  <a:pt x="0" y="73152"/>
                </a:lnTo>
                <a:lnTo>
                  <a:pt x="0" y="429768"/>
                </a:lnTo>
                <a:lnTo>
                  <a:pt x="5748" y="458235"/>
                </a:lnTo>
                <a:lnTo>
                  <a:pt x="21426" y="481488"/>
                </a:lnTo>
                <a:lnTo>
                  <a:pt x="44678" y="497169"/>
                </a:lnTo>
                <a:lnTo>
                  <a:pt x="73151" y="502920"/>
                </a:lnTo>
                <a:lnTo>
                  <a:pt x="1161288" y="502920"/>
                </a:lnTo>
                <a:lnTo>
                  <a:pt x="1189755" y="497169"/>
                </a:lnTo>
                <a:lnTo>
                  <a:pt x="1213008" y="481488"/>
                </a:lnTo>
                <a:lnTo>
                  <a:pt x="1228689" y="458235"/>
                </a:lnTo>
                <a:lnTo>
                  <a:pt x="1234439" y="429768"/>
                </a:lnTo>
                <a:lnTo>
                  <a:pt x="1234439" y="73152"/>
                </a:lnTo>
                <a:lnTo>
                  <a:pt x="1228689" y="44684"/>
                </a:lnTo>
                <a:lnTo>
                  <a:pt x="1213008" y="21431"/>
                </a:lnTo>
                <a:lnTo>
                  <a:pt x="1189755" y="5750"/>
                </a:lnTo>
                <a:lnTo>
                  <a:pt x="1161288" y="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13561" y="4317872"/>
            <a:ext cx="48640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r>
              <a:rPr sz="13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FFFFFF"/>
                </a:solidFill>
                <a:latin typeface="Calibri"/>
                <a:cs typeface="Calibri"/>
              </a:rPr>
              <a:t>: </a:t>
            </a:r>
            <a:r>
              <a:rPr sz="1300" b="1" spc="-20" dirty="0">
                <a:solidFill>
                  <a:srgbClr val="FFFFFF"/>
                </a:solidFill>
                <a:latin typeface="Calibri"/>
                <a:cs typeface="Calibri"/>
              </a:rPr>
              <a:t>0..1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44954" y="4327017"/>
            <a:ext cx="34861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One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record</a:t>
            </a:r>
            <a:r>
              <a:rPr sz="1200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links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zero</a:t>
            </a:r>
            <a:r>
              <a:rPr sz="1200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or</a:t>
            </a:r>
            <a:r>
              <a:rPr sz="1200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one</a:t>
            </a:r>
            <a:r>
              <a:rPr sz="1200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related</a:t>
            </a:r>
            <a:r>
              <a:rPr sz="1200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E293A"/>
                </a:solidFill>
                <a:latin typeface="Calibri"/>
                <a:cs typeface="Calibri"/>
              </a:rPr>
              <a:t>record</a:t>
            </a:r>
            <a:r>
              <a:rPr sz="1200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E293A"/>
                </a:solidFill>
                <a:latin typeface="Calibri"/>
                <a:cs typeface="Calibri"/>
              </a:rPr>
              <a:t>(optional)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380" y="5119878"/>
            <a:ext cx="16033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Referential</a:t>
            </a:r>
            <a:r>
              <a:rPr sz="1500" b="1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Integrity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7380" y="5572866"/>
            <a:ext cx="5431790" cy="7086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30100"/>
              </a:lnSpc>
              <a:spcBef>
                <a:spcPts val="85"/>
              </a:spcBef>
            </a:pPr>
            <a:r>
              <a:rPr sz="1150" b="1" dirty="0">
                <a:solidFill>
                  <a:srgbClr val="2462EB"/>
                </a:solidFill>
                <a:latin typeface="Courier New"/>
                <a:cs typeface="Courier New"/>
              </a:rPr>
              <a:t>subscriber_device</a:t>
            </a:r>
            <a:r>
              <a:rPr sz="1150" b="1" spc="-10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CASCADE: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deleting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deletes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all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its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related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records. </a:t>
            </a:r>
            <a:r>
              <a:rPr sz="1150" b="1" spc="-10" dirty="0">
                <a:solidFill>
                  <a:srgbClr val="049569"/>
                </a:solidFill>
                <a:latin typeface="Courier New"/>
                <a:cs typeface="Courier New"/>
              </a:rPr>
              <a:t>network_metric.metric_id</a:t>
            </a:r>
            <a:r>
              <a:rPr sz="1150" b="1" spc="-60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sz="11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SET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NULL: deleting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metric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clears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feedback</a:t>
            </a:r>
            <a:r>
              <a:rPr sz="11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link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only.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913183" y="1117200"/>
            <a:ext cx="1502410" cy="146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b="1" spc="-135" dirty="0">
                <a:solidFill>
                  <a:srgbClr val="1F487C"/>
                </a:solidFill>
                <a:latin typeface="Arial"/>
                <a:cs typeface="Arial"/>
              </a:rPr>
              <a:t>Entity-</a:t>
            </a:r>
            <a:r>
              <a:rPr sz="800" b="1" spc="-150" dirty="0">
                <a:solidFill>
                  <a:srgbClr val="1F487C"/>
                </a:solidFill>
                <a:latin typeface="Arial"/>
                <a:cs typeface="Arial"/>
              </a:rPr>
              <a:t>Relationship</a:t>
            </a:r>
            <a:r>
              <a:rPr sz="800" b="1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800" b="1" spc="-170" dirty="0">
                <a:solidFill>
                  <a:srgbClr val="1F487C"/>
                </a:solidFill>
                <a:latin typeface="Arial"/>
                <a:cs typeface="Arial"/>
              </a:rPr>
              <a:t>Diagram</a:t>
            </a:r>
            <a:r>
              <a:rPr sz="800" b="1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800" b="1" spc="-180" dirty="0">
                <a:solidFill>
                  <a:srgbClr val="1F487C"/>
                </a:solidFill>
                <a:latin typeface="Arial"/>
                <a:cs typeface="Arial"/>
              </a:rPr>
              <a:t>SpeeDT</a:t>
            </a:r>
            <a:r>
              <a:rPr sz="800" b="1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800" b="1" spc="-140" dirty="0">
                <a:solidFill>
                  <a:srgbClr val="1F487C"/>
                </a:solidFill>
                <a:latin typeface="Arial"/>
                <a:cs typeface="Arial"/>
              </a:rPr>
              <a:t>Database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46799" y="1522107"/>
            <a:ext cx="2139315" cy="433705"/>
          </a:xfrm>
          <a:custGeom>
            <a:avLst/>
            <a:gdLst/>
            <a:ahLst/>
            <a:cxnLst/>
            <a:rect l="l" t="t" r="r" b="b"/>
            <a:pathLst>
              <a:path w="2139315" h="433705">
                <a:moveTo>
                  <a:pt x="2139086" y="0"/>
                </a:moveTo>
                <a:lnTo>
                  <a:pt x="0" y="0"/>
                </a:lnTo>
                <a:lnTo>
                  <a:pt x="0" y="160642"/>
                </a:lnTo>
                <a:lnTo>
                  <a:pt x="0" y="297167"/>
                </a:lnTo>
                <a:lnTo>
                  <a:pt x="0" y="433705"/>
                </a:lnTo>
                <a:lnTo>
                  <a:pt x="187159" y="433705"/>
                </a:lnTo>
                <a:lnTo>
                  <a:pt x="855586" y="433705"/>
                </a:lnTo>
                <a:lnTo>
                  <a:pt x="2138972" y="433705"/>
                </a:lnTo>
                <a:lnTo>
                  <a:pt x="2138972" y="297167"/>
                </a:lnTo>
                <a:lnTo>
                  <a:pt x="2138972" y="160642"/>
                </a:lnTo>
                <a:lnTo>
                  <a:pt x="2139086" y="0"/>
                </a:lnTo>
                <a:close/>
              </a:path>
            </a:pathLst>
          </a:custGeom>
          <a:solidFill>
            <a:srgbClr val="DAE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638025" y="2074173"/>
            <a:ext cx="748665" cy="1461770"/>
          </a:xfrm>
          <a:custGeom>
            <a:avLst/>
            <a:gdLst/>
            <a:ahLst/>
            <a:cxnLst/>
            <a:rect l="l" t="t" r="r" b="b"/>
            <a:pathLst>
              <a:path w="748665" h="1461770">
                <a:moveTo>
                  <a:pt x="0" y="1461738"/>
                </a:moveTo>
                <a:lnTo>
                  <a:pt x="508226" y="1339592"/>
                </a:lnTo>
                <a:lnTo>
                  <a:pt x="532067" y="1293243"/>
                </a:lnTo>
                <a:lnTo>
                  <a:pt x="456980" y="88179"/>
                </a:lnTo>
                <a:lnTo>
                  <a:pt x="457481" y="70423"/>
                </a:lnTo>
                <a:lnTo>
                  <a:pt x="461659" y="57115"/>
                </a:lnTo>
                <a:lnTo>
                  <a:pt x="469513" y="48263"/>
                </a:lnTo>
                <a:lnTo>
                  <a:pt x="481043" y="43872"/>
                </a:lnTo>
                <a:lnTo>
                  <a:pt x="748637" y="0"/>
                </a:lnTo>
              </a:path>
            </a:pathLst>
          </a:custGeom>
          <a:ln w="8857">
            <a:solidFill>
              <a:srgbClr val="666666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8582712" y="1884366"/>
            <a:ext cx="777240" cy="1873885"/>
            <a:chOff x="8582712" y="1884366"/>
            <a:chExt cx="777240" cy="1873885"/>
          </a:xfrm>
        </p:grpSpPr>
        <p:sp>
          <p:nvSpPr>
            <p:cNvPr id="25" name="object 25"/>
            <p:cNvSpPr/>
            <p:nvPr/>
          </p:nvSpPr>
          <p:spPr>
            <a:xfrm>
              <a:off x="8585887" y="1887541"/>
              <a:ext cx="588645" cy="1867535"/>
            </a:xfrm>
            <a:custGeom>
              <a:avLst/>
              <a:gdLst/>
              <a:ahLst/>
              <a:cxnLst/>
              <a:rect l="l" t="t" r="r" b="b"/>
              <a:pathLst>
                <a:path w="588645" h="1867535">
                  <a:moveTo>
                    <a:pt x="0" y="0"/>
                  </a:moveTo>
                  <a:lnTo>
                    <a:pt x="53474" y="0"/>
                  </a:lnTo>
                  <a:lnTo>
                    <a:pt x="65683" y="2379"/>
                  </a:lnTo>
                  <a:lnTo>
                    <a:pt x="75615" y="9495"/>
                  </a:lnTo>
                  <a:lnTo>
                    <a:pt x="83333" y="21318"/>
                  </a:lnTo>
                  <a:lnTo>
                    <a:pt x="88900" y="37815"/>
                  </a:lnTo>
                  <a:lnTo>
                    <a:pt x="499314" y="1829248"/>
                  </a:lnTo>
                  <a:lnTo>
                    <a:pt x="504756" y="1845870"/>
                  </a:lnTo>
                  <a:lnTo>
                    <a:pt x="512432" y="1857739"/>
                  </a:lnTo>
                  <a:lnTo>
                    <a:pt x="522406" y="1864858"/>
                  </a:lnTo>
                  <a:lnTo>
                    <a:pt x="534741" y="1867230"/>
                  </a:lnTo>
                  <a:lnTo>
                    <a:pt x="588215" y="1867230"/>
                  </a:lnTo>
                </a:path>
              </a:pathLst>
            </a:custGeom>
            <a:ln w="5589">
              <a:solidFill>
                <a:srgbClr val="1F48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338758" y="2068685"/>
              <a:ext cx="16510" cy="24130"/>
            </a:xfrm>
            <a:custGeom>
              <a:avLst/>
              <a:gdLst/>
              <a:ahLst/>
              <a:cxnLst/>
              <a:rect l="l" t="t" r="r" b="b"/>
              <a:pathLst>
                <a:path w="16509" h="24130">
                  <a:moveTo>
                    <a:pt x="12254" y="0"/>
                  </a:moveTo>
                  <a:lnTo>
                    <a:pt x="3564" y="0"/>
                  </a:lnTo>
                  <a:lnTo>
                    <a:pt x="0" y="5387"/>
                  </a:lnTo>
                  <a:lnTo>
                    <a:pt x="0" y="18706"/>
                  </a:lnTo>
                  <a:lnTo>
                    <a:pt x="3564" y="24094"/>
                  </a:lnTo>
                  <a:lnTo>
                    <a:pt x="12254" y="24094"/>
                  </a:lnTo>
                  <a:lnTo>
                    <a:pt x="16042" y="18706"/>
                  </a:lnTo>
                  <a:lnTo>
                    <a:pt x="16042" y="12047"/>
                  </a:lnTo>
                  <a:lnTo>
                    <a:pt x="16042" y="5387"/>
                  </a:lnTo>
                  <a:lnTo>
                    <a:pt x="122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338758" y="2068685"/>
              <a:ext cx="16510" cy="24130"/>
            </a:xfrm>
            <a:custGeom>
              <a:avLst/>
              <a:gdLst/>
              <a:ahLst/>
              <a:cxnLst/>
              <a:rect l="l" t="t" r="r" b="b"/>
              <a:pathLst>
                <a:path w="16509" h="24130">
                  <a:moveTo>
                    <a:pt x="16042" y="12047"/>
                  </a:moveTo>
                  <a:lnTo>
                    <a:pt x="16042" y="18706"/>
                  </a:lnTo>
                  <a:lnTo>
                    <a:pt x="12254" y="24094"/>
                  </a:lnTo>
                  <a:lnTo>
                    <a:pt x="8021" y="24094"/>
                  </a:lnTo>
                  <a:lnTo>
                    <a:pt x="3564" y="24094"/>
                  </a:lnTo>
                  <a:lnTo>
                    <a:pt x="0" y="18706"/>
                  </a:lnTo>
                  <a:lnTo>
                    <a:pt x="0" y="12047"/>
                  </a:lnTo>
                  <a:lnTo>
                    <a:pt x="0" y="5387"/>
                  </a:lnTo>
                  <a:lnTo>
                    <a:pt x="3564" y="0"/>
                  </a:lnTo>
                  <a:lnTo>
                    <a:pt x="8021" y="0"/>
                  </a:lnTo>
                  <a:lnTo>
                    <a:pt x="12254" y="0"/>
                  </a:lnTo>
                  <a:lnTo>
                    <a:pt x="16042" y="5387"/>
                  </a:lnTo>
                  <a:lnTo>
                    <a:pt x="16042" y="12047"/>
                  </a:lnTo>
                </a:path>
              </a:pathLst>
            </a:custGeom>
            <a:ln w="925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6814953" y="3326760"/>
          <a:ext cx="1818639" cy="1685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990"/>
                <a:gridCol w="708660"/>
                <a:gridCol w="935989"/>
              </a:tblGrid>
              <a:tr h="140335"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600" b="1" spc="-85" dirty="0">
                          <a:solidFill>
                            <a:srgbClr val="375522"/>
                          </a:solidFill>
                          <a:latin typeface="Arial"/>
                          <a:cs typeface="Arial"/>
                        </a:rPr>
                        <a:t>NETWORK_METRIC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6350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lnT w="6350">
                      <a:solidFill>
                        <a:srgbClr val="82B366"/>
                      </a:solidFill>
                      <a:prstDash val="solid"/>
                    </a:lnT>
                    <a:lnB w="6350">
                      <a:solidFill>
                        <a:srgbClr val="82B366"/>
                      </a:solidFill>
                      <a:prstDash val="solid"/>
                    </a:lnB>
                    <a:solidFill>
                      <a:srgbClr val="D4E8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6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b="1" spc="-25" dirty="0">
                          <a:solidFill>
                            <a:srgbClr val="375522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lnT w="6350">
                      <a:solidFill>
                        <a:srgbClr val="82B366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4E8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25" dirty="0">
                          <a:solidFill>
                            <a:srgbClr val="375522"/>
                          </a:solidFill>
                          <a:latin typeface="Microsoft Sans Serif"/>
                          <a:cs typeface="Microsoft Sans Serif"/>
                        </a:rPr>
                        <a:t>metric_id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lnT w="6350">
                      <a:solidFill>
                        <a:srgbClr val="82B366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4E8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2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SERIAL</a:t>
                      </a:r>
                      <a:r>
                        <a:rPr sz="600" spc="-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sz="600" spc="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KEY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6350">
                      <a:solidFill>
                        <a:srgbClr val="82B366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4E8D3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b="1" spc="-2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55" dirty="0">
                          <a:latin typeface="Microsoft Sans Serif"/>
                          <a:cs typeface="Microsoft Sans Serif"/>
                        </a:rPr>
                        <a:t>anonymous_id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UUID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600" spc="-4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subscriber_device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network_type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600" spc="-4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55" dirty="0">
                          <a:latin typeface="Microsoft Sans Serif"/>
                          <a:cs typeface="Microsoft Sans Serif"/>
                        </a:rPr>
                        <a:t>operator_name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65" dirty="0">
                          <a:latin typeface="Microsoft Sans Serif"/>
                          <a:cs typeface="Microsoft Sans Serif"/>
                        </a:rPr>
                        <a:t>signal_strength_dbm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INTEGER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65" dirty="0">
                          <a:latin typeface="Microsoft Sans Serif"/>
                          <a:cs typeface="Microsoft Sans Serif"/>
                        </a:rPr>
                        <a:t>download_mbps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NUMERIC(8,2)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50" dirty="0">
                          <a:latin typeface="Microsoft Sans Serif"/>
                          <a:cs typeface="Microsoft Sans Serif"/>
                        </a:rPr>
                        <a:t>upload_mbps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NUMERIC(8,2)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35" dirty="0">
                          <a:latin typeface="Microsoft Sans Serif"/>
                          <a:cs typeface="Microsoft Sans Serif"/>
                        </a:rPr>
                        <a:t>latency_ms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NUMERIC(8,2)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10" dirty="0">
                          <a:latin typeface="Microsoft Sans Serif"/>
                          <a:cs typeface="Microsoft Sans Serif"/>
                        </a:rPr>
                        <a:t>jitter_ms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NUMERIC(8,2)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55" dirty="0">
                          <a:latin typeface="Microsoft Sans Serif"/>
                          <a:cs typeface="Microsoft Sans Serif"/>
                        </a:rPr>
                        <a:t>packet_loss_pct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NUMERIC(5,2)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lnB w="6350">
                      <a:solidFill>
                        <a:srgbClr val="82B366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600" spc="-40" dirty="0">
                          <a:latin typeface="Microsoft Sans Serif"/>
                          <a:cs typeface="Microsoft Sans Serif"/>
                        </a:rPr>
                        <a:t>recorded_at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143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3175">
                      <a:solidFill>
                        <a:srgbClr val="82B366"/>
                      </a:solidFill>
                      <a:prstDash val="solid"/>
                    </a:lnR>
                    <a:lnB w="6350">
                      <a:solidFill>
                        <a:srgbClr val="82B366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600" spc="-1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TIMESTAMPTZ</a:t>
                      </a:r>
                      <a:r>
                        <a:rPr sz="600" spc="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NOW()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1435" marB="0">
                    <a:lnL w="3175">
                      <a:solidFill>
                        <a:srgbClr val="82B366"/>
                      </a:solidFill>
                      <a:prstDash val="solid"/>
                    </a:lnL>
                    <a:lnR w="6350">
                      <a:solidFill>
                        <a:srgbClr val="82B366"/>
                      </a:solidFill>
                      <a:prstDash val="solid"/>
                    </a:lnR>
                    <a:lnB w="6350">
                      <a:solidFill>
                        <a:srgbClr val="82B366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object 29"/>
          <p:cNvGraphicFramePr>
            <a:graphicFrameLocks noGrp="1"/>
          </p:cNvGraphicFramePr>
          <p:nvPr/>
        </p:nvGraphicFramePr>
        <p:xfrm>
          <a:off x="9171762" y="3407075"/>
          <a:ext cx="1924050" cy="120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075"/>
                <a:gridCol w="742950"/>
                <a:gridCol w="962025"/>
              </a:tblGrid>
              <a:tr h="140335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sz="600" b="1" spc="-50" dirty="0">
                          <a:solidFill>
                            <a:srgbClr val="7E5F0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9844" marB="0">
                    <a:lnL w="6350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D5B655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6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b="1" spc="-25" dirty="0">
                          <a:solidFill>
                            <a:srgbClr val="7E5F00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35" dirty="0">
                          <a:solidFill>
                            <a:srgbClr val="7E5F00"/>
                          </a:solidFill>
                          <a:latin typeface="Microsoft Sans Serif"/>
                          <a:cs typeface="Microsoft Sans Serif"/>
                        </a:rPr>
                        <a:t>location_id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2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SERIAL</a:t>
                      </a:r>
                      <a:r>
                        <a:rPr sz="600" spc="-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sz="600" spc="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KEY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b="1" spc="-2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55" dirty="0">
                          <a:latin typeface="Microsoft Sans Serif"/>
                          <a:cs typeface="Microsoft Sans Serif"/>
                        </a:rPr>
                        <a:t>anonymous_id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UUID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600" spc="-4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subscriber_device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0" dirty="0">
                          <a:latin typeface="Microsoft Sans Serif"/>
                          <a:cs typeface="Microsoft Sans Serif"/>
                        </a:rPr>
                        <a:t>latitude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DOUBLE</a:t>
                      </a:r>
                      <a:r>
                        <a:rPr sz="600" spc="-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PRECISION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25" dirty="0">
                          <a:latin typeface="Microsoft Sans Serif"/>
                          <a:cs typeface="Microsoft Sans Serif"/>
                        </a:rPr>
                        <a:t>longitude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DOUBLE</a:t>
                      </a:r>
                      <a:r>
                        <a:rPr sz="600" spc="-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PRECISION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50" dirty="0">
                          <a:latin typeface="Microsoft Sans Serif"/>
                          <a:cs typeface="Microsoft Sans Serif"/>
                        </a:rPr>
                        <a:t>location_name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403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spc="-40" dirty="0">
                          <a:latin typeface="Microsoft Sans Serif"/>
                          <a:cs typeface="Microsoft Sans Serif"/>
                        </a:rPr>
                        <a:t>recorded_at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317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TIMESTAMPTZ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NOW()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317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</a:tcPr>
                </a:tc>
              </a:tr>
              <a:tr h="24066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B w="6350">
                      <a:solidFill>
                        <a:srgbClr val="D5B65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0" name="object 30"/>
          <p:cNvSpPr/>
          <p:nvPr/>
        </p:nvSpPr>
        <p:spPr>
          <a:xfrm>
            <a:off x="6152704" y="1932049"/>
            <a:ext cx="668655" cy="2578100"/>
          </a:xfrm>
          <a:custGeom>
            <a:avLst/>
            <a:gdLst/>
            <a:ahLst/>
            <a:cxnLst/>
            <a:rect l="l" t="t" r="r" b="b"/>
            <a:pathLst>
              <a:path w="668654" h="2578100">
                <a:moveTo>
                  <a:pt x="294107" y="3681"/>
                </a:moveTo>
                <a:lnTo>
                  <a:pt x="53474" y="0"/>
                </a:lnTo>
                <a:lnTo>
                  <a:pt x="41776" y="2065"/>
                </a:lnTo>
                <a:lnTo>
                  <a:pt x="33421" y="8742"/>
                </a:lnTo>
                <a:lnTo>
                  <a:pt x="28408" y="20000"/>
                </a:lnTo>
                <a:lnTo>
                  <a:pt x="26737" y="35807"/>
                </a:lnTo>
                <a:lnTo>
                  <a:pt x="26737" y="53878"/>
                </a:lnTo>
                <a:lnTo>
                  <a:pt x="26737" y="65825"/>
                </a:lnTo>
                <a:lnTo>
                  <a:pt x="22280" y="71848"/>
                </a:lnTo>
                <a:lnTo>
                  <a:pt x="13368" y="71848"/>
                </a:lnTo>
                <a:lnTo>
                  <a:pt x="6684" y="71848"/>
                </a:lnTo>
                <a:lnTo>
                  <a:pt x="3759" y="74358"/>
                </a:lnTo>
                <a:lnTo>
                  <a:pt x="1671" y="81888"/>
                </a:lnTo>
                <a:lnTo>
                  <a:pt x="417" y="94437"/>
                </a:lnTo>
                <a:lnTo>
                  <a:pt x="0" y="112006"/>
                </a:lnTo>
                <a:lnTo>
                  <a:pt x="0" y="2537528"/>
                </a:lnTo>
                <a:lnTo>
                  <a:pt x="1671" y="2555097"/>
                </a:lnTo>
                <a:lnTo>
                  <a:pt x="6684" y="2567647"/>
                </a:lnTo>
                <a:lnTo>
                  <a:pt x="15039" y="2575176"/>
                </a:lnTo>
                <a:lnTo>
                  <a:pt x="26737" y="2577686"/>
                </a:lnTo>
                <a:lnTo>
                  <a:pt x="598910" y="2577686"/>
                </a:lnTo>
                <a:lnTo>
                  <a:pt x="610607" y="2577184"/>
                </a:lnTo>
                <a:lnTo>
                  <a:pt x="618963" y="2575678"/>
                </a:lnTo>
                <a:lnTo>
                  <a:pt x="623976" y="2573168"/>
                </a:lnTo>
                <a:lnTo>
                  <a:pt x="625647" y="2569655"/>
                </a:lnTo>
                <a:lnTo>
                  <a:pt x="625647" y="2565639"/>
                </a:lnTo>
                <a:lnTo>
                  <a:pt x="625647" y="2562962"/>
                </a:lnTo>
                <a:lnTo>
                  <a:pt x="632777" y="2561623"/>
                </a:lnTo>
                <a:lnTo>
                  <a:pt x="647037" y="2561623"/>
                </a:lnTo>
                <a:lnTo>
                  <a:pt x="668426" y="2561623"/>
                </a:lnTo>
              </a:path>
            </a:pathLst>
          </a:custGeom>
          <a:ln w="5516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082764" y="3447281"/>
            <a:ext cx="142240" cy="1231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b="1" spc="-11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6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b="1" spc="-6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600" b="1" spc="-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600" b="1" spc="-7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6444015" y="1519766"/>
          <a:ext cx="4699634" cy="18256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7325"/>
                <a:gridCol w="668655"/>
                <a:gridCol w="1302385"/>
                <a:gridCol w="802639"/>
                <a:gridCol w="184785"/>
                <a:gridCol w="644525"/>
                <a:gridCol w="909320"/>
              </a:tblGrid>
              <a:tr h="150495">
                <a:tc gridSpan="3">
                  <a:txBody>
                    <a:bodyPr/>
                    <a:lstStyle/>
                    <a:p>
                      <a:pPr marR="133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600" b="1" spc="-90" dirty="0">
                          <a:solidFill>
                            <a:srgbClr val="1F487C"/>
                          </a:solidFill>
                          <a:latin typeface="Arial"/>
                          <a:cs typeface="Arial"/>
                        </a:rPr>
                        <a:t>SUBSCRIBER_DEVICE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7465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6C8EBE"/>
                      </a:solidFill>
                      <a:prstDash val="solid"/>
                    </a:lnT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600" b="1" spc="-55" dirty="0">
                          <a:solidFill>
                            <a:srgbClr val="922B20"/>
                          </a:solidFill>
                          <a:latin typeface="Arial"/>
                          <a:cs typeface="Arial"/>
                        </a:rPr>
                        <a:t>FEEDBACK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B85350"/>
                      </a:solidFill>
                      <a:prstDash val="solid"/>
                    </a:lnT>
                    <a:lnB w="6350">
                      <a:solidFill>
                        <a:srgbClr val="B85350"/>
                      </a:solidFill>
                      <a:prstDash val="solid"/>
                    </a:lnB>
                    <a:solidFill>
                      <a:srgbClr val="F8CE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8430">
                <a:tc>
                  <a:txBody>
                    <a:bodyPr/>
                    <a:lstStyle/>
                    <a:p>
                      <a:pPr marL="53975">
                        <a:lnSpc>
                          <a:spcPts val="710"/>
                        </a:lnSpc>
                        <a:spcBef>
                          <a:spcPts val="280"/>
                        </a:spcBef>
                      </a:pPr>
                      <a:r>
                        <a:rPr sz="600" b="1" spc="-25" dirty="0">
                          <a:solidFill>
                            <a:srgbClr val="1F487C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556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6C8EB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  <a:spcBef>
                          <a:spcPts val="280"/>
                        </a:spcBef>
                      </a:pPr>
                      <a:r>
                        <a:rPr sz="600" spc="-55" dirty="0">
                          <a:solidFill>
                            <a:srgbClr val="1F487C"/>
                          </a:solidFill>
                          <a:latin typeface="Microsoft Sans Serif"/>
                          <a:cs typeface="Microsoft Sans Serif"/>
                        </a:rPr>
                        <a:t>anonymous_id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6C8EB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10"/>
                        </a:lnSpc>
                        <a:spcBef>
                          <a:spcPts val="280"/>
                        </a:spcBef>
                      </a:pPr>
                      <a:r>
                        <a:rPr sz="600" spc="-1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UUID</a:t>
                      </a:r>
                      <a:r>
                        <a:rPr sz="600" spc="-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sz="600" spc="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gen_random_uuid()</a:t>
                      </a:r>
                      <a:r>
                        <a:rPr sz="600" spc="-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sz="600" spc="-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sz="600" spc="-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8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KEY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6C8EBE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b="1" spc="-25" dirty="0">
                          <a:solidFill>
                            <a:srgbClr val="922B20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1778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B8535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spc="-45" dirty="0">
                          <a:solidFill>
                            <a:srgbClr val="922B20"/>
                          </a:solidFill>
                          <a:latin typeface="Microsoft Sans Serif"/>
                          <a:cs typeface="Microsoft Sans Serif"/>
                        </a:rPr>
                        <a:t>feedback_id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78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B8535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EC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spc="-12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SERIAL</a:t>
                      </a:r>
                      <a:r>
                        <a:rPr sz="600" spc="-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sz="600" spc="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KEY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78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B8535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8CECC"/>
                    </a:solidFill>
                  </a:tcPr>
                </a:tc>
              </a:tr>
              <a:tr h="73660">
                <a:tc rowSpan="2"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600" b="1" spc="-25" dirty="0">
                          <a:solidFill>
                            <a:srgbClr val="1F487C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600" spc="-55" dirty="0">
                          <a:solidFill>
                            <a:srgbClr val="1F487C"/>
                          </a:solidFill>
                          <a:latin typeface="Microsoft Sans Serif"/>
                          <a:cs typeface="Microsoft Sans Serif"/>
                        </a:rPr>
                        <a:t>anonymous_id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600" spc="-1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UUID</a:t>
                      </a:r>
                      <a:r>
                        <a:rPr sz="600" spc="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sz="600" spc="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1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gen_random_uuid()</a:t>
                      </a:r>
                      <a:r>
                        <a:rPr sz="600" spc="-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3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·</a:t>
                      </a:r>
                      <a:r>
                        <a:rPr sz="600" spc="-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2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sz="600" spc="-2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8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KEY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1F487C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b="1" spc="-2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spc="-55" dirty="0">
                          <a:latin typeface="Microsoft Sans Serif"/>
                          <a:cs typeface="Microsoft Sans Serif"/>
                        </a:rPr>
                        <a:t>anonymous_id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1314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600" spc="-1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UUID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600" spc="-4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6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subscriber_device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7366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429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1F487C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AE8FB"/>
                    </a:solidFill>
                  </a:tcPr>
                </a:tc>
                <a:tc rowSpan="17">
                  <a:txBody>
                    <a:bodyPr/>
                    <a:lstStyle/>
                    <a:p>
                      <a:pPr marL="3810" algn="ctr">
                        <a:lnSpc>
                          <a:spcPts val="345"/>
                        </a:lnSpc>
                      </a:pPr>
                      <a:r>
                        <a:rPr sz="600" b="1" spc="-1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600" b="1" spc="-5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6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600" b="1" spc="-5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238125">
                        <a:lnSpc>
                          <a:spcPct val="100000"/>
                        </a:lnSpc>
                      </a:pPr>
                      <a:r>
                        <a:rPr sz="600" b="1" spc="-11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600" b="1" spc="-5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spc="-6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600" b="1" spc="-5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N</a:t>
                      </a:r>
                      <a:endParaRPr sz="600">
                        <a:latin typeface="Arial"/>
                        <a:cs typeface="Arial"/>
                      </a:endParaRPr>
                    </a:p>
                    <a:p>
                      <a:pPr marL="47752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600" b="1" i="1" spc="-11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600" b="1" i="1" spc="-5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i="1" spc="-6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sz="600" b="1" i="1" spc="-45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600" b="1" i="1" spc="-20" dirty="0">
                          <a:solidFill>
                            <a:srgbClr val="666666"/>
                          </a:solidFill>
                          <a:latin typeface="Arial"/>
                          <a:cs typeface="Arial"/>
                        </a:rPr>
                        <a:t>0..1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2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600" spc="-50" dirty="0">
                          <a:latin typeface="Microsoft Sans Serif"/>
                          <a:cs typeface="Microsoft Sans Serif"/>
                        </a:rPr>
                        <a:t>device_model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222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600" spc="-4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222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600" b="1" spc="-25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FK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600" spc="-90" dirty="0">
                          <a:latin typeface="Microsoft Sans Serif"/>
                          <a:cs typeface="Microsoft Sans Serif"/>
                        </a:rPr>
                        <a:t>metric_id</a:t>
                      </a:r>
                      <a:r>
                        <a:rPr sz="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5" dirty="0">
                          <a:latin typeface="Microsoft Sans Serif"/>
                          <a:cs typeface="Microsoft Sans Serif"/>
                        </a:rPr>
                        <a:t>(nullable)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429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600" spc="-10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INT</a:t>
                      </a:r>
                      <a:r>
                        <a:rPr sz="600" spc="-4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600" spc="-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5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network_metric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7429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9588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00" spc="-25" dirty="0">
                          <a:latin typeface="Microsoft Sans Serif"/>
                          <a:cs typeface="Microsoft Sans Serif"/>
                        </a:rPr>
                        <a:t>os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600" spc="-4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7429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13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overall_rating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INTEGER</a:t>
                      </a:r>
                      <a:r>
                        <a:rPr sz="6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CHECK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(1-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5)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</a:tcPr>
                </a:tc>
              </a:tr>
              <a:tr h="1003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8669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app_version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600" spc="-4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6700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speed_rating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INTEGER</a:t>
                      </a:r>
                      <a:r>
                        <a:rPr sz="6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CHECK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(1-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5)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0033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50" dirty="0">
                          <a:latin typeface="Microsoft Sans Serif"/>
                          <a:cs typeface="Microsoft Sans Serif"/>
                        </a:rPr>
                        <a:t>consent_given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94640" marR="120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BOOLEAN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FALSE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75895">
                        <a:lnSpc>
                          <a:spcPts val="640"/>
                        </a:lnSpc>
                        <a:spcBef>
                          <a:spcPts val="80"/>
                        </a:spcBef>
                      </a:pPr>
                      <a:r>
                        <a:rPr sz="600" spc="-40" dirty="0">
                          <a:latin typeface="Microsoft Sans Serif"/>
                          <a:cs typeface="Microsoft Sans Serif"/>
                        </a:rPr>
                        <a:t>delay_rating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170815">
                        <a:lnSpc>
                          <a:spcPts val="640"/>
                        </a:lnSpc>
                        <a:spcBef>
                          <a:spcPts val="80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INTEGER</a:t>
                      </a:r>
                      <a:r>
                        <a:rPr sz="6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CHECK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(1-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5)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016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</a:tcPr>
                </a:tc>
              </a:tr>
              <a:tr h="6794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80" dirty="0">
                          <a:latin typeface="Microsoft Sans Serif"/>
                          <a:cs typeface="Microsoft Sans Serif"/>
                        </a:rPr>
                        <a:t>data_collection_enabled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  <a:p>
                      <a:pPr marL="4381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00" spc="-80" dirty="0">
                          <a:latin typeface="Microsoft Sans Serif"/>
                          <a:cs typeface="Microsoft Sans Serif"/>
                        </a:rPr>
                        <a:t>data_collection_enabled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lstStyle/>
                    <a:p>
                      <a:pPr marL="306070" marR="1206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BOOLEAN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TRUE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  <a:p>
                      <a:pPr marL="306070" marR="1206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BOOLEAN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TRUE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0160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</a:tcPr>
                </a:tc>
              </a:tr>
              <a:tr h="136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reliability_rating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INTEGER</a:t>
                      </a:r>
                      <a:r>
                        <a:rPr sz="6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CHECK</a:t>
                      </a:r>
                      <a:r>
                        <a:rPr sz="600" spc="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(1-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5)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69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67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6669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00" spc="-25" dirty="0">
                          <a:latin typeface="Microsoft Sans Serif"/>
                          <a:cs typeface="Microsoft Sans Serif"/>
                        </a:rPr>
                        <a:t>comment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00" spc="-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600" spc="-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(optional)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</a:tcPr>
                </a:tc>
              </a:tr>
              <a:tr h="679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00" spc="-55" dirty="0">
                          <a:latin typeface="Microsoft Sans Serif"/>
                          <a:cs typeface="Microsoft Sans Serif"/>
                        </a:rPr>
                        <a:t>wifi_only_uploads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94640" marR="120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BOOLEAN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FALSE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</a:tcPr>
                </a:tc>
              </a:tr>
              <a:tr h="679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682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submitted_at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76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600" spc="-1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TIMESTAMPTZ</a:t>
                      </a:r>
                      <a:r>
                        <a:rPr sz="600" spc="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NOW()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76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6413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00" spc="-60" dirty="0">
                          <a:latin typeface="Microsoft Sans Serif"/>
                          <a:cs typeface="Microsoft Sans Serif"/>
                        </a:rPr>
                        <a:t>notifications_enabled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marL="294640" marR="1206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BOOLEAN</a:t>
                      </a:r>
                      <a:r>
                        <a:rPr sz="600" spc="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-1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FALSE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3175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4765" marB="0">
                    <a:lnL w="3175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717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305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rowSpan="2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B w="6350">
                      <a:solidFill>
                        <a:srgbClr val="B85350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79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00" spc="-45" dirty="0">
                          <a:latin typeface="Microsoft Sans Serif"/>
                          <a:cs typeface="Microsoft Sans Serif"/>
                        </a:rPr>
                        <a:t>registered_at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237490" marR="120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600" spc="-1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TIMESTAMPTZ</a:t>
                      </a:r>
                      <a:r>
                        <a:rPr sz="600" spc="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3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600" spc="3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600" spc="-1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NOW()</a:t>
                      </a:r>
                      <a:endParaRPr sz="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B85350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B w="6350">
                      <a:solidFill>
                        <a:srgbClr val="B85350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641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3175">
                      <a:solidFill>
                        <a:srgbClr val="6C8EBE"/>
                      </a:solidFill>
                      <a:prstDash val="solid"/>
                    </a:lnR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5400" marB="0">
                    <a:lnL w="3175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6C8EBE"/>
                      </a:solidFill>
                      <a:prstDash val="solid"/>
                    </a:lnR>
                    <a:lnB w="6350">
                      <a:solidFill>
                        <a:srgbClr val="6C8EBE"/>
                      </a:solidFill>
                      <a:prstDash val="solid"/>
                    </a:lnB>
                    <a:solidFill>
                      <a:srgbClr val="F5F5F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6C8EBE"/>
                      </a:solidFill>
                      <a:prstDash val="solid"/>
                    </a:lnL>
                    <a:lnR w="6350">
                      <a:solidFill>
                        <a:srgbClr val="B85350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B8535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33" name="object 33"/>
          <p:cNvSpPr/>
          <p:nvPr/>
        </p:nvSpPr>
        <p:spPr>
          <a:xfrm>
            <a:off x="10510956" y="4654303"/>
            <a:ext cx="1069975" cy="683260"/>
          </a:xfrm>
          <a:custGeom>
            <a:avLst/>
            <a:gdLst/>
            <a:ahLst/>
            <a:cxnLst/>
            <a:rect l="l" t="t" r="r" b="b"/>
            <a:pathLst>
              <a:path w="1069975" h="683260">
                <a:moveTo>
                  <a:pt x="1047821" y="654404"/>
                </a:moveTo>
                <a:lnTo>
                  <a:pt x="1040346" y="661974"/>
                </a:lnTo>
              </a:path>
              <a:path w="1069975" h="683260">
                <a:moveTo>
                  <a:pt x="1016438" y="678095"/>
                </a:moveTo>
                <a:lnTo>
                  <a:pt x="1012847" y="679184"/>
                </a:lnTo>
              </a:path>
              <a:path w="1069975" h="683260">
                <a:moveTo>
                  <a:pt x="995514" y="682685"/>
                </a:moveTo>
                <a:lnTo>
                  <a:pt x="68179" y="682685"/>
                </a:lnTo>
                <a:lnTo>
                  <a:pt x="41640" y="674637"/>
                </a:lnTo>
                <a:lnTo>
                  <a:pt x="19969" y="652692"/>
                </a:lnTo>
                <a:lnTo>
                  <a:pt x="5357" y="620142"/>
                </a:lnTo>
                <a:lnTo>
                  <a:pt x="0" y="580284"/>
                </a:lnTo>
                <a:lnTo>
                  <a:pt x="0" y="102402"/>
                </a:lnTo>
                <a:lnTo>
                  <a:pt x="5357" y="62542"/>
                </a:lnTo>
                <a:lnTo>
                  <a:pt x="19969" y="29992"/>
                </a:lnTo>
                <a:lnTo>
                  <a:pt x="41640" y="8047"/>
                </a:lnTo>
                <a:lnTo>
                  <a:pt x="68179" y="0"/>
                </a:lnTo>
                <a:lnTo>
                  <a:pt x="1001302" y="0"/>
                </a:lnTo>
                <a:lnTo>
                  <a:pt x="1049512" y="29992"/>
                </a:lnTo>
                <a:lnTo>
                  <a:pt x="1069482" y="102402"/>
                </a:lnTo>
                <a:lnTo>
                  <a:pt x="1069482" y="580284"/>
                </a:lnTo>
                <a:lnTo>
                  <a:pt x="1064124" y="620142"/>
                </a:lnTo>
                <a:lnTo>
                  <a:pt x="1050581" y="650312"/>
                </a:lnTo>
              </a:path>
            </a:pathLst>
          </a:custGeom>
          <a:ln w="3902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525438" y="4686546"/>
            <a:ext cx="247650" cy="121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-85" dirty="0">
                <a:latin typeface="Microsoft Sans Serif"/>
                <a:cs typeface="Microsoft Sans Serif"/>
              </a:rPr>
              <a:t>Legend...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38248" y="5269640"/>
            <a:ext cx="404495" cy="736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00" spc="-60" dirty="0">
                <a:latin typeface="Arial MT"/>
                <a:cs typeface="Arial MT"/>
              </a:rPr>
              <a:t>Text</a:t>
            </a:r>
            <a:r>
              <a:rPr sz="300" spc="-25" dirty="0">
                <a:latin typeface="Arial MT"/>
                <a:cs typeface="Arial MT"/>
              </a:rPr>
              <a:t> </a:t>
            </a:r>
            <a:r>
              <a:rPr sz="300" spc="-40" dirty="0">
                <a:latin typeface="Arial MT"/>
                <a:cs typeface="Arial MT"/>
              </a:rPr>
              <a:t>is</a:t>
            </a:r>
            <a:r>
              <a:rPr sz="300" dirty="0">
                <a:latin typeface="Arial MT"/>
                <a:cs typeface="Arial MT"/>
              </a:rPr>
              <a:t> </a:t>
            </a:r>
            <a:r>
              <a:rPr sz="300" spc="-50" dirty="0">
                <a:latin typeface="Arial MT"/>
                <a:cs typeface="Arial MT"/>
              </a:rPr>
              <a:t>not</a:t>
            </a:r>
            <a:r>
              <a:rPr sz="300" spc="5" dirty="0">
                <a:latin typeface="Arial MT"/>
                <a:cs typeface="Arial MT"/>
              </a:rPr>
              <a:t> </a:t>
            </a:r>
            <a:r>
              <a:rPr sz="300" spc="-75" dirty="0">
                <a:latin typeface="Arial MT"/>
                <a:cs typeface="Arial MT"/>
              </a:rPr>
              <a:t>SVG</a:t>
            </a:r>
            <a:r>
              <a:rPr sz="300" spc="10" dirty="0">
                <a:latin typeface="Arial MT"/>
                <a:cs typeface="Arial MT"/>
              </a:rPr>
              <a:t> </a:t>
            </a:r>
            <a:r>
              <a:rPr sz="300" spc="-30" dirty="0">
                <a:latin typeface="Arial MT"/>
                <a:cs typeface="Arial MT"/>
              </a:rPr>
              <a:t>-</a:t>
            </a:r>
            <a:r>
              <a:rPr sz="300" spc="-10" dirty="0">
                <a:latin typeface="Arial MT"/>
                <a:cs typeface="Arial MT"/>
              </a:rPr>
              <a:t> </a:t>
            </a:r>
            <a:r>
              <a:rPr sz="300" spc="-55" dirty="0">
                <a:latin typeface="Arial MT"/>
                <a:cs typeface="Arial MT"/>
              </a:rPr>
              <a:t>cannot</a:t>
            </a:r>
            <a:r>
              <a:rPr sz="300" spc="5" dirty="0">
                <a:latin typeface="Arial MT"/>
                <a:cs typeface="Arial MT"/>
              </a:rPr>
              <a:t> </a:t>
            </a:r>
            <a:r>
              <a:rPr sz="300" spc="-30" dirty="0">
                <a:latin typeface="Arial MT"/>
                <a:cs typeface="Arial MT"/>
              </a:rPr>
              <a:t>display</a:t>
            </a:r>
            <a:endParaRPr sz="300">
              <a:latin typeface="Arial MT"/>
              <a:cs typeface="Arial MT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096000" y="1115567"/>
            <a:ext cx="5486400" cy="4224655"/>
          </a:xfrm>
          <a:custGeom>
            <a:avLst/>
            <a:gdLst/>
            <a:ahLst/>
            <a:cxnLst/>
            <a:rect l="l" t="t" r="r" b="b"/>
            <a:pathLst>
              <a:path w="5486400" h="4224655">
                <a:moveTo>
                  <a:pt x="0" y="91312"/>
                </a:moveTo>
                <a:lnTo>
                  <a:pt x="7177" y="55774"/>
                </a:lnTo>
                <a:lnTo>
                  <a:pt x="26749" y="26749"/>
                </a:lnTo>
                <a:lnTo>
                  <a:pt x="55774" y="7177"/>
                </a:lnTo>
                <a:lnTo>
                  <a:pt x="91312" y="0"/>
                </a:lnTo>
                <a:lnTo>
                  <a:pt x="5395086" y="0"/>
                </a:lnTo>
                <a:lnTo>
                  <a:pt x="5430625" y="7177"/>
                </a:lnTo>
                <a:lnTo>
                  <a:pt x="5459650" y="26749"/>
                </a:lnTo>
                <a:lnTo>
                  <a:pt x="5479222" y="55774"/>
                </a:lnTo>
                <a:lnTo>
                  <a:pt x="5486400" y="91312"/>
                </a:lnTo>
                <a:lnTo>
                  <a:pt x="5486400" y="4133215"/>
                </a:lnTo>
                <a:lnTo>
                  <a:pt x="5479222" y="4168753"/>
                </a:lnTo>
                <a:lnTo>
                  <a:pt x="5459650" y="4197778"/>
                </a:lnTo>
                <a:lnTo>
                  <a:pt x="5430625" y="4217350"/>
                </a:lnTo>
                <a:lnTo>
                  <a:pt x="5395086" y="4224528"/>
                </a:lnTo>
                <a:lnTo>
                  <a:pt x="91312" y="4224528"/>
                </a:lnTo>
                <a:lnTo>
                  <a:pt x="55774" y="4217350"/>
                </a:lnTo>
                <a:lnTo>
                  <a:pt x="26749" y="4197778"/>
                </a:lnTo>
                <a:lnTo>
                  <a:pt x="7177" y="4168753"/>
                </a:lnTo>
                <a:lnTo>
                  <a:pt x="0" y="4133215"/>
                </a:lnTo>
                <a:lnTo>
                  <a:pt x="0" y="91312"/>
                </a:lnTo>
                <a:close/>
              </a:path>
            </a:pathLst>
          </a:custGeom>
          <a:ln w="12700">
            <a:solidFill>
              <a:srgbClr val="E1E8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448767"/>
            <a:ext cx="11576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049569"/>
                </a:solidFill>
              </a:rPr>
              <a:t>E</a:t>
            </a:r>
            <a:r>
              <a:rPr sz="1300" spc="-90" dirty="0">
                <a:solidFill>
                  <a:srgbClr val="049569"/>
                </a:solidFill>
              </a:rPr>
              <a:t> </a:t>
            </a:r>
            <a:r>
              <a:rPr sz="1300" dirty="0">
                <a:solidFill>
                  <a:srgbClr val="049569"/>
                </a:solidFill>
              </a:rPr>
              <a:t>R</a:t>
            </a:r>
            <a:r>
              <a:rPr sz="1300" spc="415" dirty="0">
                <a:solidFill>
                  <a:srgbClr val="049569"/>
                </a:solidFill>
              </a:rPr>
              <a:t> </a:t>
            </a:r>
            <a:r>
              <a:rPr sz="1300" spc="-10" dirty="0">
                <a:solidFill>
                  <a:srgbClr val="049569"/>
                </a:solidFill>
              </a:rPr>
              <a:t>D</a:t>
            </a:r>
            <a:r>
              <a:rPr sz="1300" spc="-95" dirty="0">
                <a:solidFill>
                  <a:srgbClr val="049569"/>
                </a:solidFill>
              </a:rPr>
              <a:t> </a:t>
            </a:r>
            <a:r>
              <a:rPr sz="1300" spc="-10" dirty="0">
                <a:solidFill>
                  <a:srgbClr val="049569"/>
                </a:solidFill>
              </a:rPr>
              <a:t>I</a:t>
            </a:r>
            <a:r>
              <a:rPr sz="1300" spc="-90" dirty="0">
                <a:solidFill>
                  <a:srgbClr val="049569"/>
                </a:solidFill>
              </a:rPr>
              <a:t> </a:t>
            </a:r>
            <a:r>
              <a:rPr sz="1300" spc="-10" dirty="0">
                <a:solidFill>
                  <a:srgbClr val="049569"/>
                </a:solidFill>
              </a:rPr>
              <a:t>A</a:t>
            </a:r>
            <a:r>
              <a:rPr sz="1300" spc="-95" dirty="0">
                <a:solidFill>
                  <a:srgbClr val="049569"/>
                </a:solidFill>
              </a:rPr>
              <a:t> </a:t>
            </a:r>
            <a:r>
              <a:rPr sz="1300" dirty="0">
                <a:solidFill>
                  <a:srgbClr val="049569"/>
                </a:solidFill>
              </a:rPr>
              <a:t>G</a:t>
            </a:r>
            <a:r>
              <a:rPr sz="1300" spc="-95" dirty="0">
                <a:solidFill>
                  <a:srgbClr val="049569"/>
                </a:solidFill>
              </a:rPr>
              <a:t> </a:t>
            </a:r>
            <a:r>
              <a:rPr sz="1300" spc="-10" dirty="0">
                <a:solidFill>
                  <a:srgbClr val="049569"/>
                </a:solidFill>
              </a:rPr>
              <a:t>R</a:t>
            </a:r>
            <a:r>
              <a:rPr sz="1300" spc="-90" dirty="0">
                <a:solidFill>
                  <a:srgbClr val="049569"/>
                </a:solidFill>
              </a:rPr>
              <a:t> </a:t>
            </a:r>
            <a:r>
              <a:rPr sz="1300" spc="-10" dirty="0">
                <a:solidFill>
                  <a:srgbClr val="049569"/>
                </a:solidFill>
              </a:rPr>
              <a:t>A</a:t>
            </a:r>
            <a:r>
              <a:rPr sz="1300" spc="-100" dirty="0">
                <a:solidFill>
                  <a:srgbClr val="049569"/>
                </a:solidFill>
              </a:rPr>
              <a:t> </a:t>
            </a:r>
            <a:r>
              <a:rPr sz="1300" spc="-50" dirty="0">
                <a:solidFill>
                  <a:srgbClr val="049569"/>
                </a:solidFill>
              </a:rPr>
              <a:t>M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627380" y="755650"/>
            <a:ext cx="6733540" cy="803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20" dirty="0">
                <a:solidFill>
                  <a:srgbClr val="1E293A"/>
                </a:solidFill>
                <a:latin typeface="Calibri"/>
                <a:cs typeface="Calibri"/>
              </a:rPr>
              <a:t>Entity-</a:t>
            </a:r>
            <a:r>
              <a:rPr sz="2600" b="1" spc="-10" dirty="0">
                <a:solidFill>
                  <a:srgbClr val="1E293A"/>
                </a:solidFill>
                <a:latin typeface="Calibri"/>
                <a:cs typeface="Calibri"/>
              </a:rPr>
              <a:t>Relationship</a:t>
            </a:r>
            <a:r>
              <a:rPr sz="2600" b="1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1E293A"/>
                </a:solidFill>
                <a:latin typeface="Calibri"/>
                <a:cs typeface="Calibri"/>
              </a:rPr>
              <a:t>Diagram</a:t>
            </a:r>
            <a:r>
              <a:rPr sz="2600" b="1" spc="49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1E293A"/>
                </a:solidFill>
                <a:latin typeface="Calibri"/>
                <a:cs typeface="Calibri"/>
              </a:rPr>
              <a:t>SpeeDT</a:t>
            </a:r>
            <a:r>
              <a:rPr sz="2600" b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1E293A"/>
                </a:solidFill>
                <a:latin typeface="Calibri"/>
                <a:cs typeface="Calibri"/>
              </a:rPr>
              <a:t>Database</a:t>
            </a:r>
            <a:endParaRPr sz="2600">
              <a:latin typeface="Calibri"/>
              <a:cs typeface="Calibri"/>
            </a:endParaRPr>
          </a:p>
          <a:p>
            <a:pPr marL="3438525">
              <a:lnSpc>
                <a:spcPct val="100000"/>
              </a:lnSpc>
              <a:spcBef>
                <a:spcPts val="1855"/>
              </a:spcBef>
            </a:pPr>
            <a:r>
              <a:rPr sz="950" b="1" spc="95" dirty="0">
                <a:solidFill>
                  <a:srgbClr val="1F487C"/>
                </a:solidFill>
                <a:latin typeface="Arial"/>
                <a:cs typeface="Arial"/>
              </a:rPr>
              <a:t>Entity-</a:t>
            </a:r>
            <a:r>
              <a:rPr sz="950" b="1" spc="105" dirty="0">
                <a:solidFill>
                  <a:srgbClr val="1F487C"/>
                </a:solidFill>
                <a:latin typeface="Arial"/>
                <a:cs typeface="Arial"/>
              </a:rPr>
              <a:t>Relationship</a:t>
            </a:r>
            <a:r>
              <a:rPr sz="950" b="1" spc="7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950" b="1" spc="120" dirty="0">
                <a:solidFill>
                  <a:srgbClr val="1F487C"/>
                </a:solidFill>
                <a:latin typeface="Arial"/>
                <a:cs typeface="Arial"/>
              </a:rPr>
              <a:t>Diagram</a:t>
            </a:r>
            <a:r>
              <a:rPr sz="950" b="1" spc="7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950" b="1" spc="135" dirty="0">
                <a:solidFill>
                  <a:srgbClr val="1F487C"/>
                </a:solidFill>
                <a:latin typeface="Arial"/>
                <a:cs typeface="Arial"/>
              </a:rPr>
              <a:t>SpeeDT</a:t>
            </a:r>
            <a:r>
              <a:rPr sz="950" b="1" spc="6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950" b="1" spc="105" dirty="0">
                <a:solidFill>
                  <a:srgbClr val="1F487C"/>
                </a:solidFill>
                <a:latin typeface="Arial"/>
                <a:cs typeface="Arial"/>
              </a:rPr>
              <a:t>Database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6388" y="1875804"/>
            <a:ext cx="4759960" cy="2032000"/>
            <a:chOff x="776388" y="1875804"/>
            <a:chExt cx="4759960" cy="2032000"/>
          </a:xfrm>
        </p:grpSpPr>
        <p:sp>
          <p:nvSpPr>
            <p:cNvPr id="5" name="object 5"/>
            <p:cNvSpPr/>
            <p:nvPr/>
          </p:nvSpPr>
          <p:spPr>
            <a:xfrm>
              <a:off x="779563" y="1878979"/>
              <a:ext cx="4753610" cy="196850"/>
            </a:xfrm>
            <a:custGeom>
              <a:avLst/>
              <a:gdLst/>
              <a:ahLst/>
              <a:cxnLst/>
              <a:rect l="l" t="t" r="r" b="b"/>
              <a:pathLst>
                <a:path w="4753610" h="196850">
                  <a:moveTo>
                    <a:pt x="4753383" y="0"/>
                  </a:moveTo>
                  <a:lnTo>
                    <a:pt x="0" y="0"/>
                  </a:lnTo>
                  <a:lnTo>
                    <a:pt x="0" y="196636"/>
                  </a:lnTo>
                  <a:lnTo>
                    <a:pt x="4753383" y="196636"/>
                  </a:lnTo>
                  <a:lnTo>
                    <a:pt x="4753383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9563" y="1878979"/>
              <a:ext cx="4753610" cy="2025650"/>
            </a:xfrm>
            <a:custGeom>
              <a:avLst/>
              <a:gdLst/>
              <a:ahLst/>
              <a:cxnLst/>
              <a:rect l="l" t="t" r="r" b="b"/>
              <a:pathLst>
                <a:path w="4753610" h="2025650">
                  <a:moveTo>
                    <a:pt x="0" y="196636"/>
                  </a:moveTo>
                  <a:lnTo>
                    <a:pt x="0" y="0"/>
                  </a:lnTo>
                  <a:lnTo>
                    <a:pt x="4753383" y="0"/>
                  </a:lnTo>
                  <a:lnTo>
                    <a:pt x="4753383" y="196636"/>
                  </a:lnTo>
                </a:path>
                <a:path w="4753610" h="2025650">
                  <a:moveTo>
                    <a:pt x="0" y="196636"/>
                  </a:moveTo>
                  <a:lnTo>
                    <a:pt x="0" y="2025237"/>
                  </a:lnTo>
                  <a:lnTo>
                    <a:pt x="4753383" y="2025237"/>
                  </a:lnTo>
                  <a:lnTo>
                    <a:pt x="4753383" y="196636"/>
                  </a:lnTo>
                </a:path>
                <a:path w="4753610" h="2025650">
                  <a:moveTo>
                    <a:pt x="0" y="196636"/>
                  </a:moveTo>
                  <a:lnTo>
                    <a:pt x="4753383" y="196636"/>
                  </a:lnTo>
                </a:path>
                <a:path w="4753610" h="2025650">
                  <a:moveTo>
                    <a:pt x="415899" y="196636"/>
                  </a:moveTo>
                  <a:lnTo>
                    <a:pt x="415899" y="196636"/>
                  </a:lnTo>
                  <a:lnTo>
                    <a:pt x="415899" y="1863012"/>
                  </a:lnTo>
                  <a:lnTo>
                    <a:pt x="415899" y="2025237"/>
                  </a:lnTo>
                </a:path>
                <a:path w="4753610" h="2025650">
                  <a:moveTo>
                    <a:pt x="1901254" y="196636"/>
                  </a:moveTo>
                  <a:lnTo>
                    <a:pt x="1901254" y="196636"/>
                  </a:lnTo>
                  <a:lnTo>
                    <a:pt x="1901254" y="1863012"/>
                  </a:lnTo>
                  <a:lnTo>
                    <a:pt x="1901254" y="2025237"/>
                  </a:lnTo>
                </a:path>
              </a:pathLst>
            </a:custGeom>
            <a:ln w="6333">
              <a:solidFill>
                <a:srgbClr val="6C8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93390" y="1907245"/>
            <a:ext cx="13188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100" dirty="0">
                <a:solidFill>
                  <a:srgbClr val="1F487C"/>
                </a:solidFill>
                <a:latin typeface="Arial"/>
                <a:cs typeface="Arial"/>
              </a:rPr>
              <a:t>SUBSCRIBER_DEVICE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6388" y="2075616"/>
            <a:ext cx="4759960" cy="170815"/>
            <a:chOff x="776388" y="2075616"/>
            <a:chExt cx="4759960" cy="170815"/>
          </a:xfrm>
        </p:grpSpPr>
        <p:sp>
          <p:nvSpPr>
            <p:cNvPr id="9" name="object 9"/>
            <p:cNvSpPr/>
            <p:nvPr/>
          </p:nvSpPr>
          <p:spPr>
            <a:xfrm>
              <a:off x="779563" y="2242757"/>
              <a:ext cx="4753610" cy="0"/>
            </a:xfrm>
            <a:custGeom>
              <a:avLst/>
              <a:gdLst/>
              <a:ahLst/>
              <a:cxnLst/>
              <a:rect l="l" t="t" r="r" b="b"/>
              <a:pathLst>
                <a:path w="4753610">
                  <a:moveTo>
                    <a:pt x="4753383" y="0"/>
                  </a:moveTo>
                  <a:lnTo>
                    <a:pt x="0" y="0"/>
                  </a:lnTo>
                </a:path>
              </a:pathLst>
            </a:custGeom>
            <a:ln w="5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9563" y="2075616"/>
              <a:ext cx="415925" cy="167640"/>
            </a:xfrm>
            <a:custGeom>
              <a:avLst/>
              <a:gdLst/>
              <a:ahLst/>
              <a:cxnLst/>
              <a:rect l="l" t="t" r="r" b="b"/>
              <a:pathLst>
                <a:path w="415925" h="167639">
                  <a:moveTo>
                    <a:pt x="415899" y="0"/>
                  </a:moveTo>
                  <a:lnTo>
                    <a:pt x="0" y="0"/>
                  </a:lnTo>
                  <a:lnTo>
                    <a:pt x="0" y="167141"/>
                  </a:lnTo>
                  <a:lnTo>
                    <a:pt x="415899" y="167141"/>
                  </a:lnTo>
                  <a:lnTo>
                    <a:pt x="415899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88019" y="2088151"/>
            <a:ext cx="18669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b="1" spc="80" dirty="0">
                <a:solidFill>
                  <a:srgbClr val="1F487C"/>
                </a:solidFill>
                <a:latin typeface="Arial"/>
                <a:cs typeface="Arial"/>
              </a:rPr>
              <a:t>PK</a:t>
            </a:r>
            <a:endParaRPr sz="7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95463" y="2075616"/>
            <a:ext cx="1485900" cy="167640"/>
          </a:xfrm>
          <a:custGeom>
            <a:avLst/>
            <a:gdLst/>
            <a:ahLst/>
            <a:cxnLst/>
            <a:rect l="l" t="t" r="r" b="b"/>
            <a:pathLst>
              <a:path w="1485900" h="167639">
                <a:moveTo>
                  <a:pt x="1485354" y="0"/>
                </a:moveTo>
                <a:lnTo>
                  <a:pt x="0" y="0"/>
                </a:lnTo>
                <a:lnTo>
                  <a:pt x="0" y="167141"/>
                </a:lnTo>
                <a:lnTo>
                  <a:pt x="1485354" y="167141"/>
                </a:lnTo>
                <a:lnTo>
                  <a:pt x="1485354" y="0"/>
                </a:lnTo>
                <a:close/>
              </a:path>
            </a:pathLst>
          </a:custGeom>
          <a:solidFill>
            <a:srgbClr val="DAE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35633" y="2088151"/>
            <a:ext cx="79438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85" dirty="0">
                <a:solidFill>
                  <a:srgbClr val="1F487C"/>
                </a:solidFill>
                <a:latin typeface="Microsoft Sans Serif"/>
                <a:cs typeface="Microsoft Sans Serif"/>
              </a:rPr>
              <a:t>anonymous_id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80818" y="2075616"/>
            <a:ext cx="2852420" cy="167640"/>
          </a:xfrm>
          <a:custGeom>
            <a:avLst/>
            <a:gdLst/>
            <a:ahLst/>
            <a:cxnLst/>
            <a:rect l="l" t="t" r="r" b="b"/>
            <a:pathLst>
              <a:path w="2852420" h="167639">
                <a:moveTo>
                  <a:pt x="2851881" y="0"/>
                </a:moveTo>
                <a:lnTo>
                  <a:pt x="0" y="0"/>
                </a:lnTo>
                <a:lnTo>
                  <a:pt x="0" y="167141"/>
                </a:lnTo>
                <a:lnTo>
                  <a:pt x="2851881" y="167141"/>
                </a:lnTo>
                <a:lnTo>
                  <a:pt x="2851881" y="0"/>
                </a:lnTo>
                <a:close/>
              </a:path>
            </a:pathLst>
          </a:custGeom>
          <a:solidFill>
            <a:srgbClr val="DAE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39549" y="2088151"/>
            <a:ext cx="293116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05" dirty="0">
                <a:solidFill>
                  <a:srgbClr val="585858"/>
                </a:solidFill>
                <a:latin typeface="Microsoft Sans Serif"/>
                <a:cs typeface="Microsoft Sans Serif"/>
              </a:rPr>
              <a:t>UUID</a:t>
            </a:r>
            <a:r>
              <a:rPr sz="750" spc="5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585858"/>
                </a:solidFill>
                <a:latin typeface="Microsoft Sans Serif"/>
                <a:cs typeface="Microsoft Sans Serif"/>
              </a:rPr>
              <a:t>·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DEFAULT</a:t>
            </a:r>
            <a:r>
              <a:rPr sz="750" spc="2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gen_random_uuid()</a:t>
            </a:r>
            <a:r>
              <a:rPr sz="750" spc="4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585858"/>
                </a:solidFill>
                <a:latin typeface="Microsoft Sans Serif"/>
                <a:cs typeface="Microsoft Sans Serif"/>
              </a:rPr>
              <a:t>·</a:t>
            </a:r>
            <a:r>
              <a:rPr sz="750" spc="5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14" dirty="0">
                <a:solidFill>
                  <a:srgbClr val="585858"/>
                </a:solidFill>
                <a:latin typeface="Microsoft Sans Serif"/>
                <a:cs typeface="Microsoft Sans Serif"/>
              </a:rPr>
              <a:t>PRIMARY</a:t>
            </a:r>
            <a:r>
              <a:rPr sz="750" spc="1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585858"/>
                </a:solidFill>
                <a:latin typeface="Microsoft Sans Serif"/>
                <a:cs typeface="Microsoft Sans Serif"/>
              </a:rPr>
              <a:t>KEY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76388" y="2242757"/>
            <a:ext cx="4759960" cy="170815"/>
            <a:chOff x="776388" y="2242757"/>
            <a:chExt cx="4759960" cy="170815"/>
          </a:xfrm>
        </p:grpSpPr>
        <p:sp>
          <p:nvSpPr>
            <p:cNvPr id="17" name="object 17"/>
            <p:cNvSpPr/>
            <p:nvPr/>
          </p:nvSpPr>
          <p:spPr>
            <a:xfrm>
              <a:off x="779563" y="2409899"/>
              <a:ext cx="4753610" cy="0"/>
            </a:xfrm>
            <a:custGeom>
              <a:avLst/>
              <a:gdLst/>
              <a:ahLst/>
              <a:cxnLst/>
              <a:rect l="l" t="t" r="r" b="b"/>
              <a:pathLst>
                <a:path w="4753610">
                  <a:moveTo>
                    <a:pt x="4753383" y="0"/>
                  </a:moveTo>
                  <a:lnTo>
                    <a:pt x="0" y="0"/>
                  </a:lnTo>
                </a:path>
              </a:pathLst>
            </a:custGeom>
            <a:ln w="5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9563" y="2242757"/>
              <a:ext cx="415925" cy="167640"/>
            </a:xfrm>
            <a:custGeom>
              <a:avLst/>
              <a:gdLst/>
              <a:ahLst/>
              <a:cxnLst/>
              <a:rect l="l" t="t" r="r" b="b"/>
              <a:pathLst>
                <a:path w="415925" h="167639">
                  <a:moveTo>
                    <a:pt x="415899" y="0"/>
                  </a:moveTo>
                  <a:lnTo>
                    <a:pt x="0" y="0"/>
                  </a:lnTo>
                  <a:lnTo>
                    <a:pt x="0" y="167141"/>
                  </a:lnTo>
                  <a:lnTo>
                    <a:pt x="415899" y="167141"/>
                  </a:lnTo>
                  <a:lnTo>
                    <a:pt x="415899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88019" y="2257505"/>
            <a:ext cx="18669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80" dirty="0">
                <a:solidFill>
                  <a:srgbClr val="1F487C"/>
                </a:solidFill>
                <a:latin typeface="Arial"/>
                <a:cs typeface="Arial"/>
              </a:rPr>
              <a:t>PK</a:t>
            </a:r>
            <a:endParaRPr sz="7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195463" y="2242757"/>
            <a:ext cx="1485900" cy="167640"/>
          </a:xfrm>
          <a:custGeom>
            <a:avLst/>
            <a:gdLst/>
            <a:ahLst/>
            <a:cxnLst/>
            <a:rect l="l" t="t" r="r" b="b"/>
            <a:pathLst>
              <a:path w="1485900" h="167639">
                <a:moveTo>
                  <a:pt x="1485354" y="0"/>
                </a:moveTo>
                <a:lnTo>
                  <a:pt x="0" y="0"/>
                </a:lnTo>
                <a:lnTo>
                  <a:pt x="0" y="167141"/>
                </a:lnTo>
                <a:lnTo>
                  <a:pt x="1485354" y="167141"/>
                </a:lnTo>
                <a:lnTo>
                  <a:pt x="1485354" y="0"/>
                </a:lnTo>
                <a:close/>
              </a:path>
            </a:pathLst>
          </a:custGeom>
          <a:solidFill>
            <a:srgbClr val="DAE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535633" y="2257505"/>
            <a:ext cx="79375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0" dirty="0">
                <a:solidFill>
                  <a:srgbClr val="1F487C"/>
                </a:solidFill>
                <a:latin typeface="Microsoft Sans Serif"/>
                <a:cs typeface="Microsoft Sans Serif"/>
              </a:rPr>
              <a:t>anonymous_id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80818" y="2242757"/>
            <a:ext cx="2852420" cy="167640"/>
          </a:xfrm>
          <a:custGeom>
            <a:avLst/>
            <a:gdLst/>
            <a:ahLst/>
            <a:cxnLst/>
            <a:rect l="l" t="t" r="r" b="b"/>
            <a:pathLst>
              <a:path w="2852420" h="167639">
                <a:moveTo>
                  <a:pt x="2851881" y="0"/>
                </a:moveTo>
                <a:lnTo>
                  <a:pt x="0" y="0"/>
                </a:lnTo>
                <a:lnTo>
                  <a:pt x="0" y="167141"/>
                </a:lnTo>
                <a:lnTo>
                  <a:pt x="2851881" y="167141"/>
                </a:lnTo>
                <a:lnTo>
                  <a:pt x="2851881" y="0"/>
                </a:lnTo>
                <a:close/>
              </a:path>
            </a:pathLst>
          </a:custGeom>
          <a:solidFill>
            <a:srgbClr val="DAE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639549" y="2257505"/>
            <a:ext cx="292989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5" dirty="0">
                <a:solidFill>
                  <a:srgbClr val="585858"/>
                </a:solidFill>
                <a:latin typeface="Microsoft Sans Serif"/>
                <a:cs typeface="Microsoft Sans Serif"/>
              </a:rPr>
              <a:t>UUID</a:t>
            </a:r>
            <a:r>
              <a:rPr sz="750" spc="60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·</a:t>
            </a:r>
            <a:r>
              <a:rPr sz="750" spc="10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DEFAULT</a:t>
            </a:r>
            <a:r>
              <a:rPr sz="750" spc="2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gen_random_uuid()</a:t>
            </a:r>
            <a:r>
              <a:rPr sz="750" spc="4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·</a:t>
            </a:r>
            <a:r>
              <a:rPr sz="750" spc="5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14" dirty="0">
                <a:solidFill>
                  <a:srgbClr val="585858"/>
                </a:solidFill>
                <a:latin typeface="Microsoft Sans Serif"/>
                <a:cs typeface="Microsoft Sans Serif"/>
              </a:rPr>
              <a:t>PRIMARY</a:t>
            </a:r>
            <a:r>
              <a:rPr sz="750" spc="20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KEY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55834" y="2424564"/>
            <a:ext cx="7588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0" dirty="0">
                <a:latin typeface="Microsoft Sans Serif"/>
                <a:cs typeface="Microsoft Sans Serif"/>
              </a:rPr>
              <a:t>device_model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31766" y="2424564"/>
            <a:ext cx="94678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0" dirty="0">
                <a:solidFill>
                  <a:srgbClr val="878787"/>
                </a:solidFill>
                <a:latin typeface="Microsoft Sans Serif"/>
                <a:cs typeface="Microsoft Sans Serif"/>
              </a:rPr>
              <a:t>TEXT</a:t>
            </a:r>
            <a:r>
              <a:rPr sz="750" spc="2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0" dirty="0">
                <a:solidFill>
                  <a:srgbClr val="878787"/>
                </a:solidFill>
                <a:latin typeface="Microsoft Sans Serif"/>
                <a:cs typeface="Microsoft Sans Serif"/>
              </a:rPr>
              <a:t>NOT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NULL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79551" y="2576918"/>
            <a:ext cx="1901825" cy="162560"/>
          </a:xfrm>
          <a:custGeom>
            <a:avLst/>
            <a:gdLst/>
            <a:ahLst/>
            <a:cxnLst/>
            <a:rect l="l" t="t" r="r" b="b"/>
            <a:pathLst>
              <a:path w="1901825" h="162560">
                <a:moveTo>
                  <a:pt x="1901266" y="0"/>
                </a:moveTo>
                <a:lnTo>
                  <a:pt x="415899" y="0"/>
                </a:lnTo>
                <a:lnTo>
                  <a:pt x="0" y="0"/>
                </a:lnTo>
                <a:lnTo>
                  <a:pt x="0" y="162229"/>
                </a:lnTo>
                <a:lnTo>
                  <a:pt x="415899" y="162229"/>
                </a:lnTo>
                <a:lnTo>
                  <a:pt x="1901266" y="162229"/>
                </a:lnTo>
                <a:lnTo>
                  <a:pt x="190126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60035" y="2588756"/>
            <a:ext cx="14986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60" dirty="0">
                <a:latin typeface="Microsoft Sans Serif"/>
                <a:cs typeface="Microsoft Sans Serif"/>
              </a:rPr>
              <a:t>os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680818" y="2576917"/>
            <a:ext cx="2852420" cy="162560"/>
          </a:xfrm>
          <a:custGeom>
            <a:avLst/>
            <a:gdLst/>
            <a:ahLst/>
            <a:cxnLst/>
            <a:rect l="l" t="t" r="r" b="b"/>
            <a:pathLst>
              <a:path w="2852420" h="162560">
                <a:moveTo>
                  <a:pt x="2851881" y="0"/>
                </a:moveTo>
                <a:lnTo>
                  <a:pt x="0" y="0"/>
                </a:lnTo>
                <a:lnTo>
                  <a:pt x="0" y="162225"/>
                </a:lnTo>
                <a:lnTo>
                  <a:pt x="2851881" y="162225"/>
                </a:lnTo>
                <a:lnTo>
                  <a:pt x="285188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31766" y="2588756"/>
            <a:ext cx="94678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0" dirty="0">
                <a:solidFill>
                  <a:srgbClr val="878787"/>
                </a:solidFill>
                <a:latin typeface="Microsoft Sans Serif"/>
                <a:cs typeface="Microsoft Sans Serif"/>
              </a:rPr>
              <a:t>TEXT</a:t>
            </a:r>
            <a:r>
              <a:rPr sz="750" spc="2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0" dirty="0">
                <a:solidFill>
                  <a:srgbClr val="878787"/>
                </a:solidFill>
                <a:latin typeface="Microsoft Sans Serif"/>
                <a:cs typeface="Microsoft Sans Serif"/>
              </a:rPr>
              <a:t>NOT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NULL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98612" y="2753931"/>
            <a:ext cx="67056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5" dirty="0">
                <a:latin typeface="Microsoft Sans Serif"/>
                <a:cs typeface="Microsoft Sans Serif"/>
              </a:rPr>
              <a:t>app_version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31766" y="2753931"/>
            <a:ext cx="94678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0" dirty="0">
                <a:solidFill>
                  <a:srgbClr val="878787"/>
                </a:solidFill>
                <a:latin typeface="Microsoft Sans Serif"/>
                <a:cs typeface="Microsoft Sans Serif"/>
              </a:rPr>
              <a:t>TEXT</a:t>
            </a:r>
            <a:r>
              <a:rPr sz="750" spc="2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0" dirty="0">
                <a:solidFill>
                  <a:srgbClr val="878787"/>
                </a:solidFill>
                <a:latin typeface="Microsoft Sans Serif"/>
                <a:cs typeface="Microsoft Sans Serif"/>
              </a:rPr>
              <a:t>NOT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NULL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79551" y="2906293"/>
            <a:ext cx="1901825" cy="167640"/>
          </a:xfrm>
          <a:custGeom>
            <a:avLst/>
            <a:gdLst/>
            <a:ahLst/>
            <a:cxnLst/>
            <a:rect l="l" t="t" r="r" b="b"/>
            <a:pathLst>
              <a:path w="1901825" h="167639">
                <a:moveTo>
                  <a:pt x="1901266" y="0"/>
                </a:moveTo>
                <a:lnTo>
                  <a:pt x="415899" y="0"/>
                </a:lnTo>
                <a:lnTo>
                  <a:pt x="0" y="0"/>
                </a:lnTo>
                <a:lnTo>
                  <a:pt x="0" y="167144"/>
                </a:lnTo>
                <a:lnTo>
                  <a:pt x="415899" y="167144"/>
                </a:lnTo>
                <a:lnTo>
                  <a:pt x="1901266" y="167144"/>
                </a:lnTo>
                <a:lnTo>
                  <a:pt x="190126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539198" y="2921072"/>
            <a:ext cx="79375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0" dirty="0">
                <a:latin typeface="Microsoft Sans Serif"/>
                <a:cs typeface="Microsoft Sans Serif"/>
              </a:rPr>
              <a:t>consent_given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80818" y="2906284"/>
            <a:ext cx="2852420" cy="167640"/>
          </a:xfrm>
          <a:custGeom>
            <a:avLst/>
            <a:gdLst/>
            <a:ahLst/>
            <a:cxnLst/>
            <a:rect l="l" t="t" r="r" b="b"/>
            <a:pathLst>
              <a:path w="2852420" h="167639">
                <a:moveTo>
                  <a:pt x="2851881" y="0"/>
                </a:moveTo>
                <a:lnTo>
                  <a:pt x="0" y="0"/>
                </a:lnTo>
                <a:lnTo>
                  <a:pt x="0" y="167141"/>
                </a:lnTo>
                <a:lnTo>
                  <a:pt x="2851881" y="167141"/>
                </a:lnTo>
                <a:lnTo>
                  <a:pt x="285188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324001" y="2921072"/>
            <a:ext cx="155956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4" dirty="0">
                <a:solidFill>
                  <a:srgbClr val="878787"/>
                </a:solidFill>
                <a:latin typeface="Microsoft Sans Serif"/>
                <a:cs typeface="Microsoft Sans Serif"/>
              </a:rPr>
              <a:t>BOOLEAN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FALSE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81341" y="3038071"/>
            <a:ext cx="1307465" cy="361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100"/>
              </a:lnSpc>
              <a:spcBef>
                <a:spcPts val="95"/>
              </a:spcBef>
            </a:pPr>
            <a:r>
              <a:rPr sz="750" spc="70" dirty="0">
                <a:latin typeface="Microsoft Sans Serif"/>
                <a:cs typeface="Microsoft Sans Serif"/>
              </a:rPr>
              <a:t>data_collection_enabled data_collection_enabled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48955" y="3038071"/>
            <a:ext cx="1512570" cy="361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7100"/>
              </a:lnSpc>
              <a:spcBef>
                <a:spcPts val="95"/>
              </a:spcBef>
            </a:pPr>
            <a:r>
              <a:rPr sz="750" spc="114" dirty="0">
                <a:solidFill>
                  <a:srgbClr val="878787"/>
                </a:solidFill>
                <a:latin typeface="Microsoft Sans Serif"/>
                <a:cs typeface="Microsoft Sans Serif"/>
              </a:rPr>
              <a:t>BOOLEAN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TRUE </a:t>
            </a:r>
            <a:r>
              <a:rPr sz="750" spc="114" dirty="0">
                <a:solidFill>
                  <a:srgbClr val="878787"/>
                </a:solidFill>
                <a:latin typeface="Microsoft Sans Serif"/>
                <a:cs typeface="Microsoft Sans Serif"/>
              </a:rPr>
              <a:t>BOOLEAN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TRUE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79551" y="3407714"/>
            <a:ext cx="1901825" cy="167640"/>
          </a:xfrm>
          <a:custGeom>
            <a:avLst/>
            <a:gdLst/>
            <a:ahLst/>
            <a:cxnLst/>
            <a:rect l="l" t="t" r="r" b="b"/>
            <a:pathLst>
              <a:path w="1901825" h="167639">
                <a:moveTo>
                  <a:pt x="1901266" y="0"/>
                </a:moveTo>
                <a:lnTo>
                  <a:pt x="415899" y="0"/>
                </a:lnTo>
                <a:lnTo>
                  <a:pt x="0" y="0"/>
                </a:lnTo>
                <a:lnTo>
                  <a:pt x="0" y="167144"/>
                </a:lnTo>
                <a:lnTo>
                  <a:pt x="415899" y="167144"/>
                </a:lnTo>
                <a:lnTo>
                  <a:pt x="1901266" y="167144"/>
                </a:lnTo>
                <a:lnTo>
                  <a:pt x="190126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452454" y="3423480"/>
            <a:ext cx="9645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0" dirty="0">
                <a:latin typeface="Microsoft Sans Serif"/>
                <a:cs typeface="Microsoft Sans Serif"/>
              </a:rPr>
              <a:t>wifi_only_uploads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2680818" y="3407708"/>
            <a:ext cx="2852420" cy="167640"/>
          </a:xfrm>
          <a:custGeom>
            <a:avLst/>
            <a:gdLst/>
            <a:ahLst/>
            <a:cxnLst/>
            <a:rect l="l" t="t" r="r" b="b"/>
            <a:pathLst>
              <a:path w="2852420" h="167639">
                <a:moveTo>
                  <a:pt x="2851881" y="0"/>
                </a:moveTo>
                <a:lnTo>
                  <a:pt x="0" y="0"/>
                </a:lnTo>
                <a:lnTo>
                  <a:pt x="0" y="167141"/>
                </a:lnTo>
                <a:lnTo>
                  <a:pt x="2851881" y="167141"/>
                </a:lnTo>
                <a:lnTo>
                  <a:pt x="285188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324001" y="3423480"/>
            <a:ext cx="155956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4" dirty="0">
                <a:solidFill>
                  <a:srgbClr val="878787"/>
                </a:solidFill>
                <a:latin typeface="Microsoft Sans Serif"/>
                <a:cs typeface="Microsoft Sans Serif"/>
              </a:rPr>
              <a:t>BOOLEAN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FALSE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63332" y="3590621"/>
            <a:ext cx="11423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65" dirty="0">
                <a:latin typeface="Microsoft Sans Serif"/>
                <a:cs typeface="Microsoft Sans Serif"/>
              </a:rPr>
              <a:t>notifications_enabled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324001" y="3590621"/>
            <a:ext cx="155956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4" dirty="0">
                <a:solidFill>
                  <a:srgbClr val="878787"/>
                </a:solidFill>
                <a:latin typeface="Microsoft Sans Serif"/>
                <a:cs typeface="Microsoft Sans Serif"/>
              </a:rPr>
              <a:t>BOOLEAN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FALSE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79551" y="3742004"/>
            <a:ext cx="1901825" cy="162560"/>
          </a:xfrm>
          <a:custGeom>
            <a:avLst/>
            <a:gdLst/>
            <a:ahLst/>
            <a:cxnLst/>
            <a:rect l="l" t="t" r="r" b="b"/>
            <a:pathLst>
              <a:path w="1901825" h="162560">
                <a:moveTo>
                  <a:pt x="1901266" y="0"/>
                </a:moveTo>
                <a:lnTo>
                  <a:pt x="415899" y="0"/>
                </a:lnTo>
                <a:lnTo>
                  <a:pt x="0" y="0"/>
                </a:lnTo>
                <a:lnTo>
                  <a:pt x="0" y="162217"/>
                </a:lnTo>
                <a:lnTo>
                  <a:pt x="415899" y="162217"/>
                </a:lnTo>
                <a:lnTo>
                  <a:pt x="1901266" y="162217"/>
                </a:lnTo>
                <a:lnTo>
                  <a:pt x="190126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574847" y="3755796"/>
            <a:ext cx="71882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65" dirty="0">
                <a:latin typeface="Microsoft Sans Serif"/>
                <a:cs typeface="Microsoft Sans Serif"/>
              </a:rPr>
              <a:t>registered_at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680818" y="3741991"/>
            <a:ext cx="2852420" cy="162560"/>
          </a:xfrm>
          <a:custGeom>
            <a:avLst/>
            <a:gdLst/>
            <a:ahLst/>
            <a:cxnLst/>
            <a:rect l="l" t="t" r="r" b="b"/>
            <a:pathLst>
              <a:path w="2852420" h="162560">
                <a:moveTo>
                  <a:pt x="2851881" y="0"/>
                </a:moveTo>
                <a:lnTo>
                  <a:pt x="0" y="0"/>
                </a:lnTo>
                <a:lnTo>
                  <a:pt x="0" y="162225"/>
                </a:lnTo>
                <a:lnTo>
                  <a:pt x="2851881" y="162225"/>
                </a:lnTo>
                <a:lnTo>
                  <a:pt x="2851881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196854" y="3755796"/>
            <a:ext cx="18199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TIMESTAMPTZ</a:t>
            </a:r>
            <a:r>
              <a:rPr sz="750" spc="8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NOW()</a:t>
            </a:r>
            <a:endParaRPr sz="75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608187" y="4087846"/>
            <a:ext cx="4046854" cy="2071370"/>
            <a:chOff x="1608187" y="4087846"/>
            <a:chExt cx="4046854" cy="2071370"/>
          </a:xfrm>
        </p:grpSpPr>
        <p:sp>
          <p:nvSpPr>
            <p:cNvPr id="49" name="object 49"/>
            <p:cNvSpPr/>
            <p:nvPr/>
          </p:nvSpPr>
          <p:spPr>
            <a:xfrm>
              <a:off x="1611362" y="4091021"/>
              <a:ext cx="4040504" cy="172085"/>
            </a:xfrm>
            <a:custGeom>
              <a:avLst/>
              <a:gdLst/>
              <a:ahLst/>
              <a:cxnLst/>
              <a:rect l="l" t="t" r="r" b="b"/>
              <a:pathLst>
                <a:path w="4040504" h="172085">
                  <a:moveTo>
                    <a:pt x="4040412" y="0"/>
                  </a:moveTo>
                  <a:lnTo>
                    <a:pt x="0" y="0"/>
                  </a:lnTo>
                  <a:lnTo>
                    <a:pt x="0" y="172057"/>
                  </a:lnTo>
                  <a:lnTo>
                    <a:pt x="4040412" y="172057"/>
                  </a:lnTo>
                  <a:lnTo>
                    <a:pt x="4040412" y="0"/>
                  </a:lnTo>
                  <a:close/>
                </a:path>
              </a:pathLst>
            </a:custGeom>
            <a:solidFill>
              <a:srgbClr val="D4E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611362" y="4091021"/>
              <a:ext cx="4040504" cy="2065020"/>
            </a:xfrm>
            <a:custGeom>
              <a:avLst/>
              <a:gdLst/>
              <a:ahLst/>
              <a:cxnLst/>
              <a:rect l="l" t="t" r="r" b="b"/>
              <a:pathLst>
                <a:path w="4040504" h="2065020">
                  <a:moveTo>
                    <a:pt x="0" y="172057"/>
                  </a:moveTo>
                  <a:lnTo>
                    <a:pt x="0" y="0"/>
                  </a:lnTo>
                  <a:lnTo>
                    <a:pt x="4040412" y="0"/>
                  </a:lnTo>
                  <a:lnTo>
                    <a:pt x="4040412" y="172057"/>
                  </a:lnTo>
                </a:path>
                <a:path w="4040504" h="2065020">
                  <a:moveTo>
                    <a:pt x="0" y="172057"/>
                  </a:moveTo>
                  <a:lnTo>
                    <a:pt x="0" y="2064696"/>
                  </a:lnTo>
                  <a:lnTo>
                    <a:pt x="4040412" y="2064696"/>
                  </a:lnTo>
                  <a:lnTo>
                    <a:pt x="4040412" y="172057"/>
                  </a:lnTo>
                </a:path>
                <a:path w="4040504" h="2065020">
                  <a:moveTo>
                    <a:pt x="0" y="172057"/>
                  </a:moveTo>
                  <a:lnTo>
                    <a:pt x="4040412" y="172057"/>
                  </a:lnTo>
                </a:path>
                <a:path w="4040504" h="2065020">
                  <a:moveTo>
                    <a:pt x="386192" y="172057"/>
                  </a:moveTo>
                  <a:lnTo>
                    <a:pt x="386192" y="172057"/>
                  </a:lnTo>
                  <a:lnTo>
                    <a:pt x="386192" y="1843471"/>
                  </a:lnTo>
                  <a:lnTo>
                    <a:pt x="386192" y="2064696"/>
                  </a:lnTo>
                </a:path>
                <a:path w="4040504" h="2065020">
                  <a:moveTo>
                    <a:pt x="1960668" y="172057"/>
                  </a:moveTo>
                  <a:lnTo>
                    <a:pt x="1960668" y="172057"/>
                  </a:lnTo>
                  <a:lnTo>
                    <a:pt x="1960668" y="1843471"/>
                  </a:lnTo>
                  <a:lnTo>
                    <a:pt x="1960668" y="2064696"/>
                  </a:lnTo>
                </a:path>
              </a:pathLst>
            </a:custGeom>
            <a:ln w="6333">
              <a:solidFill>
                <a:srgbClr val="82B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048319" y="4109742"/>
            <a:ext cx="116078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110" dirty="0">
                <a:solidFill>
                  <a:srgbClr val="375522"/>
                </a:solidFill>
                <a:latin typeface="Arial"/>
                <a:cs typeface="Arial"/>
              </a:rPr>
              <a:t>NETWORK_METRIC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608187" y="4263079"/>
            <a:ext cx="4046854" cy="170815"/>
            <a:chOff x="1608187" y="4263079"/>
            <a:chExt cx="4046854" cy="170815"/>
          </a:xfrm>
        </p:grpSpPr>
        <p:sp>
          <p:nvSpPr>
            <p:cNvPr id="53" name="object 53"/>
            <p:cNvSpPr/>
            <p:nvPr/>
          </p:nvSpPr>
          <p:spPr>
            <a:xfrm>
              <a:off x="1611362" y="4430220"/>
              <a:ext cx="4040504" cy="0"/>
            </a:xfrm>
            <a:custGeom>
              <a:avLst/>
              <a:gdLst/>
              <a:ahLst/>
              <a:cxnLst/>
              <a:rect l="l" t="t" r="r" b="b"/>
              <a:pathLst>
                <a:path w="4040504">
                  <a:moveTo>
                    <a:pt x="4040412" y="0"/>
                  </a:moveTo>
                  <a:lnTo>
                    <a:pt x="0" y="0"/>
                  </a:lnTo>
                </a:path>
              </a:pathLst>
            </a:custGeom>
            <a:ln w="5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611362" y="4263079"/>
              <a:ext cx="386715" cy="167640"/>
            </a:xfrm>
            <a:custGeom>
              <a:avLst/>
              <a:gdLst/>
              <a:ahLst/>
              <a:cxnLst/>
              <a:rect l="l" t="t" r="r" b="b"/>
              <a:pathLst>
                <a:path w="386714" h="167639">
                  <a:moveTo>
                    <a:pt x="386192" y="0"/>
                  </a:moveTo>
                  <a:lnTo>
                    <a:pt x="0" y="0"/>
                  </a:lnTo>
                  <a:lnTo>
                    <a:pt x="0" y="167141"/>
                  </a:lnTo>
                  <a:lnTo>
                    <a:pt x="386192" y="167141"/>
                  </a:lnTo>
                  <a:lnTo>
                    <a:pt x="386192" y="0"/>
                  </a:lnTo>
                  <a:close/>
                </a:path>
              </a:pathLst>
            </a:custGeom>
            <a:solidFill>
              <a:srgbClr val="D4E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705558" y="4279834"/>
            <a:ext cx="18669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80" dirty="0">
                <a:solidFill>
                  <a:srgbClr val="375522"/>
                </a:solidFill>
                <a:latin typeface="Arial"/>
                <a:cs typeface="Arial"/>
              </a:rPr>
              <a:t>PK</a:t>
            </a:r>
            <a:endParaRPr sz="7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997554" y="4263079"/>
            <a:ext cx="1574800" cy="167640"/>
          </a:xfrm>
          <a:custGeom>
            <a:avLst/>
            <a:gdLst/>
            <a:ahLst/>
            <a:cxnLst/>
            <a:rect l="l" t="t" r="r" b="b"/>
            <a:pathLst>
              <a:path w="1574800" h="167639">
                <a:moveTo>
                  <a:pt x="1574476" y="0"/>
                </a:moveTo>
                <a:lnTo>
                  <a:pt x="0" y="0"/>
                </a:lnTo>
                <a:lnTo>
                  <a:pt x="0" y="167141"/>
                </a:lnTo>
                <a:lnTo>
                  <a:pt x="1574476" y="167141"/>
                </a:lnTo>
                <a:lnTo>
                  <a:pt x="1574476" y="0"/>
                </a:lnTo>
                <a:close/>
              </a:path>
            </a:pathLst>
          </a:custGeom>
          <a:solidFill>
            <a:srgbClr val="D4E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2527850" y="4279834"/>
            <a:ext cx="50292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60" dirty="0">
                <a:solidFill>
                  <a:srgbClr val="375522"/>
                </a:solidFill>
                <a:latin typeface="Microsoft Sans Serif"/>
                <a:cs typeface="Microsoft Sans Serif"/>
              </a:rPr>
              <a:t>metric_id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572031" y="4263079"/>
            <a:ext cx="2079625" cy="167640"/>
          </a:xfrm>
          <a:custGeom>
            <a:avLst/>
            <a:gdLst/>
            <a:ahLst/>
            <a:cxnLst/>
            <a:rect l="l" t="t" r="r" b="b"/>
            <a:pathLst>
              <a:path w="2079625" h="167639">
                <a:moveTo>
                  <a:pt x="2079496" y="0"/>
                </a:moveTo>
                <a:lnTo>
                  <a:pt x="0" y="0"/>
                </a:lnTo>
                <a:lnTo>
                  <a:pt x="0" y="167141"/>
                </a:lnTo>
                <a:lnTo>
                  <a:pt x="2079496" y="167141"/>
                </a:lnTo>
                <a:lnTo>
                  <a:pt x="2079496" y="0"/>
                </a:lnTo>
                <a:close/>
              </a:path>
            </a:pathLst>
          </a:custGeom>
          <a:solidFill>
            <a:srgbClr val="D4E8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966862" y="4279834"/>
            <a:ext cx="12865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0" dirty="0">
                <a:solidFill>
                  <a:srgbClr val="585858"/>
                </a:solidFill>
                <a:latin typeface="Microsoft Sans Serif"/>
                <a:cs typeface="Microsoft Sans Serif"/>
              </a:rPr>
              <a:t>SERIAL</a:t>
            </a:r>
            <a:r>
              <a:rPr sz="750" spc="3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10" dirty="0">
                <a:solidFill>
                  <a:srgbClr val="585858"/>
                </a:solidFill>
                <a:latin typeface="Microsoft Sans Serif"/>
                <a:cs typeface="Microsoft Sans Serif"/>
              </a:rPr>
              <a:t>PRIMARY</a:t>
            </a:r>
            <a:r>
              <a:rPr sz="750" spc="70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KEY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09123" y="4446975"/>
            <a:ext cx="1816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80" dirty="0">
                <a:solidFill>
                  <a:srgbClr val="C00000"/>
                </a:solidFill>
                <a:latin typeface="Arial"/>
                <a:cs typeface="Arial"/>
              </a:rPr>
              <a:t>FK</a:t>
            </a:r>
            <a:endParaRPr sz="7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382880" y="4446975"/>
            <a:ext cx="79375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0" dirty="0">
                <a:latin typeface="Microsoft Sans Serif"/>
                <a:cs typeface="Microsoft Sans Serif"/>
              </a:rPr>
              <a:t>anonymous_id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880118" y="4446975"/>
            <a:ext cx="146050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UUID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80" dirty="0">
                <a:solidFill>
                  <a:srgbClr val="878787"/>
                </a:solidFill>
                <a:latin typeface="Microsoft Sans Serif"/>
                <a:cs typeface="Microsoft Sans Serif"/>
              </a:rPr>
              <a:t>→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subscriber_device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1611350" y="4597374"/>
            <a:ext cx="1960880" cy="167640"/>
          </a:xfrm>
          <a:custGeom>
            <a:avLst/>
            <a:gdLst/>
            <a:ahLst/>
            <a:cxnLst/>
            <a:rect l="l" t="t" r="r" b="b"/>
            <a:pathLst>
              <a:path w="1960879" h="167639">
                <a:moveTo>
                  <a:pt x="1960676" y="0"/>
                </a:moveTo>
                <a:lnTo>
                  <a:pt x="386194" y="0"/>
                </a:lnTo>
                <a:lnTo>
                  <a:pt x="0" y="0"/>
                </a:lnTo>
                <a:lnTo>
                  <a:pt x="0" y="167132"/>
                </a:lnTo>
                <a:lnTo>
                  <a:pt x="386194" y="167132"/>
                </a:lnTo>
                <a:lnTo>
                  <a:pt x="1960676" y="167132"/>
                </a:lnTo>
                <a:lnTo>
                  <a:pt x="196067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2416152" y="4614116"/>
            <a:ext cx="73469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0" dirty="0">
                <a:latin typeface="Microsoft Sans Serif"/>
                <a:cs typeface="Microsoft Sans Serif"/>
              </a:rPr>
              <a:t>network_type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572031" y="4597362"/>
            <a:ext cx="2079625" cy="167640"/>
          </a:xfrm>
          <a:custGeom>
            <a:avLst/>
            <a:gdLst/>
            <a:ahLst/>
            <a:cxnLst/>
            <a:rect l="l" t="t" r="r" b="b"/>
            <a:pathLst>
              <a:path w="2079625" h="167639">
                <a:moveTo>
                  <a:pt x="2079496" y="0"/>
                </a:moveTo>
                <a:lnTo>
                  <a:pt x="0" y="0"/>
                </a:lnTo>
                <a:lnTo>
                  <a:pt x="0" y="167141"/>
                </a:lnTo>
                <a:lnTo>
                  <a:pt x="2079496" y="167141"/>
                </a:lnTo>
                <a:lnTo>
                  <a:pt x="207949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136787" y="4614116"/>
            <a:ext cx="94678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0" dirty="0">
                <a:solidFill>
                  <a:srgbClr val="878787"/>
                </a:solidFill>
                <a:latin typeface="Microsoft Sans Serif"/>
                <a:cs typeface="Microsoft Sans Serif"/>
              </a:rPr>
              <a:t>TEXT</a:t>
            </a:r>
            <a:r>
              <a:rPr sz="750" spc="2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0" dirty="0">
                <a:solidFill>
                  <a:srgbClr val="878787"/>
                </a:solidFill>
                <a:latin typeface="Microsoft Sans Serif"/>
                <a:cs typeface="Microsoft Sans Serif"/>
              </a:rPr>
              <a:t>NOT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NULL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366244" y="4781258"/>
            <a:ext cx="83185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5" dirty="0">
                <a:latin typeface="Microsoft Sans Serif"/>
                <a:cs typeface="Microsoft Sans Serif"/>
              </a:rPr>
              <a:t>operator_name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445741" y="4781258"/>
            <a:ext cx="33020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TEXT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611350" y="4931651"/>
            <a:ext cx="1960880" cy="167640"/>
          </a:xfrm>
          <a:custGeom>
            <a:avLst/>
            <a:gdLst/>
            <a:ahLst/>
            <a:cxnLst/>
            <a:rect l="l" t="t" r="r" b="b"/>
            <a:pathLst>
              <a:path w="1960879" h="167639">
                <a:moveTo>
                  <a:pt x="1960676" y="0"/>
                </a:moveTo>
                <a:lnTo>
                  <a:pt x="386194" y="0"/>
                </a:lnTo>
                <a:lnTo>
                  <a:pt x="0" y="0"/>
                </a:lnTo>
                <a:lnTo>
                  <a:pt x="0" y="167144"/>
                </a:lnTo>
                <a:lnTo>
                  <a:pt x="386194" y="167144"/>
                </a:lnTo>
                <a:lnTo>
                  <a:pt x="1960676" y="167144"/>
                </a:lnTo>
                <a:lnTo>
                  <a:pt x="196067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2217708" y="4948399"/>
            <a:ext cx="11271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5" dirty="0">
                <a:latin typeface="Microsoft Sans Serif"/>
                <a:cs typeface="Microsoft Sans Serif"/>
              </a:rPr>
              <a:t>signal_strength_dbm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572031" y="4931645"/>
            <a:ext cx="2079625" cy="167640"/>
          </a:xfrm>
          <a:custGeom>
            <a:avLst/>
            <a:gdLst/>
            <a:ahLst/>
            <a:cxnLst/>
            <a:rect l="l" t="t" r="r" b="b"/>
            <a:pathLst>
              <a:path w="2079625" h="167639">
                <a:moveTo>
                  <a:pt x="2079496" y="0"/>
                </a:moveTo>
                <a:lnTo>
                  <a:pt x="0" y="0"/>
                </a:lnTo>
                <a:lnTo>
                  <a:pt x="0" y="167141"/>
                </a:lnTo>
                <a:lnTo>
                  <a:pt x="2079496" y="167141"/>
                </a:lnTo>
                <a:lnTo>
                  <a:pt x="207949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4332854" y="4948399"/>
            <a:ext cx="55118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INTEGER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336537" y="5115540"/>
            <a:ext cx="89154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latin typeface="Microsoft Sans Serif"/>
                <a:cs typeface="Microsoft Sans Serif"/>
              </a:rPr>
              <a:t>download_mbps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197389" y="5115540"/>
            <a:ext cx="8248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NUMERIC(8,2)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611350" y="5265927"/>
            <a:ext cx="1960880" cy="167640"/>
          </a:xfrm>
          <a:custGeom>
            <a:avLst/>
            <a:gdLst/>
            <a:ahLst/>
            <a:cxnLst/>
            <a:rect l="l" t="t" r="r" b="b"/>
            <a:pathLst>
              <a:path w="1960879" h="167639">
                <a:moveTo>
                  <a:pt x="1960676" y="0"/>
                </a:moveTo>
                <a:lnTo>
                  <a:pt x="386194" y="0"/>
                </a:lnTo>
                <a:lnTo>
                  <a:pt x="0" y="0"/>
                </a:lnTo>
                <a:lnTo>
                  <a:pt x="0" y="167144"/>
                </a:lnTo>
                <a:lnTo>
                  <a:pt x="386194" y="167144"/>
                </a:lnTo>
                <a:lnTo>
                  <a:pt x="1960676" y="167144"/>
                </a:lnTo>
                <a:lnTo>
                  <a:pt x="196067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2412587" y="5283665"/>
            <a:ext cx="7397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latin typeface="Microsoft Sans Serif"/>
                <a:cs typeface="Microsoft Sans Serif"/>
              </a:rPr>
              <a:t>upload_mbps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572031" y="5265927"/>
            <a:ext cx="2079625" cy="167640"/>
          </a:xfrm>
          <a:custGeom>
            <a:avLst/>
            <a:gdLst/>
            <a:ahLst/>
            <a:cxnLst/>
            <a:rect l="l" t="t" r="r" b="b"/>
            <a:pathLst>
              <a:path w="2079625" h="167639">
                <a:moveTo>
                  <a:pt x="2079496" y="0"/>
                </a:moveTo>
                <a:lnTo>
                  <a:pt x="0" y="0"/>
                </a:lnTo>
                <a:lnTo>
                  <a:pt x="0" y="167141"/>
                </a:lnTo>
                <a:lnTo>
                  <a:pt x="2079496" y="167141"/>
                </a:lnTo>
                <a:lnTo>
                  <a:pt x="207949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197389" y="5283665"/>
            <a:ext cx="8248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NUMERIC(8,2)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2468436" y="5450806"/>
            <a:ext cx="63119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0" dirty="0">
                <a:latin typeface="Microsoft Sans Serif"/>
                <a:cs typeface="Microsoft Sans Serif"/>
              </a:rPr>
              <a:t>latency_ms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197389" y="5450806"/>
            <a:ext cx="8248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NUMERIC(8,2)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611350" y="5600217"/>
            <a:ext cx="1960880" cy="167640"/>
          </a:xfrm>
          <a:custGeom>
            <a:avLst/>
            <a:gdLst/>
            <a:ahLst/>
            <a:cxnLst/>
            <a:rect l="l" t="t" r="r" b="b"/>
            <a:pathLst>
              <a:path w="1960879" h="167639">
                <a:moveTo>
                  <a:pt x="1960676" y="0"/>
                </a:moveTo>
                <a:lnTo>
                  <a:pt x="386194" y="0"/>
                </a:lnTo>
                <a:lnTo>
                  <a:pt x="0" y="0"/>
                </a:lnTo>
                <a:lnTo>
                  <a:pt x="0" y="167144"/>
                </a:lnTo>
                <a:lnTo>
                  <a:pt x="386194" y="167144"/>
                </a:lnTo>
                <a:lnTo>
                  <a:pt x="1960676" y="167144"/>
                </a:lnTo>
                <a:lnTo>
                  <a:pt x="196067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2544486" y="5617948"/>
            <a:ext cx="47942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65" dirty="0">
                <a:latin typeface="Microsoft Sans Serif"/>
                <a:cs typeface="Microsoft Sans Serif"/>
              </a:rPr>
              <a:t>jitter_ms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3572031" y="5600210"/>
            <a:ext cx="2079625" cy="167640"/>
          </a:xfrm>
          <a:custGeom>
            <a:avLst/>
            <a:gdLst/>
            <a:ahLst/>
            <a:cxnLst/>
            <a:rect l="l" t="t" r="r" b="b"/>
            <a:pathLst>
              <a:path w="2079625" h="167639">
                <a:moveTo>
                  <a:pt x="2079496" y="0"/>
                </a:moveTo>
                <a:lnTo>
                  <a:pt x="0" y="0"/>
                </a:lnTo>
                <a:lnTo>
                  <a:pt x="0" y="167141"/>
                </a:lnTo>
                <a:lnTo>
                  <a:pt x="2079496" y="167141"/>
                </a:lnTo>
                <a:lnTo>
                  <a:pt x="207949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 txBox="1"/>
          <p:nvPr/>
        </p:nvSpPr>
        <p:spPr>
          <a:xfrm>
            <a:off x="4197389" y="5617948"/>
            <a:ext cx="8248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NUMERIC(8,2)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342478" y="5785089"/>
            <a:ext cx="877569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5" dirty="0">
                <a:latin typeface="Microsoft Sans Serif"/>
                <a:cs typeface="Microsoft Sans Serif"/>
              </a:rPr>
              <a:t>packet_loss_pct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197389" y="5785089"/>
            <a:ext cx="82486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NUMERIC(5,2)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611350" y="5934506"/>
            <a:ext cx="1960880" cy="221615"/>
          </a:xfrm>
          <a:custGeom>
            <a:avLst/>
            <a:gdLst/>
            <a:ahLst/>
            <a:cxnLst/>
            <a:rect l="l" t="t" r="r" b="b"/>
            <a:pathLst>
              <a:path w="1960879" h="221614">
                <a:moveTo>
                  <a:pt x="1960676" y="0"/>
                </a:moveTo>
                <a:lnTo>
                  <a:pt x="386194" y="0"/>
                </a:lnTo>
                <a:lnTo>
                  <a:pt x="0" y="0"/>
                </a:lnTo>
                <a:lnTo>
                  <a:pt x="0" y="221221"/>
                </a:lnTo>
                <a:lnTo>
                  <a:pt x="386194" y="221221"/>
                </a:lnTo>
                <a:lnTo>
                  <a:pt x="1960676" y="221221"/>
                </a:lnTo>
                <a:lnTo>
                  <a:pt x="196067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2451800" y="5979760"/>
            <a:ext cx="65913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5" dirty="0">
                <a:latin typeface="Microsoft Sans Serif"/>
                <a:cs typeface="Microsoft Sans Serif"/>
              </a:rPr>
              <a:t>recorded_at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3572031" y="5934501"/>
            <a:ext cx="2079625" cy="221615"/>
          </a:xfrm>
          <a:custGeom>
            <a:avLst/>
            <a:gdLst/>
            <a:ahLst/>
            <a:cxnLst/>
            <a:rect l="l" t="t" r="r" b="b"/>
            <a:pathLst>
              <a:path w="2079625" h="221614">
                <a:moveTo>
                  <a:pt x="2079496" y="0"/>
                </a:moveTo>
                <a:lnTo>
                  <a:pt x="0" y="0"/>
                </a:lnTo>
                <a:lnTo>
                  <a:pt x="0" y="221216"/>
                </a:lnTo>
                <a:lnTo>
                  <a:pt x="2079496" y="221216"/>
                </a:lnTo>
                <a:lnTo>
                  <a:pt x="2079496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3701875" y="5979760"/>
            <a:ext cx="18199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TIMESTAMPTZ</a:t>
            </a:r>
            <a:r>
              <a:rPr sz="750" spc="8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NOW()</a:t>
            </a:r>
            <a:endParaRPr sz="750">
              <a:latin typeface="Microsoft Sans Serif"/>
              <a:cs typeface="Microsoft Sans Serif"/>
            </a:endParaRPr>
          </a:p>
        </p:txBody>
      </p:sp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6837120" y="4186401"/>
          <a:ext cx="4277360" cy="147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7045"/>
                <a:gridCol w="1651635"/>
                <a:gridCol w="2138680"/>
              </a:tblGrid>
              <a:tr h="171450">
                <a:tc gridSpan="3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750" b="1" spc="95" dirty="0">
                          <a:solidFill>
                            <a:srgbClr val="7E5F0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D5B655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b="1" spc="80" dirty="0">
                          <a:solidFill>
                            <a:srgbClr val="7E5F00"/>
                          </a:solidFill>
                          <a:latin typeface="Arial"/>
                          <a:cs typeface="Arial"/>
                        </a:rPr>
                        <a:t>PK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60" dirty="0">
                          <a:solidFill>
                            <a:srgbClr val="7E5F00"/>
                          </a:solidFill>
                          <a:latin typeface="Microsoft Sans Serif"/>
                          <a:cs typeface="Microsoft Sans Serif"/>
                        </a:rPr>
                        <a:t>location_id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10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SERIAL</a:t>
                      </a:r>
                      <a:r>
                        <a:rPr sz="750" spc="3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1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PRIMARY</a:t>
                      </a:r>
                      <a:r>
                        <a:rPr sz="750" spc="70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95" dirty="0">
                          <a:solidFill>
                            <a:srgbClr val="585858"/>
                          </a:solidFill>
                          <a:latin typeface="Microsoft Sans Serif"/>
                          <a:cs typeface="Microsoft Sans Serif"/>
                        </a:rPr>
                        <a:t>KEY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D5B655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1CC"/>
                    </a:solidFill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b="1" spc="80" dirty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FK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80" dirty="0">
                          <a:latin typeface="Microsoft Sans Serif"/>
                          <a:cs typeface="Microsoft Sans Serif"/>
                        </a:rPr>
                        <a:t>anonymous_id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10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UUID</a:t>
                      </a:r>
                      <a:r>
                        <a:rPr sz="750" spc="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→</a:t>
                      </a:r>
                      <a:r>
                        <a:rPr sz="750" spc="6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7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subscriber_device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55" dirty="0">
                          <a:latin typeface="Microsoft Sans Serif"/>
                          <a:cs typeface="Microsoft Sans Serif"/>
                        </a:rPr>
                        <a:t>latitude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DOUBLE</a:t>
                      </a:r>
                      <a:r>
                        <a:rPr sz="750" spc="7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0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PRECISION</a:t>
                      </a:r>
                      <a:r>
                        <a:rPr sz="750" spc="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750" spc="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65" dirty="0">
                          <a:latin typeface="Microsoft Sans Serif"/>
                          <a:cs typeface="Microsoft Sans Serif"/>
                        </a:rPr>
                        <a:t>longitude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DOUBLE</a:t>
                      </a:r>
                      <a:r>
                        <a:rPr sz="750" spc="7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0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PRECISION</a:t>
                      </a:r>
                      <a:r>
                        <a:rPr sz="750" spc="8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2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NOT</a:t>
                      </a:r>
                      <a:r>
                        <a:rPr sz="750" spc="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1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NULL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</a:tcPr>
                </a:tc>
              </a:tr>
              <a:tr h="167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80" dirty="0">
                          <a:latin typeface="Microsoft Sans Serif"/>
                          <a:cs typeface="Microsoft Sans Serif"/>
                        </a:rPr>
                        <a:t>location_name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750" spc="9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TEXT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2384" marB="0">
                    <a:lnL w="952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750" spc="75" dirty="0">
                          <a:latin typeface="Microsoft Sans Serif"/>
                          <a:cs typeface="Microsoft Sans Serif"/>
                        </a:rPr>
                        <a:t>recorded_at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5B655"/>
                      </a:solidFill>
                      <a:prstDash val="solid"/>
                    </a:lnL>
                    <a:lnR w="9525">
                      <a:solidFill>
                        <a:srgbClr val="D5B65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750" spc="100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TIMESTAMPTZ</a:t>
                      </a:r>
                      <a:r>
                        <a:rPr sz="750" spc="10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9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DEFAULT</a:t>
                      </a:r>
                      <a:r>
                        <a:rPr sz="750" spc="10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750" spc="85" dirty="0">
                          <a:solidFill>
                            <a:srgbClr val="878787"/>
                          </a:solidFill>
                          <a:latin typeface="Microsoft Sans Serif"/>
                          <a:cs typeface="Microsoft Sans Serif"/>
                        </a:rPr>
                        <a:t>NOW()</a:t>
                      </a:r>
                      <a:endParaRPr sz="7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5560" marB="0">
                    <a:lnL w="9525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</a:tcPr>
                </a:tc>
              </a:tr>
              <a:tr h="29464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D5B655"/>
                      </a:solidFill>
                      <a:prstDash val="solid"/>
                    </a:lnL>
                    <a:lnR w="6350">
                      <a:solidFill>
                        <a:srgbClr val="D5B655"/>
                      </a:solidFill>
                      <a:prstDash val="solid"/>
                    </a:lnR>
                    <a:lnB w="6350">
                      <a:solidFill>
                        <a:srgbClr val="D5B65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pSp>
        <p:nvGrpSpPr>
          <p:cNvPr id="92" name="object 92"/>
          <p:cNvGrpSpPr/>
          <p:nvPr/>
        </p:nvGrpSpPr>
        <p:grpSpPr>
          <a:xfrm>
            <a:off x="7312197" y="1875804"/>
            <a:ext cx="3868420" cy="1953260"/>
            <a:chOff x="7312197" y="1875804"/>
            <a:chExt cx="3868420" cy="1953260"/>
          </a:xfrm>
        </p:grpSpPr>
        <p:sp>
          <p:nvSpPr>
            <p:cNvPr id="93" name="object 93"/>
            <p:cNvSpPr/>
            <p:nvPr/>
          </p:nvSpPr>
          <p:spPr>
            <a:xfrm>
              <a:off x="7315372" y="1878979"/>
              <a:ext cx="3862070" cy="172085"/>
            </a:xfrm>
            <a:custGeom>
              <a:avLst/>
              <a:gdLst/>
              <a:ahLst/>
              <a:cxnLst/>
              <a:rect l="l" t="t" r="r" b="b"/>
              <a:pathLst>
                <a:path w="3862070" h="172085">
                  <a:moveTo>
                    <a:pt x="3861922" y="0"/>
                  </a:moveTo>
                  <a:lnTo>
                    <a:pt x="0" y="0"/>
                  </a:lnTo>
                  <a:lnTo>
                    <a:pt x="0" y="172057"/>
                  </a:lnTo>
                  <a:lnTo>
                    <a:pt x="3861922" y="172057"/>
                  </a:lnTo>
                  <a:lnTo>
                    <a:pt x="3861922" y="0"/>
                  </a:lnTo>
                  <a:close/>
                </a:path>
              </a:pathLst>
            </a:custGeom>
            <a:solidFill>
              <a:srgbClr val="F8CE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7315372" y="1878979"/>
              <a:ext cx="3862070" cy="1946910"/>
            </a:xfrm>
            <a:custGeom>
              <a:avLst/>
              <a:gdLst/>
              <a:ahLst/>
              <a:cxnLst/>
              <a:rect l="l" t="t" r="r" b="b"/>
              <a:pathLst>
                <a:path w="3862070" h="1946910">
                  <a:moveTo>
                    <a:pt x="0" y="172057"/>
                  </a:moveTo>
                  <a:lnTo>
                    <a:pt x="0" y="0"/>
                  </a:lnTo>
                  <a:lnTo>
                    <a:pt x="3861922" y="0"/>
                  </a:lnTo>
                  <a:lnTo>
                    <a:pt x="3861922" y="172057"/>
                  </a:lnTo>
                </a:path>
                <a:path w="3862070" h="1946910">
                  <a:moveTo>
                    <a:pt x="0" y="172057"/>
                  </a:moveTo>
                  <a:lnTo>
                    <a:pt x="0" y="1946582"/>
                  </a:lnTo>
                  <a:lnTo>
                    <a:pt x="3861922" y="1946582"/>
                  </a:lnTo>
                  <a:lnTo>
                    <a:pt x="3861922" y="172057"/>
                  </a:lnTo>
                </a:path>
                <a:path w="3862070" h="1946910">
                  <a:moveTo>
                    <a:pt x="0" y="172057"/>
                  </a:moveTo>
                  <a:lnTo>
                    <a:pt x="3861922" y="172057"/>
                  </a:lnTo>
                </a:path>
                <a:path w="3862070" h="1946910">
                  <a:moveTo>
                    <a:pt x="409957" y="172057"/>
                  </a:moveTo>
                  <a:lnTo>
                    <a:pt x="409957" y="172057"/>
                  </a:lnTo>
                  <a:lnTo>
                    <a:pt x="409957" y="1612299"/>
                  </a:lnTo>
                  <a:lnTo>
                    <a:pt x="409957" y="1774525"/>
                  </a:lnTo>
                </a:path>
                <a:path w="3862070" h="1946910">
                  <a:moveTo>
                    <a:pt x="1841840" y="172057"/>
                  </a:moveTo>
                  <a:lnTo>
                    <a:pt x="1841840" y="172057"/>
                  </a:lnTo>
                  <a:lnTo>
                    <a:pt x="1841840" y="1612299"/>
                  </a:lnTo>
                  <a:lnTo>
                    <a:pt x="1841840" y="1774525"/>
                  </a:lnTo>
                </a:path>
              </a:pathLst>
            </a:custGeom>
            <a:ln w="6333">
              <a:solidFill>
                <a:srgbClr val="B85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8902895" y="1895775"/>
            <a:ext cx="68770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114" dirty="0">
                <a:solidFill>
                  <a:srgbClr val="922B20"/>
                </a:solidFill>
                <a:latin typeface="Arial"/>
                <a:cs typeface="Arial"/>
              </a:rPr>
              <a:t>FEEDBACK</a:t>
            </a:r>
            <a:endParaRPr sz="75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7312197" y="2051036"/>
            <a:ext cx="3868420" cy="175260"/>
            <a:chOff x="7312197" y="2051036"/>
            <a:chExt cx="3868420" cy="175260"/>
          </a:xfrm>
        </p:grpSpPr>
        <p:sp>
          <p:nvSpPr>
            <p:cNvPr id="97" name="object 97"/>
            <p:cNvSpPr/>
            <p:nvPr/>
          </p:nvSpPr>
          <p:spPr>
            <a:xfrm>
              <a:off x="7315372" y="2223094"/>
              <a:ext cx="3862070" cy="0"/>
            </a:xfrm>
            <a:custGeom>
              <a:avLst/>
              <a:gdLst/>
              <a:ahLst/>
              <a:cxnLst/>
              <a:rect l="l" t="t" r="r" b="b"/>
              <a:pathLst>
                <a:path w="3862070">
                  <a:moveTo>
                    <a:pt x="3861922" y="0"/>
                  </a:moveTo>
                  <a:lnTo>
                    <a:pt x="0" y="0"/>
                  </a:lnTo>
                </a:path>
              </a:pathLst>
            </a:custGeom>
            <a:ln w="57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7315372" y="2051036"/>
              <a:ext cx="410209" cy="172085"/>
            </a:xfrm>
            <a:custGeom>
              <a:avLst/>
              <a:gdLst/>
              <a:ahLst/>
              <a:cxnLst/>
              <a:rect l="l" t="t" r="r" b="b"/>
              <a:pathLst>
                <a:path w="410209" h="172085">
                  <a:moveTo>
                    <a:pt x="409957" y="0"/>
                  </a:moveTo>
                  <a:lnTo>
                    <a:pt x="0" y="0"/>
                  </a:lnTo>
                  <a:lnTo>
                    <a:pt x="0" y="172057"/>
                  </a:lnTo>
                  <a:lnTo>
                    <a:pt x="409957" y="172057"/>
                  </a:lnTo>
                  <a:lnTo>
                    <a:pt x="409957" y="0"/>
                  </a:lnTo>
                  <a:close/>
                </a:path>
              </a:pathLst>
            </a:custGeom>
            <a:solidFill>
              <a:srgbClr val="F8CE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9" name="object 99"/>
          <p:cNvSpPr txBox="1"/>
          <p:nvPr/>
        </p:nvSpPr>
        <p:spPr>
          <a:xfrm>
            <a:off x="7424966" y="2067832"/>
            <a:ext cx="18669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80" dirty="0">
                <a:solidFill>
                  <a:srgbClr val="922B20"/>
                </a:solidFill>
                <a:latin typeface="Arial"/>
                <a:cs typeface="Arial"/>
              </a:rPr>
              <a:t>PK</a:t>
            </a:r>
            <a:endParaRPr sz="750">
              <a:latin typeface="Arial"/>
              <a:cs typeface="Arial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7725330" y="2051036"/>
            <a:ext cx="1431925" cy="172085"/>
          </a:xfrm>
          <a:custGeom>
            <a:avLst/>
            <a:gdLst/>
            <a:ahLst/>
            <a:cxnLst/>
            <a:rect l="l" t="t" r="r" b="b"/>
            <a:pathLst>
              <a:path w="1431925" h="172085">
                <a:moveTo>
                  <a:pt x="1431882" y="0"/>
                </a:moveTo>
                <a:lnTo>
                  <a:pt x="0" y="0"/>
                </a:lnTo>
                <a:lnTo>
                  <a:pt x="0" y="172057"/>
                </a:lnTo>
                <a:lnTo>
                  <a:pt x="1431882" y="172057"/>
                </a:lnTo>
                <a:lnTo>
                  <a:pt x="1431882" y="0"/>
                </a:lnTo>
                <a:close/>
              </a:path>
            </a:pathLst>
          </a:custGeom>
          <a:solidFill>
            <a:srgbClr val="F8CE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 txBox="1"/>
          <p:nvPr/>
        </p:nvSpPr>
        <p:spPr>
          <a:xfrm>
            <a:off x="8108229" y="2067832"/>
            <a:ext cx="66040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0" dirty="0">
                <a:solidFill>
                  <a:srgbClr val="922B20"/>
                </a:solidFill>
                <a:latin typeface="Microsoft Sans Serif"/>
                <a:cs typeface="Microsoft Sans Serif"/>
              </a:rPr>
              <a:t>feedback_id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9157213" y="2051036"/>
            <a:ext cx="2020570" cy="172085"/>
          </a:xfrm>
          <a:custGeom>
            <a:avLst/>
            <a:gdLst/>
            <a:ahLst/>
            <a:cxnLst/>
            <a:rect l="l" t="t" r="r" b="b"/>
            <a:pathLst>
              <a:path w="2020570" h="172085">
                <a:moveTo>
                  <a:pt x="2020082" y="0"/>
                </a:moveTo>
                <a:lnTo>
                  <a:pt x="0" y="0"/>
                </a:lnTo>
                <a:lnTo>
                  <a:pt x="0" y="172057"/>
                </a:lnTo>
                <a:lnTo>
                  <a:pt x="2020082" y="172057"/>
                </a:lnTo>
                <a:lnTo>
                  <a:pt x="2020082" y="0"/>
                </a:lnTo>
                <a:close/>
              </a:path>
            </a:pathLst>
          </a:custGeom>
          <a:solidFill>
            <a:srgbClr val="F8CE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 txBox="1"/>
          <p:nvPr/>
        </p:nvSpPr>
        <p:spPr>
          <a:xfrm>
            <a:off x="9525754" y="2067832"/>
            <a:ext cx="12865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0" dirty="0">
                <a:solidFill>
                  <a:srgbClr val="585858"/>
                </a:solidFill>
                <a:latin typeface="Microsoft Sans Serif"/>
                <a:cs typeface="Microsoft Sans Serif"/>
              </a:rPr>
              <a:t>SERIAL</a:t>
            </a:r>
            <a:r>
              <a:rPr sz="750" spc="35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110" dirty="0">
                <a:solidFill>
                  <a:srgbClr val="585858"/>
                </a:solidFill>
                <a:latin typeface="Microsoft Sans Serif"/>
                <a:cs typeface="Microsoft Sans Serif"/>
              </a:rPr>
              <a:t>PRIMARY</a:t>
            </a:r>
            <a:r>
              <a:rPr sz="750" spc="70" dirty="0">
                <a:solidFill>
                  <a:srgbClr val="585858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585858"/>
                </a:solidFill>
                <a:latin typeface="Microsoft Sans Serif"/>
                <a:cs typeface="Microsoft Sans Serif"/>
              </a:rPr>
              <a:t>KEY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7426947" y="2252589"/>
            <a:ext cx="1816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80" dirty="0">
                <a:solidFill>
                  <a:srgbClr val="C00000"/>
                </a:solidFill>
                <a:latin typeface="Arial"/>
                <a:cs typeface="Arial"/>
              </a:rPr>
              <a:t>FK</a:t>
            </a:r>
            <a:endParaRPr sz="75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041389" y="2252589"/>
            <a:ext cx="79375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85" dirty="0">
                <a:latin typeface="Microsoft Sans Serif"/>
                <a:cs typeface="Microsoft Sans Serif"/>
              </a:rPr>
              <a:t>anonymous_id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9437623" y="2252589"/>
            <a:ext cx="146177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UUID</a:t>
            </a:r>
            <a:r>
              <a:rPr sz="750" spc="8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80" dirty="0">
                <a:solidFill>
                  <a:srgbClr val="878787"/>
                </a:solidFill>
                <a:latin typeface="Microsoft Sans Serif"/>
                <a:cs typeface="Microsoft Sans Serif"/>
              </a:rPr>
              <a:t>→</a:t>
            </a:r>
            <a:r>
              <a:rPr sz="750" spc="6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subscriber_device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7315372" y="2419608"/>
            <a:ext cx="410209" cy="275590"/>
          </a:xfrm>
          <a:custGeom>
            <a:avLst/>
            <a:gdLst/>
            <a:ahLst/>
            <a:cxnLst/>
            <a:rect l="l" t="t" r="r" b="b"/>
            <a:pathLst>
              <a:path w="410209" h="275589">
                <a:moveTo>
                  <a:pt x="409957" y="0"/>
                </a:moveTo>
                <a:lnTo>
                  <a:pt x="0" y="0"/>
                </a:lnTo>
                <a:lnTo>
                  <a:pt x="0" y="275291"/>
                </a:lnTo>
                <a:lnTo>
                  <a:pt x="409957" y="275291"/>
                </a:lnTo>
                <a:lnTo>
                  <a:pt x="409957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7426947" y="2488471"/>
            <a:ext cx="1816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80" dirty="0">
                <a:solidFill>
                  <a:srgbClr val="C00000"/>
                </a:solidFill>
                <a:latin typeface="Arial"/>
                <a:cs typeface="Arial"/>
              </a:rPr>
              <a:t>FK</a:t>
            </a:r>
            <a:endParaRPr sz="750">
              <a:latin typeface="Arial"/>
              <a:cs typeface="Arial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7725330" y="2419608"/>
            <a:ext cx="1431925" cy="275590"/>
          </a:xfrm>
          <a:custGeom>
            <a:avLst/>
            <a:gdLst/>
            <a:ahLst/>
            <a:cxnLst/>
            <a:rect l="l" t="t" r="r" b="b"/>
            <a:pathLst>
              <a:path w="1431925" h="275589">
                <a:moveTo>
                  <a:pt x="1431882" y="0"/>
                </a:moveTo>
                <a:lnTo>
                  <a:pt x="0" y="0"/>
                </a:lnTo>
                <a:lnTo>
                  <a:pt x="0" y="275291"/>
                </a:lnTo>
                <a:lnTo>
                  <a:pt x="1431882" y="275291"/>
                </a:lnTo>
                <a:lnTo>
                  <a:pt x="143188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7926027" y="2488471"/>
            <a:ext cx="1029969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5" dirty="0">
                <a:latin typeface="Microsoft Sans Serif"/>
                <a:cs typeface="Microsoft Sans Serif"/>
              </a:rPr>
              <a:t>metric_id</a:t>
            </a:r>
            <a:r>
              <a:rPr sz="750" spc="100" dirty="0">
                <a:latin typeface="Microsoft Sans Serif"/>
                <a:cs typeface="Microsoft Sans Serif"/>
              </a:rPr>
              <a:t> </a:t>
            </a:r>
            <a:r>
              <a:rPr sz="750" spc="60" dirty="0">
                <a:latin typeface="Microsoft Sans Serif"/>
                <a:cs typeface="Microsoft Sans Serif"/>
              </a:rPr>
              <a:t>(nullable)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9157213" y="2419608"/>
            <a:ext cx="2020570" cy="275590"/>
          </a:xfrm>
          <a:custGeom>
            <a:avLst/>
            <a:gdLst/>
            <a:ahLst/>
            <a:cxnLst/>
            <a:rect l="l" t="t" r="r" b="b"/>
            <a:pathLst>
              <a:path w="2020570" h="275589">
                <a:moveTo>
                  <a:pt x="2020082" y="0"/>
                </a:moveTo>
                <a:lnTo>
                  <a:pt x="0" y="0"/>
                </a:lnTo>
                <a:lnTo>
                  <a:pt x="0" y="275291"/>
                </a:lnTo>
                <a:lnTo>
                  <a:pt x="2020082" y="275291"/>
                </a:lnTo>
                <a:lnTo>
                  <a:pt x="202008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9564868" y="2488471"/>
            <a:ext cx="120269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INT</a:t>
            </a:r>
            <a:r>
              <a:rPr sz="750" spc="4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80" dirty="0">
                <a:solidFill>
                  <a:srgbClr val="878787"/>
                </a:solidFill>
                <a:latin typeface="Microsoft Sans Serif"/>
                <a:cs typeface="Microsoft Sans Serif"/>
              </a:rPr>
              <a:t>→</a:t>
            </a:r>
            <a:r>
              <a:rPr sz="750" spc="6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0" dirty="0">
                <a:solidFill>
                  <a:srgbClr val="878787"/>
                </a:solidFill>
                <a:latin typeface="Microsoft Sans Serif"/>
                <a:cs typeface="Microsoft Sans Serif"/>
              </a:rPr>
              <a:t>network_metric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071096" y="2709688"/>
            <a:ext cx="74041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65" dirty="0">
                <a:latin typeface="Microsoft Sans Serif"/>
                <a:cs typeface="Microsoft Sans Serif"/>
              </a:rPr>
              <a:t>overall_rating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9524268" y="2709688"/>
            <a:ext cx="128714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INTEGER</a:t>
            </a:r>
            <a:r>
              <a:rPr sz="750" spc="7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5" dirty="0">
                <a:solidFill>
                  <a:srgbClr val="878787"/>
                </a:solidFill>
                <a:latin typeface="Microsoft Sans Serif"/>
                <a:cs typeface="Microsoft Sans Serif"/>
              </a:rPr>
              <a:t>CHECK</a:t>
            </a:r>
            <a:r>
              <a:rPr sz="750" spc="8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(1-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5)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7315365" y="2862046"/>
            <a:ext cx="1842135" cy="167640"/>
          </a:xfrm>
          <a:custGeom>
            <a:avLst/>
            <a:gdLst/>
            <a:ahLst/>
            <a:cxnLst/>
            <a:rect l="l" t="t" r="r" b="b"/>
            <a:pathLst>
              <a:path w="1842134" h="167639">
                <a:moveTo>
                  <a:pt x="1841842" y="0"/>
                </a:moveTo>
                <a:lnTo>
                  <a:pt x="409956" y="0"/>
                </a:lnTo>
                <a:lnTo>
                  <a:pt x="0" y="0"/>
                </a:lnTo>
                <a:lnTo>
                  <a:pt x="0" y="167144"/>
                </a:lnTo>
                <a:lnTo>
                  <a:pt x="409956" y="167144"/>
                </a:lnTo>
                <a:lnTo>
                  <a:pt x="1841842" y="167144"/>
                </a:lnTo>
                <a:lnTo>
                  <a:pt x="184184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8084464" y="2876829"/>
            <a:ext cx="71310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5" dirty="0">
                <a:latin typeface="Microsoft Sans Serif"/>
                <a:cs typeface="Microsoft Sans Serif"/>
              </a:rPr>
              <a:t>speed_rating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9157213" y="2862041"/>
            <a:ext cx="2020570" cy="167640"/>
          </a:xfrm>
          <a:custGeom>
            <a:avLst/>
            <a:gdLst/>
            <a:ahLst/>
            <a:cxnLst/>
            <a:rect l="l" t="t" r="r" b="b"/>
            <a:pathLst>
              <a:path w="2020570" h="167639">
                <a:moveTo>
                  <a:pt x="2020082" y="0"/>
                </a:moveTo>
                <a:lnTo>
                  <a:pt x="0" y="0"/>
                </a:lnTo>
                <a:lnTo>
                  <a:pt x="0" y="167141"/>
                </a:lnTo>
                <a:lnTo>
                  <a:pt x="2020082" y="167141"/>
                </a:lnTo>
                <a:lnTo>
                  <a:pt x="202008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9524268" y="2876829"/>
            <a:ext cx="128714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INTEGER</a:t>
            </a:r>
            <a:r>
              <a:rPr sz="750" spc="7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5" dirty="0">
                <a:solidFill>
                  <a:srgbClr val="878787"/>
                </a:solidFill>
                <a:latin typeface="Microsoft Sans Serif"/>
                <a:cs typeface="Microsoft Sans Serif"/>
              </a:rPr>
              <a:t>CHECK</a:t>
            </a:r>
            <a:r>
              <a:rPr sz="750" spc="8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(1-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5)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8104269" y="3024307"/>
            <a:ext cx="67373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0" dirty="0">
                <a:latin typeface="Microsoft Sans Serif"/>
                <a:cs typeface="Microsoft Sans Serif"/>
              </a:rPr>
              <a:t>delay_rating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9524268" y="3024307"/>
            <a:ext cx="128714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5" dirty="0">
                <a:solidFill>
                  <a:srgbClr val="878787"/>
                </a:solidFill>
                <a:latin typeface="Microsoft Sans Serif"/>
                <a:cs typeface="Microsoft Sans Serif"/>
              </a:rPr>
              <a:t>INTEGER</a:t>
            </a:r>
            <a:r>
              <a:rPr sz="750" spc="70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25" dirty="0">
                <a:solidFill>
                  <a:srgbClr val="878787"/>
                </a:solidFill>
                <a:latin typeface="Microsoft Sans Serif"/>
                <a:cs typeface="Microsoft Sans Serif"/>
              </a:rPr>
              <a:t>CHECK</a:t>
            </a:r>
            <a:r>
              <a:rPr sz="750" spc="8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(1-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5)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7315365" y="3157004"/>
            <a:ext cx="1842135" cy="167640"/>
          </a:xfrm>
          <a:custGeom>
            <a:avLst/>
            <a:gdLst/>
            <a:ahLst/>
            <a:cxnLst/>
            <a:rect l="l" t="t" r="r" b="b"/>
            <a:pathLst>
              <a:path w="1842134" h="167639">
                <a:moveTo>
                  <a:pt x="1841842" y="0"/>
                </a:moveTo>
                <a:lnTo>
                  <a:pt x="409956" y="0"/>
                </a:lnTo>
                <a:lnTo>
                  <a:pt x="0" y="0"/>
                </a:lnTo>
                <a:lnTo>
                  <a:pt x="0" y="167144"/>
                </a:lnTo>
                <a:lnTo>
                  <a:pt x="409956" y="167144"/>
                </a:lnTo>
                <a:lnTo>
                  <a:pt x="1841842" y="167144"/>
                </a:lnTo>
                <a:lnTo>
                  <a:pt x="184184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8015147" y="3170801"/>
            <a:ext cx="85280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55" dirty="0">
                <a:latin typeface="Microsoft Sans Serif"/>
                <a:cs typeface="Microsoft Sans Serif"/>
              </a:rPr>
              <a:t>reliability_rating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9157213" y="3156996"/>
            <a:ext cx="2020570" cy="167640"/>
          </a:xfrm>
          <a:custGeom>
            <a:avLst/>
            <a:gdLst/>
            <a:ahLst/>
            <a:cxnLst/>
            <a:rect l="l" t="t" r="r" b="b"/>
            <a:pathLst>
              <a:path w="2020570" h="167639">
                <a:moveTo>
                  <a:pt x="2020082" y="0"/>
                </a:moveTo>
                <a:lnTo>
                  <a:pt x="0" y="0"/>
                </a:lnTo>
                <a:lnTo>
                  <a:pt x="0" y="167141"/>
                </a:lnTo>
                <a:lnTo>
                  <a:pt x="2020082" y="167141"/>
                </a:lnTo>
                <a:lnTo>
                  <a:pt x="202008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9524268" y="3170801"/>
            <a:ext cx="12877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10" dirty="0">
                <a:solidFill>
                  <a:srgbClr val="878787"/>
                </a:solidFill>
                <a:latin typeface="Microsoft Sans Serif"/>
                <a:cs typeface="Microsoft Sans Serif"/>
              </a:rPr>
              <a:t>INTEGER</a:t>
            </a:r>
            <a:r>
              <a:rPr sz="750" spc="5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130" dirty="0">
                <a:solidFill>
                  <a:srgbClr val="878787"/>
                </a:solidFill>
                <a:latin typeface="Microsoft Sans Serif"/>
                <a:cs typeface="Microsoft Sans Serif"/>
              </a:rPr>
              <a:t>CHECK</a:t>
            </a:r>
            <a:r>
              <a:rPr sz="750" spc="6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75" dirty="0">
                <a:solidFill>
                  <a:srgbClr val="878787"/>
                </a:solidFill>
                <a:latin typeface="Microsoft Sans Serif"/>
                <a:cs typeface="Microsoft Sans Serif"/>
              </a:rPr>
              <a:t>(1-</a:t>
            </a:r>
            <a:r>
              <a:rPr sz="750" spc="50" dirty="0">
                <a:solidFill>
                  <a:srgbClr val="878787"/>
                </a:solidFill>
                <a:latin typeface="Microsoft Sans Serif"/>
                <a:cs typeface="Microsoft Sans Serif"/>
              </a:rPr>
              <a:t>5)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8183983" y="3339909"/>
            <a:ext cx="51625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95" dirty="0">
                <a:latin typeface="Microsoft Sans Serif"/>
                <a:cs typeface="Microsoft Sans Serif"/>
              </a:rPr>
              <a:t>comment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9739645" y="3339909"/>
            <a:ext cx="85661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10" dirty="0">
                <a:solidFill>
                  <a:srgbClr val="878787"/>
                </a:solidFill>
                <a:latin typeface="Microsoft Sans Serif"/>
                <a:cs typeface="Microsoft Sans Serif"/>
              </a:rPr>
              <a:t>TEXT</a:t>
            </a:r>
            <a:r>
              <a:rPr sz="750" spc="4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60" dirty="0">
                <a:solidFill>
                  <a:srgbClr val="878787"/>
                </a:solidFill>
                <a:latin typeface="Microsoft Sans Serif"/>
                <a:cs typeface="Microsoft Sans Serif"/>
              </a:rPr>
              <a:t>(optional)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7" name="object 127"/>
          <p:cNvSpPr/>
          <p:nvPr/>
        </p:nvSpPr>
        <p:spPr>
          <a:xfrm>
            <a:off x="7315365" y="3491280"/>
            <a:ext cx="1842135" cy="162560"/>
          </a:xfrm>
          <a:custGeom>
            <a:avLst/>
            <a:gdLst/>
            <a:ahLst/>
            <a:cxnLst/>
            <a:rect l="l" t="t" r="r" b="b"/>
            <a:pathLst>
              <a:path w="1842134" h="162560">
                <a:moveTo>
                  <a:pt x="1841842" y="0"/>
                </a:moveTo>
                <a:lnTo>
                  <a:pt x="409956" y="0"/>
                </a:lnTo>
                <a:lnTo>
                  <a:pt x="0" y="0"/>
                </a:lnTo>
                <a:lnTo>
                  <a:pt x="0" y="162229"/>
                </a:lnTo>
                <a:lnTo>
                  <a:pt x="409956" y="162229"/>
                </a:lnTo>
                <a:lnTo>
                  <a:pt x="1841842" y="162229"/>
                </a:lnTo>
                <a:lnTo>
                  <a:pt x="184184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 txBox="1"/>
          <p:nvPr/>
        </p:nvSpPr>
        <p:spPr>
          <a:xfrm>
            <a:off x="8087930" y="3504101"/>
            <a:ext cx="70421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0" dirty="0">
                <a:latin typeface="Microsoft Sans Serif"/>
                <a:cs typeface="Microsoft Sans Serif"/>
              </a:rPr>
              <a:t>submitted_at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29" name="object 129"/>
          <p:cNvSpPr/>
          <p:nvPr/>
        </p:nvSpPr>
        <p:spPr>
          <a:xfrm>
            <a:off x="9157213" y="3491279"/>
            <a:ext cx="2020570" cy="162560"/>
          </a:xfrm>
          <a:custGeom>
            <a:avLst/>
            <a:gdLst/>
            <a:ahLst/>
            <a:cxnLst/>
            <a:rect l="l" t="t" r="r" b="b"/>
            <a:pathLst>
              <a:path w="2020570" h="162560">
                <a:moveTo>
                  <a:pt x="2020082" y="0"/>
                </a:moveTo>
                <a:lnTo>
                  <a:pt x="0" y="0"/>
                </a:lnTo>
                <a:lnTo>
                  <a:pt x="0" y="162225"/>
                </a:lnTo>
                <a:lnTo>
                  <a:pt x="2020082" y="162225"/>
                </a:lnTo>
                <a:lnTo>
                  <a:pt x="2020082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 txBox="1"/>
          <p:nvPr/>
        </p:nvSpPr>
        <p:spPr>
          <a:xfrm>
            <a:off x="9260865" y="3504101"/>
            <a:ext cx="1818639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100" dirty="0">
                <a:solidFill>
                  <a:srgbClr val="878787"/>
                </a:solidFill>
                <a:latin typeface="Microsoft Sans Serif"/>
                <a:cs typeface="Microsoft Sans Serif"/>
              </a:rPr>
              <a:t>TIMESTAMPTZ</a:t>
            </a:r>
            <a:r>
              <a:rPr sz="750" spc="85" dirty="0">
                <a:solidFill>
                  <a:srgbClr val="878787"/>
                </a:solidFill>
                <a:latin typeface="Microsoft Sans Serif"/>
                <a:cs typeface="Microsoft Sans Serif"/>
              </a:rPr>
              <a:t> </a:t>
            </a:r>
            <a:r>
              <a:rPr sz="750" spc="95" dirty="0">
                <a:solidFill>
                  <a:srgbClr val="878787"/>
                </a:solidFill>
                <a:latin typeface="Microsoft Sans Serif"/>
                <a:cs typeface="Microsoft Sans Serif"/>
              </a:rPr>
              <a:t>DEFAULT</a:t>
            </a:r>
            <a:r>
              <a:rPr sz="750" spc="90" dirty="0">
                <a:solidFill>
                  <a:srgbClr val="878787"/>
                </a:solidFill>
                <a:latin typeface="Microsoft Sans Serif"/>
                <a:cs typeface="Microsoft Sans Serif"/>
              </a:rPr>
              <a:t> NOW()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126007" y="2362788"/>
            <a:ext cx="1485900" cy="3173730"/>
          </a:xfrm>
          <a:custGeom>
            <a:avLst/>
            <a:gdLst/>
            <a:ahLst/>
            <a:cxnLst/>
            <a:rect l="l" t="t" r="r" b="b"/>
            <a:pathLst>
              <a:path w="1485900" h="3173729">
                <a:moveTo>
                  <a:pt x="653556" y="22531"/>
                </a:moveTo>
                <a:lnTo>
                  <a:pt x="118828" y="18025"/>
                </a:lnTo>
                <a:lnTo>
                  <a:pt x="92834" y="20553"/>
                </a:lnTo>
                <a:lnTo>
                  <a:pt x="74267" y="28727"/>
                </a:lnTo>
                <a:lnTo>
                  <a:pt x="63127" y="42508"/>
                </a:lnTo>
                <a:lnTo>
                  <a:pt x="59414" y="61858"/>
                </a:lnTo>
                <a:lnTo>
                  <a:pt x="59414" y="83980"/>
                </a:lnTo>
                <a:lnTo>
                  <a:pt x="57557" y="93587"/>
                </a:lnTo>
                <a:lnTo>
                  <a:pt x="51987" y="100464"/>
                </a:lnTo>
                <a:lnTo>
                  <a:pt x="42703" y="104598"/>
                </a:lnTo>
                <a:lnTo>
                  <a:pt x="29707" y="105979"/>
                </a:lnTo>
                <a:lnTo>
                  <a:pt x="14853" y="105979"/>
                </a:lnTo>
                <a:lnTo>
                  <a:pt x="8355" y="109051"/>
                </a:lnTo>
                <a:lnTo>
                  <a:pt x="3713" y="118268"/>
                </a:lnTo>
                <a:lnTo>
                  <a:pt x="928" y="133631"/>
                </a:lnTo>
                <a:lnTo>
                  <a:pt x="0" y="155138"/>
                </a:lnTo>
                <a:lnTo>
                  <a:pt x="0" y="3124356"/>
                </a:lnTo>
                <a:lnTo>
                  <a:pt x="3713" y="3145863"/>
                </a:lnTo>
                <a:lnTo>
                  <a:pt x="14853" y="3161225"/>
                </a:lnTo>
                <a:lnTo>
                  <a:pt x="33420" y="3170442"/>
                </a:lnTo>
                <a:lnTo>
                  <a:pt x="59414" y="3173515"/>
                </a:lnTo>
                <a:lnTo>
                  <a:pt x="1330878" y="3173515"/>
                </a:lnTo>
                <a:lnTo>
                  <a:pt x="1356871" y="3172900"/>
                </a:lnTo>
                <a:lnTo>
                  <a:pt x="1375438" y="3171057"/>
                </a:lnTo>
                <a:lnTo>
                  <a:pt x="1386578" y="3167984"/>
                </a:lnTo>
                <a:lnTo>
                  <a:pt x="1390292" y="3163683"/>
                </a:lnTo>
                <a:lnTo>
                  <a:pt x="1390292" y="3158767"/>
                </a:lnTo>
                <a:lnTo>
                  <a:pt x="1393262" y="3156616"/>
                </a:lnTo>
                <a:lnTo>
                  <a:pt x="1402175" y="3155080"/>
                </a:lnTo>
                <a:lnTo>
                  <a:pt x="1417028" y="3154158"/>
                </a:lnTo>
                <a:lnTo>
                  <a:pt x="1437823" y="3153851"/>
                </a:lnTo>
                <a:lnTo>
                  <a:pt x="1485354" y="3153851"/>
                </a:lnTo>
              </a:path>
              <a:path w="1485900" h="3173729">
                <a:moveTo>
                  <a:pt x="626572" y="44243"/>
                </a:moveTo>
                <a:lnTo>
                  <a:pt x="627116" y="0"/>
                </a:lnTo>
              </a:path>
              <a:path w="1485900" h="3173729">
                <a:moveTo>
                  <a:pt x="599835" y="44243"/>
                </a:moveTo>
                <a:lnTo>
                  <a:pt x="600380" y="0"/>
                </a:lnTo>
              </a:path>
            </a:pathLst>
          </a:custGeom>
          <a:ln w="10857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-13888" y="4238540"/>
            <a:ext cx="284480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30"/>
              </a:spcBef>
            </a:pPr>
            <a:r>
              <a:rPr sz="750" b="1" spc="11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750" b="1" spc="5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6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750" b="1" spc="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85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5532947" y="2304206"/>
            <a:ext cx="1307465" cy="2308225"/>
          </a:xfrm>
          <a:custGeom>
            <a:avLst/>
            <a:gdLst/>
            <a:ahLst/>
            <a:cxnLst/>
            <a:rect l="l" t="t" r="r" b="b"/>
            <a:pathLst>
              <a:path w="1307465" h="2308225">
                <a:moveTo>
                  <a:pt x="0" y="22121"/>
                </a:moveTo>
                <a:lnTo>
                  <a:pt x="118828" y="22121"/>
                </a:lnTo>
                <a:lnTo>
                  <a:pt x="145959" y="25034"/>
                </a:lnTo>
                <a:lnTo>
                  <a:pt x="168030" y="33745"/>
                </a:lnTo>
                <a:lnTo>
                  <a:pt x="185181" y="48218"/>
                </a:lnTo>
                <a:lnTo>
                  <a:pt x="197552" y="68413"/>
                </a:lnTo>
                <a:lnTo>
                  <a:pt x="1109560" y="2261406"/>
                </a:lnTo>
                <a:lnTo>
                  <a:pt x="1121651" y="2281754"/>
                </a:lnTo>
                <a:lnTo>
                  <a:pt x="1138710" y="2296284"/>
                </a:lnTo>
                <a:lnTo>
                  <a:pt x="1160874" y="2304999"/>
                </a:lnTo>
                <a:lnTo>
                  <a:pt x="1188283" y="2307903"/>
                </a:lnTo>
                <a:lnTo>
                  <a:pt x="1307112" y="2307903"/>
                </a:lnTo>
              </a:path>
              <a:path w="1307465" h="2308225">
                <a:moveTo>
                  <a:pt x="26736" y="0"/>
                </a:moveTo>
                <a:lnTo>
                  <a:pt x="26736" y="44243"/>
                </a:lnTo>
              </a:path>
              <a:path w="1307465" h="2308225">
                <a:moveTo>
                  <a:pt x="53472" y="0"/>
                </a:moveTo>
                <a:lnTo>
                  <a:pt x="53472" y="44243"/>
                </a:lnTo>
              </a:path>
            </a:pathLst>
          </a:custGeom>
          <a:ln w="10857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6050023" y="3393984"/>
            <a:ext cx="2825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105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750" b="1" spc="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6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750" b="1" spc="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8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135" name="object 135"/>
          <p:cNvSpPr/>
          <p:nvPr/>
        </p:nvSpPr>
        <p:spPr>
          <a:xfrm>
            <a:off x="5532947" y="2304206"/>
            <a:ext cx="1782445" cy="44450"/>
          </a:xfrm>
          <a:custGeom>
            <a:avLst/>
            <a:gdLst/>
            <a:ahLst/>
            <a:cxnLst/>
            <a:rect l="l" t="t" r="r" b="b"/>
            <a:pathLst>
              <a:path w="1782445" h="44450">
                <a:moveTo>
                  <a:pt x="0" y="22121"/>
                </a:moveTo>
                <a:lnTo>
                  <a:pt x="118828" y="22121"/>
                </a:lnTo>
                <a:lnTo>
                  <a:pt x="148465" y="22115"/>
                </a:lnTo>
                <a:lnTo>
                  <a:pt x="178056" y="22070"/>
                </a:lnTo>
                <a:lnTo>
                  <a:pt x="207740" y="21948"/>
                </a:lnTo>
                <a:lnTo>
                  <a:pt x="237656" y="21711"/>
                </a:lnTo>
                <a:lnTo>
                  <a:pt x="1544769" y="17205"/>
                </a:lnTo>
                <a:lnTo>
                  <a:pt x="1574406" y="17205"/>
                </a:lnTo>
                <a:lnTo>
                  <a:pt x="1603997" y="17205"/>
                </a:lnTo>
                <a:lnTo>
                  <a:pt x="1633681" y="17205"/>
                </a:lnTo>
                <a:lnTo>
                  <a:pt x="1663597" y="17205"/>
                </a:lnTo>
                <a:lnTo>
                  <a:pt x="1782425" y="17205"/>
                </a:lnTo>
              </a:path>
              <a:path w="1782445" h="44450">
                <a:moveTo>
                  <a:pt x="26736" y="0"/>
                </a:moveTo>
                <a:lnTo>
                  <a:pt x="26736" y="44243"/>
                </a:lnTo>
              </a:path>
              <a:path w="1782445" h="44450">
                <a:moveTo>
                  <a:pt x="53472" y="0"/>
                </a:moveTo>
                <a:lnTo>
                  <a:pt x="53472" y="44243"/>
                </a:lnTo>
              </a:path>
            </a:pathLst>
          </a:custGeom>
          <a:ln w="10857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 txBox="1"/>
          <p:nvPr/>
        </p:nvSpPr>
        <p:spPr>
          <a:xfrm>
            <a:off x="6287680" y="2247673"/>
            <a:ext cx="282575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105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r>
              <a:rPr sz="750" b="1" spc="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60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750" b="1" spc="4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750" b="1" spc="80" dirty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750">
              <a:latin typeface="Arial"/>
              <a:cs typeface="Arial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5648804" y="2554795"/>
            <a:ext cx="1663700" cy="1789430"/>
          </a:xfrm>
          <a:custGeom>
            <a:avLst/>
            <a:gdLst/>
            <a:ahLst/>
            <a:cxnLst/>
            <a:rect l="l" t="t" r="r" b="b"/>
            <a:pathLst>
              <a:path w="1663700" h="1789429">
                <a:moveTo>
                  <a:pt x="0" y="1789396"/>
                </a:moveTo>
                <a:lnTo>
                  <a:pt x="1129364" y="1639870"/>
                </a:lnTo>
                <a:lnTo>
                  <a:pt x="1172006" y="1621793"/>
                </a:lnTo>
                <a:lnTo>
                  <a:pt x="1182342" y="1583132"/>
                </a:lnTo>
                <a:lnTo>
                  <a:pt x="1015487" y="107945"/>
                </a:lnTo>
                <a:lnTo>
                  <a:pt x="1016601" y="86209"/>
                </a:lnTo>
                <a:lnTo>
                  <a:pt x="1025885" y="69918"/>
                </a:lnTo>
                <a:lnTo>
                  <a:pt x="1043338" y="59081"/>
                </a:lnTo>
                <a:lnTo>
                  <a:pt x="1068960" y="53706"/>
                </a:lnTo>
                <a:lnTo>
                  <a:pt x="1663597" y="0"/>
                </a:lnTo>
              </a:path>
            </a:pathLst>
          </a:custGeom>
          <a:ln w="16397">
            <a:solidFill>
              <a:srgbClr val="666666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8" name="object 138"/>
          <p:cNvGrpSpPr/>
          <p:nvPr/>
        </p:nvGrpSpPr>
        <p:grpSpPr>
          <a:xfrm>
            <a:off x="5664191" y="2524149"/>
            <a:ext cx="6526530" cy="4027804"/>
            <a:chOff x="5664191" y="2524149"/>
            <a:chExt cx="6526530" cy="4027804"/>
          </a:xfrm>
        </p:grpSpPr>
        <p:sp>
          <p:nvSpPr>
            <p:cNvPr id="139" name="object 139"/>
            <p:cNvSpPr/>
            <p:nvPr/>
          </p:nvSpPr>
          <p:spPr>
            <a:xfrm>
              <a:off x="5673065" y="4312156"/>
              <a:ext cx="38735" cy="52705"/>
            </a:xfrm>
            <a:custGeom>
              <a:avLst/>
              <a:gdLst/>
              <a:ahLst/>
              <a:cxnLst/>
              <a:rect l="l" t="t" r="r" b="b"/>
              <a:pathLst>
                <a:path w="38735" h="52704">
                  <a:moveTo>
                    <a:pt x="0" y="3891"/>
                  </a:moveTo>
                  <a:lnTo>
                    <a:pt x="9407" y="52436"/>
                  </a:lnTo>
                </a:path>
                <a:path w="38735" h="52704">
                  <a:moveTo>
                    <a:pt x="29211" y="0"/>
                  </a:moveTo>
                  <a:lnTo>
                    <a:pt x="38619" y="48544"/>
                  </a:lnTo>
                </a:path>
              </a:pathLst>
            </a:custGeom>
            <a:ln w="1628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205951" y="2548077"/>
              <a:ext cx="36195" cy="29845"/>
            </a:xfrm>
            <a:custGeom>
              <a:avLst/>
              <a:gdLst/>
              <a:ahLst/>
              <a:cxnLst/>
              <a:rect l="l" t="t" r="r" b="b"/>
              <a:pathLst>
                <a:path w="36195" h="29844">
                  <a:moveTo>
                    <a:pt x="27231" y="0"/>
                  </a:moveTo>
                  <a:lnTo>
                    <a:pt x="7921" y="0"/>
                  </a:lnTo>
                  <a:lnTo>
                    <a:pt x="0" y="6595"/>
                  </a:lnTo>
                  <a:lnTo>
                    <a:pt x="0" y="22900"/>
                  </a:lnTo>
                  <a:lnTo>
                    <a:pt x="7921" y="29495"/>
                  </a:lnTo>
                  <a:lnTo>
                    <a:pt x="27231" y="29495"/>
                  </a:lnTo>
                  <a:lnTo>
                    <a:pt x="35648" y="22900"/>
                  </a:lnTo>
                  <a:lnTo>
                    <a:pt x="35648" y="14747"/>
                  </a:lnTo>
                  <a:lnTo>
                    <a:pt x="35648" y="6595"/>
                  </a:lnTo>
                  <a:lnTo>
                    <a:pt x="272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205951" y="2533043"/>
              <a:ext cx="80010" cy="48895"/>
            </a:xfrm>
            <a:custGeom>
              <a:avLst/>
              <a:gdLst/>
              <a:ahLst/>
              <a:cxnLst/>
              <a:rect l="l" t="t" r="r" b="b"/>
              <a:pathLst>
                <a:path w="80009" h="48894">
                  <a:moveTo>
                    <a:pt x="35648" y="29782"/>
                  </a:moveTo>
                  <a:lnTo>
                    <a:pt x="35648" y="37934"/>
                  </a:lnTo>
                  <a:lnTo>
                    <a:pt x="27231" y="44530"/>
                  </a:lnTo>
                  <a:lnTo>
                    <a:pt x="17824" y="44530"/>
                  </a:lnTo>
                  <a:lnTo>
                    <a:pt x="7921" y="44530"/>
                  </a:lnTo>
                  <a:lnTo>
                    <a:pt x="0" y="37934"/>
                  </a:lnTo>
                  <a:lnTo>
                    <a:pt x="0" y="29782"/>
                  </a:lnTo>
                  <a:lnTo>
                    <a:pt x="0" y="21630"/>
                  </a:lnTo>
                  <a:lnTo>
                    <a:pt x="7921" y="15034"/>
                  </a:lnTo>
                  <a:lnTo>
                    <a:pt x="17824" y="15034"/>
                  </a:lnTo>
                  <a:lnTo>
                    <a:pt x="27231" y="15034"/>
                  </a:lnTo>
                  <a:lnTo>
                    <a:pt x="35648" y="21630"/>
                  </a:lnTo>
                  <a:lnTo>
                    <a:pt x="35648" y="29782"/>
                  </a:lnTo>
                  <a:close/>
                </a:path>
                <a:path w="80009" h="48894">
                  <a:moveTo>
                    <a:pt x="79714" y="48831"/>
                  </a:moveTo>
                  <a:lnTo>
                    <a:pt x="73277" y="0"/>
                  </a:lnTo>
                </a:path>
              </a:pathLst>
            </a:custGeom>
            <a:ln w="1628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9810768" y="5713276"/>
              <a:ext cx="2376805" cy="836294"/>
            </a:xfrm>
            <a:custGeom>
              <a:avLst/>
              <a:gdLst/>
              <a:ahLst/>
              <a:cxnLst/>
              <a:rect l="l" t="t" r="r" b="b"/>
              <a:pathLst>
                <a:path w="2376804" h="836295">
                  <a:moveTo>
                    <a:pt x="2225061" y="0"/>
                  </a:moveTo>
                  <a:lnTo>
                    <a:pt x="2272949" y="6390"/>
                  </a:lnTo>
                  <a:lnTo>
                    <a:pt x="2314539" y="24186"/>
                  </a:lnTo>
                  <a:lnTo>
                    <a:pt x="2347336" y="51322"/>
                  </a:lnTo>
                  <a:lnTo>
                    <a:pt x="2368844" y="85733"/>
                  </a:lnTo>
                  <a:lnTo>
                    <a:pt x="2376567" y="125356"/>
                  </a:lnTo>
                  <a:lnTo>
                    <a:pt x="2376567" y="710359"/>
                  </a:lnTo>
                  <a:lnTo>
                    <a:pt x="2368844" y="749979"/>
                  </a:lnTo>
                  <a:lnTo>
                    <a:pt x="2347336" y="784390"/>
                  </a:lnTo>
                  <a:lnTo>
                    <a:pt x="2314539" y="811526"/>
                  </a:lnTo>
                  <a:lnTo>
                    <a:pt x="2272949" y="829322"/>
                  </a:lnTo>
                  <a:lnTo>
                    <a:pt x="2225061" y="835713"/>
                  </a:lnTo>
                  <a:lnTo>
                    <a:pt x="151506" y="835713"/>
                  </a:lnTo>
                  <a:lnTo>
                    <a:pt x="103618" y="829322"/>
                  </a:lnTo>
                  <a:lnTo>
                    <a:pt x="62028" y="811526"/>
                  </a:lnTo>
                  <a:lnTo>
                    <a:pt x="29231" y="784390"/>
                  </a:lnTo>
                  <a:lnTo>
                    <a:pt x="7723" y="749979"/>
                  </a:lnTo>
                  <a:lnTo>
                    <a:pt x="0" y="710359"/>
                  </a:lnTo>
                  <a:lnTo>
                    <a:pt x="0" y="125356"/>
                  </a:lnTo>
                  <a:lnTo>
                    <a:pt x="7723" y="85733"/>
                  </a:lnTo>
                  <a:lnTo>
                    <a:pt x="29231" y="51322"/>
                  </a:lnTo>
                  <a:lnTo>
                    <a:pt x="62028" y="24186"/>
                  </a:lnTo>
                  <a:lnTo>
                    <a:pt x="103618" y="6390"/>
                  </a:lnTo>
                  <a:lnTo>
                    <a:pt x="151506" y="0"/>
                  </a:lnTo>
                  <a:lnTo>
                    <a:pt x="2225061" y="0"/>
                  </a:lnTo>
                  <a:close/>
                </a:path>
              </a:pathLst>
            </a:custGeom>
            <a:ln w="586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6582275" y="3546378"/>
            <a:ext cx="39497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i="1" spc="105" dirty="0">
                <a:solidFill>
                  <a:srgbClr val="666666"/>
                </a:solidFill>
                <a:latin typeface="Arial"/>
                <a:cs typeface="Arial"/>
              </a:rPr>
              <a:t>1</a:t>
            </a:r>
            <a:r>
              <a:rPr sz="750" b="1" i="1" spc="45" dirty="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sz="750" b="1" i="1" spc="60" dirty="0">
                <a:solidFill>
                  <a:srgbClr val="666666"/>
                </a:solidFill>
                <a:latin typeface="Arial"/>
                <a:cs typeface="Arial"/>
              </a:rPr>
              <a:t>:</a:t>
            </a:r>
            <a:r>
              <a:rPr sz="750" b="1" i="1" spc="50" dirty="0">
                <a:solidFill>
                  <a:srgbClr val="666666"/>
                </a:solidFill>
                <a:latin typeface="Arial"/>
                <a:cs typeface="Arial"/>
              </a:rPr>
              <a:t> 0..1</a:t>
            </a:r>
            <a:endParaRPr sz="750">
              <a:latin typeface="Arial"/>
              <a:cs typeface="Arial"/>
            </a:endParaRPr>
          </a:p>
        </p:txBody>
      </p:sp>
      <p:sp>
        <p:nvSpPr>
          <p:cNvPr id="146" name="object 1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47" name="object 1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44" name="object 144"/>
          <p:cNvSpPr txBox="1"/>
          <p:nvPr/>
        </p:nvSpPr>
        <p:spPr>
          <a:xfrm>
            <a:off x="9858473" y="5755594"/>
            <a:ext cx="51943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spc="70" dirty="0">
                <a:latin typeface="Microsoft Sans Serif"/>
                <a:cs typeface="Microsoft Sans Serif"/>
              </a:rPr>
              <a:t>Legend...</a:t>
            </a:r>
            <a:endParaRPr sz="750">
              <a:latin typeface="Microsoft Sans Serif"/>
              <a:cs typeface="Microsoft Sans Serif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664821" y="6469391"/>
            <a:ext cx="868044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" spc="20" dirty="0">
                <a:latin typeface="Arial MT"/>
                <a:cs typeface="Arial MT"/>
              </a:rPr>
              <a:t>Text</a:t>
            </a:r>
            <a:r>
              <a:rPr sz="350" spc="35" dirty="0">
                <a:latin typeface="Arial MT"/>
                <a:cs typeface="Arial MT"/>
              </a:rPr>
              <a:t> </a:t>
            </a:r>
            <a:r>
              <a:rPr sz="350" spc="20" dirty="0">
                <a:latin typeface="Arial MT"/>
                <a:cs typeface="Arial MT"/>
              </a:rPr>
              <a:t>is</a:t>
            </a:r>
            <a:r>
              <a:rPr sz="350" spc="80" dirty="0">
                <a:latin typeface="Arial MT"/>
                <a:cs typeface="Arial MT"/>
              </a:rPr>
              <a:t> </a:t>
            </a:r>
            <a:r>
              <a:rPr sz="350" spc="20" dirty="0">
                <a:latin typeface="Arial MT"/>
                <a:cs typeface="Arial MT"/>
              </a:rPr>
              <a:t>not</a:t>
            </a:r>
            <a:r>
              <a:rPr sz="350" spc="100" dirty="0">
                <a:latin typeface="Arial MT"/>
                <a:cs typeface="Arial MT"/>
              </a:rPr>
              <a:t> </a:t>
            </a:r>
            <a:r>
              <a:rPr sz="350" spc="70" dirty="0">
                <a:latin typeface="Arial MT"/>
                <a:cs typeface="Arial MT"/>
              </a:rPr>
              <a:t>SVG</a:t>
            </a:r>
            <a:r>
              <a:rPr sz="350" spc="95" dirty="0">
                <a:latin typeface="Arial MT"/>
                <a:cs typeface="Arial MT"/>
              </a:rPr>
              <a:t> </a:t>
            </a:r>
            <a:r>
              <a:rPr sz="350" spc="20" dirty="0">
                <a:latin typeface="Arial MT"/>
                <a:cs typeface="Arial MT"/>
              </a:rPr>
              <a:t>-</a:t>
            </a:r>
            <a:r>
              <a:rPr sz="350" spc="60" dirty="0">
                <a:latin typeface="Arial MT"/>
                <a:cs typeface="Arial MT"/>
              </a:rPr>
              <a:t> </a:t>
            </a:r>
            <a:r>
              <a:rPr sz="350" spc="50" dirty="0">
                <a:latin typeface="Arial MT"/>
                <a:cs typeface="Arial MT"/>
              </a:rPr>
              <a:t>cannot</a:t>
            </a:r>
            <a:r>
              <a:rPr sz="350" spc="100" dirty="0">
                <a:latin typeface="Arial MT"/>
                <a:cs typeface="Arial MT"/>
              </a:rPr>
              <a:t> </a:t>
            </a:r>
            <a:r>
              <a:rPr sz="350" spc="35" dirty="0">
                <a:latin typeface="Arial MT"/>
                <a:cs typeface="Arial MT"/>
              </a:rPr>
              <a:t>display</a:t>
            </a:r>
            <a:endParaRPr sz="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2238755"/>
              <a:ext cx="1438656" cy="143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233172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13" y="1970"/>
                  </a:lnTo>
                  <a:lnTo>
                    <a:pt x="497951" y="7778"/>
                  </a:lnTo>
                  <a:lnTo>
                    <a:pt x="451528" y="17271"/>
                  </a:lnTo>
                  <a:lnTo>
                    <a:pt x="406495" y="30297"/>
                  </a:lnTo>
                  <a:lnTo>
                    <a:pt x="363007" y="46702"/>
                  </a:lnTo>
                  <a:lnTo>
                    <a:pt x="321216" y="66334"/>
                  </a:lnTo>
                  <a:lnTo>
                    <a:pt x="281276" y="89039"/>
                  </a:lnTo>
                  <a:lnTo>
                    <a:pt x="243338" y="114665"/>
                  </a:lnTo>
                  <a:lnTo>
                    <a:pt x="207556" y="143060"/>
                  </a:lnTo>
                  <a:lnTo>
                    <a:pt x="174083" y="174069"/>
                  </a:lnTo>
                  <a:lnTo>
                    <a:pt x="143072" y="207540"/>
                  </a:lnTo>
                  <a:lnTo>
                    <a:pt x="114676" y="243321"/>
                  </a:lnTo>
                  <a:lnTo>
                    <a:pt x="89048" y="281259"/>
                  </a:lnTo>
                  <a:lnTo>
                    <a:pt x="66341" y="321200"/>
                  </a:lnTo>
                  <a:lnTo>
                    <a:pt x="46707" y="362991"/>
                  </a:lnTo>
                  <a:lnTo>
                    <a:pt x="30300" y="406481"/>
                  </a:lnTo>
                  <a:lnTo>
                    <a:pt x="17273" y="451515"/>
                  </a:lnTo>
                  <a:lnTo>
                    <a:pt x="7779" y="497942"/>
                  </a:lnTo>
                  <a:lnTo>
                    <a:pt x="1970" y="545607"/>
                  </a:lnTo>
                  <a:lnTo>
                    <a:pt x="0" y="594359"/>
                  </a:lnTo>
                  <a:lnTo>
                    <a:pt x="1970" y="643112"/>
                  </a:lnTo>
                  <a:lnTo>
                    <a:pt x="7779" y="690777"/>
                  </a:lnTo>
                  <a:lnTo>
                    <a:pt x="17273" y="737204"/>
                  </a:lnTo>
                  <a:lnTo>
                    <a:pt x="30300" y="782238"/>
                  </a:lnTo>
                  <a:lnTo>
                    <a:pt x="46707" y="825728"/>
                  </a:lnTo>
                  <a:lnTo>
                    <a:pt x="66341" y="867519"/>
                  </a:lnTo>
                  <a:lnTo>
                    <a:pt x="89048" y="907460"/>
                  </a:lnTo>
                  <a:lnTo>
                    <a:pt x="114676" y="945398"/>
                  </a:lnTo>
                  <a:lnTo>
                    <a:pt x="143072" y="981179"/>
                  </a:lnTo>
                  <a:lnTo>
                    <a:pt x="174083" y="1014650"/>
                  </a:lnTo>
                  <a:lnTo>
                    <a:pt x="207556" y="1045659"/>
                  </a:lnTo>
                  <a:lnTo>
                    <a:pt x="243338" y="1074054"/>
                  </a:lnTo>
                  <a:lnTo>
                    <a:pt x="281276" y="1099680"/>
                  </a:lnTo>
                  <a:lnTo>
                    <a:pt x="321216" y="1122385"/>
                  </a:lnTo>
                  <a:lnTo>
                    <a:pt x="363007" y="1142017"/>
                  </a:lnTo>
                  <a:lnTo>
                    <a:pt x="406495" y="1158422"/>
                  </a:lnTo>
                  <a:lnTo>
                    <a:pt x="451528" y="1171448"/>
                  </a:lnTo>
                  <a:lnTo>
                    <a:pt x="497951" y="1180941"/>
                  </a:lnTo>
                  <a:lnTo>
                    <a:pt x="545613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59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" y="2670048"/>
              <a:ext cx="512064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90673" y="2179141"/>
            <a:ext cx="796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>
                <a:solidFill>
                  <a:srgbClr val="0891B1"/>
                </a:solidFill>
              </a:rPr>
              <a:t>04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645668" y="3583304"/>
            <a:ext cx="5511165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Database</a:t>
            </a:r>
            <a:r>
              <a:rPr sz="4000" b="1" spc="-1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Implementation</a:t>
            </a:r>
            <a:endParaRPr sz="4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900"/>
              </a:spcBef>
            </a:pP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SQL</a:t>
            </a:r>
            <a:r>
              <a:rPr sz="1500" i="1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schema,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constraints,</a:t>
            </a:r>
            <a:r>
              <a:rPr sz="15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 indexes</a:t>
            </a:r>
            <a:r>
              <a:rPr sz="15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on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PostgreSQL</a:t>
            </a:r>
            <a:r>
              <a:rPr sz="1500" i="1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/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Neon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DB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26441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Why</a:t>
            </a:r>
            <a:r>
              <a:rPr sz="2800" spc="-70" dirty="0"/>
              <a:t> </a:t>
            </a:r>
            <a:r>
              <a:rPr sz="2800" spc="-10" dirty="0"/>
              <a:t>PostgreSQL</a:t>
            </a:r>
            <a:r>
              <a:rPr sz="2800" spc="-40" dirty="0"/>
              <a:t> </a:t>
            </a:r>
            <a:r>
              <a:rPr sz="2800" dirty="0"/>
              <a:t>on</a:t>
            </a:r>
            <a:r>
              <a:rPr sz="2800" spc="-70" dirty="0"/>
              <a:t> </a:t>
            </a:r>
            <a:r>
              <a:rPr sz="2800" dirty="0"/>
              <a:t>Neon</a:t>
            </a:r>
            <a:r>
              <a:rPr sz="2800" spc="-55" dirty="0"/>
              <a:t> </a:t>
            </a:r>
            <a:r>
              <a:rPr sz="2800" spc="-25" dirty="0"/>
              <a:t>DB</a:t>
            </a:r>
            <a:endParaRPr sz="2800"/>
          </a:p>
        </p:txBody>
      </p:sp>
      <p:grpSp>
        <p:nvGrpSpPr>
          <p:cNvPr id="4" name="object 4"/>
          <p:cNvGrpSpPr/>
          <p:nvPr/>
        </p:nvGrpSpPr>
        <p:grpSpPr>
          <a:xfrm>
            <a:off x="589737" y="1412701"/>
            <a:ext cx="5480050" cy="1959610"/>
            <a:chOff x="589737" y="1412701"/>
            <a:chExt cx="5480050" cy="1959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37" y="1412701"/>
              <a:ext cx="5479643" cy="195919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0079" y="1463039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525780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1737360"/>
                  </a:lnTo>
                  <a:lnTo>
                    <a:pt x="7186" y="1772971"/>
                  </a:lnTo>
                  <a:lnTo>
                    <a:pt x="26784" y="1802034"/>
                  </a:lnTo>
                  <a:lnTo>
                    <a:pt x="55849" y="1821620"/>
                  </a:lnTo>
                  <a:lnTo>
                    <a:pt x="91440" y="1828800"/>
                  </a:lnTo>
                  <a:lnTo>
                    <a:pt x="5257800" y="1828800"/>
                  </a:lnTo>
                  <a:lnTo>
                    <a:pt x="5293411" y="1821620"/>
                  </a:lnTo>
                  <a:lnTo>
                    <a:pt x="5322474" y="1802034"/>
                  </a:lnTo>
                  <a:lnTo>
                    <a:pt x="5342060" y="1772971"/>
                  </a:lnTo>
                  <a:lnTo>
                    <a:pt x="5349240" y="1737360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79" y="1463039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737360"/>
                  </a:lnTo>
                  <a:lnTo>
                    <a:pt x="5342060" y="1772971"/>
                  </a:lnTo>
                  <a:lnTo>
                    <a:pt x="5322474" y="1802034"/>
                  </a:lnTo>
                  <a:lnTo>
                    <a:pt x="5293411" y="1821620"/>
                  </a:lnTo>
                  <a:lnTo>
                    <a:pt x="5257800" y="1828800"/>
                  </a:lnTo>
                  <a:lnTo>
                    <a:pt x="91440" y="1828800"/>
                  </a:lnTo>
                  <a:lnTo>
                    <a:pt x="55849" y="1821620"/>
                  </a:lnTo>
                  <a:lnTo>
                    <a:pt x="26784" y="1802034"/>
                  </a:lnTo>
                  <a:lnTo>
                    <a:pt x="7186" y="1772971"/>
                  </a:lnTo>
                  <a:lnTo>
                    <a:pt x="0" y="17373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8679" y="171907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2" y="370042"/>
                  </a:lnTo>
                  <a:lnTo>
                    <a:pt x="37453" y="412778"/>
                  </a:lnTo>
                  <a:lnTo>
                    <a:pt x="64518" y="451064"/>
                  </a:lnTo>
                  <a:lnTo>
                    <a:pt x="97580" y="484126"/>
                  </a:lnTo>
                  <a:lnTo>
                    <a:pt x="135867" y="511189"/>
                  </a:lnTo>
                  <a:lnTo>
                    <a:pt x="178602" y="531478"/>
                  </a:lnTo>
                  <a:lnTo>
                    <a:pt x="225011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5839" y="1856231"/>
              <a:ext cx="274320" cy="27432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87753" y="1730705"/>
            <a:ext cx="115697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PostgreSQL </a:t>
            </a:r>
            <a:r>
              <a:rPr sz="1500" b="1" spc="-25" dirty="0">
                <a:solidFill>
                  <a:srgbClr val="1E293A"/>
                </a:solidFill>
                <a:latin typeface="Calibri"/>
                <a:cs typeface="Calibri"/>
              </a:rPr>
              <a:t>16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7753" y="2412593"/>
            <a:ext cx="4044315" cy="446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499"/>
              </a:lnSpc>
              <a:spcBef>
                <a:spcPts val="95"/>
              </a:spcBef>
            </a:pP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Open-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source,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ACID-compliant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relational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database.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Supports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UUID</a:t>
            </a:r>
            <a:r>
              <a:rPr sz="1100" spc="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keys,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TIMESTAMPTZ,</a:t>
            </a:r>
            <a:r>
              <a:rPr sz="1100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pgcrypto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extension.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21857" y="1412701"/>
            <a:ext cx="5480050" cy="1959610"/>
            <a:chOff x="6121857" y="1412701"/>
            <a:chExt cx="5480050" cy="195961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857" y="1412701"/>
              <a:ext cx="5479643" cy="195919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72200" y="1463039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5257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737360"/>
                  </a:lnTo>
                  <a:lnTo>
                    <a:pt x="7179" y="1772971"/>
                  </a:lnTo>
                  <a:lnTo>
                    <a:pt x="26765" y="1802034"/>
                  </a:lnTo>
                  <a:lnTo>
                    <a:pt x="55828" y="1821620"/>
                  </a:lnTo>
                  <a:lnTo>
                    <a:pt x="91439" y="1828800"/>
                  </a:lnTo>
                  <a:lnTo>
                    <a:pt x="5257800" y="1828800"/>
                  </a:lnTo>
                  <a:lnTo>
                    <a:pt x="5293411" y="1821620"/>
                  </a:lnTo>
                  <a:lnTo>
                    <a:pt x="5322474" y="1802034"/>
                  </a:lnTo>
                  <a:lnTo>
                    <a:pt x="5342060" y="1772971"/>
                  </a:lnTo>
                  <a:lnTo>
                    <a:pt x="5349240" y="1737360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72200" y="1463039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737360"/>
                  </a:lnTo>
                  <a:lnTo>
                    <a:pt x="5342060" y="1772971"/>
                  </a:lnTo>
                  <a:lnTo>
                    <a:pt x="5322474" y="1802034"/>
                  </a:lnTo>
                  <a:lnTo>
                    <a:pt x="5293411" y="1821620"/>
                  </a:lnTo>
                  <a:lnTo>
                    <a:pt x="5257800" y="1828800"/>
                  </a:lnTo>
                  <a:lnTo>
                    <a:pt x="91439" y="1828800"/>
                  </a:lnTo>
                  <a:lnTo>
                    <a:pt x="55828" y="1821620"/>
                  </a:lnTo>
                  <a:lnTo>
                    <a:pt x="26765" y="1802034"/>
                  </a:lnTo>
                  <a:lnTo>
                    <a:pt x="7179" y="1772971"/>
                  </a:lnTo>
                  <a:lnTo>
                    <a:pt x="0" y="173736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800" y="1719071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37959" y="1856231"/>
              <a:ext cx="274320" cy="2743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20508" y="1730705"/>
            <a:ext cx="7213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Neon</a:t>
            </a:r>
            <a:r>
              <a:rPr sz="1500" b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1E293A"/>
                </a:solidFill>
                <a:latin typeface="Calibri"/>
                <a:cs typeface="Calibri"/>
              </a:rPr>
              <a:t>DB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20508" y="2412593"/>
            <a:ext cx="3905250" cy="446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499"/>
              </a:lnSpc>
              <a:spcBef>
                <a:spcPts val="95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Serverless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cloud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host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for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PostgreSQL.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Free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tier,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automatic</a:t>
            </a:r>
            <a:r>
              <a:rPr sz="1100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scaling,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no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infrastructure</a:t>
            </a:r>
            <a:r>
              <a:rPr sz="1100" spc="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00" spc="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manage.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89737" y="3424382"/>
            <a:ext cx="5480050" cy="1959610"/>
            <a:chOff x="589737" y="3424382"/>
            <a:chExt cx="5480050" cy="1959610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737" y="3424382"/>
              <a:ext cx="5479643" cy="195919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40079" y="3474720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5257800" y="0"/>
                  </a:moveTo>
                  <a:lnTo>
                    <a:pt x="91440" y="0"/>
                  </a:lnTo>
                  <a:lnTo>
                    <a:pt x="55849" y="7179"/>
                  </a:lnTo>
                  <a:lnTo>
                    <a:pt x="26784" y="26765"/>
                  </a:lnTo>
                  <a:lnTo>
                    <a:pt x="7186" y="55828"/>
                  </a:lnTo>
                  <a:lnTo>
                    <a:pt x="0" y="91439"/>
                  </a:lnTo>
                  <a:lnTo>
                    <a:pt x="0" y="1737359"/>
                  </a:lnTo>
                  <a:lnTo>
                    <a:pt x="7186" y="1772971"/>
                  </a:lnTo>
                  <a:lnTo>
                    <a:pt x="26784" y="1802034"/>
                  </a:lnTo>
                  <a:lnTo>
                    <a:pt x="55849" y="1821620"/>
                  </a:lnTo>
                  <a:lnTo>
                    <a:pt x="91440" y="1828799"/>
                  </a:lnTo>
                  <a:lnTo>
                    <a:pt x="5257800" y="1828799"/>
                  </a:lnTo>
                  <a:lnTo>
                    <a:pt x="5293411" y="1821620"/>
                  </a:lnTo>
                  <a:lnTo>
                    <a:pt x="5322474" y="1802034"/>
                  </a:lnTo>
                  <a:lnTo>
                    <a:pt x="5342060" y="1772971"/>
                  </a:lnTo>
                  <a:lnTo>
                    <a:pt x="5349240" y="1737359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0079" y="3474720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0" y="91439"/>
                  </a:moveTo>
                  <a:lnTo>
                    <a:pt x="7186" y="55828"/>
                  </a:lnTo>
                  <a:lnTo>
                    <a:pt x="26784" y="26765"/>
                  </a:lnTo>
                  <a:lnTo>
                    <a:pt x="55849" y="7179"/>
                  </a:lnTo>
                  <a:lnTo>
                    <a:pt x="91440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737359"/>
                  </a:lnTo>
                  <a:lnTo>
                    <a:pt x="5342060" y="1772971"/>
                  </a:lnTo>
                  <a:lnTo>
                    <a:pt x="5322474" y="1802034"/>
                  </a:lnTo>
                  <a:lnTo>
                    <a:pt x="5293411" y="1821620"/>
                  </a:lnTo>
                  <a:lnTo>
                    <a:pt x="5257800" y="1828799"/>
                  </a:lnTo>
                  <a:lnTo>
                    <a:pt x="91440" y="1828799"/>
                  </a:lnTo>
                  <a:lnTo>
                    <a:pt x="55849" y="1821620"/>
                  </a:lnTo>
                  <a:lnTo>
                    <a:pt x="26784" y="1802034"/>
                  </a:lnTo>
                  <a:lnTo>
                    <a:pt x="7186" y="1772971"/>
                  </a:lnTo>
                  <a:lnTo>
                    <a:pt x="0" y="1737359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8679" y="373075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2" y="370042"/>
                  </a:lnTo>
                  <a:lnTo>
                    <a:pt x="37453" y="412778"/>
                  </a:lnTo>
                  <a:lnTo>
                    <a:pt x="64518" y="451064"/>
                  </a:lnTo>
                  <a:lnTo>
                    <a:pt x="97580" y="484126"/>
                  </a:lnTo>
                  <a:lnTo>
                    <a:pt x="135867" y="511189"/>
                  </a:lnTo>
                  <a:lnTo>
                    <a:pt x="178602" y="531478"/>
                  </a:lnTo>
                  <a:lnTo>
                    <a:pt x="225011" y="544220"/>
                  </a:lnTo>
                  <a:lnTo>
                    <a:pt x="274319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39" y="3867912"/>
              <a:ext cx="274320" cy="274319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587753" y="3743325"/>
            <a:ext cx="1534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pgcrypto</a:t>
            </a:r>
            <a:r>
              <a:rPr sz="1500" b="1" spc="-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Extension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7753" y="4423810"/>
            <a:ext cx="3810000" cy="4476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Provides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gen_random_uuid(),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used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as the DEFAULT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value</a:t>
            </a:r>
            <a:r>
              <a:rPr sz="1100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for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device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anonymous_id.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21857" y="3424382"/>
            <a:ext cx="5480050" cy="1959610"/>
            <a:chOff x="6121857" y="3424382"/>
            <a:chExt cx="5480050" cy="195961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1857" y="3424382"/>
              <a:ext cx="5479643" cy="1959194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72200" y="3474720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5257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737359"/>
                  </a:lnTo>
                  <a:lnTo>
                    <a:pt x="7179" y="1772971"/>
                  </a:lnTo>
                  <a:lnTo>
                    <a:pt x="26765" y="1802034"/>
                  </a:lnTo>
                  <a:lnTo>
                    <a:pt x="55828" y="1821620"/>
                  </a:lnTo>
                  <a:lnTo>
                    <a:pt x="91439" y="1828799"/>
                  </a:lnTo>
                  <a:lnTo>
                    <a:pt x="5257800" y="1828799"/>
                  </a:lnTo>
                  <a:lnTo>
                    <a:pt x="5293411" y="1821620"/>
                  </a:lnTo>
                  <a:lnTo>
                    <a:pt x="5322474" y="1802034"/>
                  </a:lnTo>
                  <a:lnTo>
                    <a:pt x="5342060" y="1772971"/>
                  </a:lnTo>
                  <a:lnTo>
                    <a:pt x="5349240" y="1737359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72200" y="3474720"/>
              <a:ext cx="5349240" cy="1828800"/>
            </a:xfrm>
            <a:custGeom>
              <a:avLst/>
              <a:gdLst/>
              <a:ahLst/>
              <a:cxnLst/>
              <a:rect l="l" t="t" r="r" b="b"/>
              <a:pathLst>
                <a:path w="5349240" h="1828800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737359"/>
                  </a:lnTo>
                  <a:lnTo>
                    <a:pt x="5342060" y="1772971"/>
                  </a:lnTo>
                  <a:lnTo>
                    <a:pt x="5322474" y="1802034"/>
                  </a:lnTo>
                  <a:lnTo>
                    <a:pt x="5293411" y="1821620"/>
                  </a:lnTo>
                  <a:lnTo>
                    <a:pt x="5257800" y="1828799"/>
                  </a:lnTo>
                  <a:lnTo>
                    <a:pt x="91439" y="1828799"/>
                  </a:lnTo>
                  <a:lnTo>
                    <a:pt x="55828" y="1821620"/>
                  </a:lnTo>
                  <a:lnTo>
                    <a:pt x="26765" y="1802034"/>
                  </a:lnTo>
                  <a:lnTo>
                    <a:pt x="7179" y="1772971"/>
                  </a:lnTo>
                  <a:lnTo>
                    <a:pt x="0" y="1737359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00800" y="3730752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7959" y="3867912"/>
              <a:ext cx="274320" cy="27431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120508" y="3743325"/>
            <a:ext cx="7200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SSL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/</a:t>
            </a:r>
            <a:r>
              <a:rPr sz="1500" b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1E293A"/>
                </a:solidFill>
                <a:latin typeface="Calibri"/>
                <a:cs typeface="Calibri"/>
              </a:rPr>
              <a:t>TLS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5" name="object 35"/>
          <p:cNvSpPr txBox="1"/>
          <p:nvPr/>
        </p:nvSpPr>
        <p:spPr>
          <a:xfrm>
            <a:off x="7120508" y="4423810"/>
            <a:ext cx="3671570" cy="44767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All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connections</a:t>
            </a:r>
            <a:r>
              <a:rPr sz="1100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Neon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DB</a:t>
            </a:r>
            <a:r>
              <a:rPr sz="110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are</a:t>
            </a:r>
            <a:r>
              <a:rPr sz="110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encrypted</a:t>
            </a:r>
            <a:r>
              <a:rPr sz="110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in</a:t>
            </a:r>
            <a:r>
              <a:rPr sz="110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transit,</a:t>
            </a:r>
            <a:r>
              <a:rPr sz="110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63748A"/>
                </a:solidFill>
                <a:latin typeface="Calibri"/>
                <a:cs typeface="Calibri"/>
              </a:rPr>
              <a:t>enforced</a:t>
            </a:r>
            <a:r>
              <a:rPr sz="11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3748A"/>
                </a:solidFill>
                <a:latin typeface="Calibri"/>
                <a:cs typeface="Calibri"/>
              </a:rPr>
              <a:t>by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100" spc="-10" dirty="0">
                <a:solidFill>
                  <a:srgbClr val="63748A"/>
                </a:solidFill>
                <a:latin typeface="Calibri"/>
                <a:cs typeface="Calibri"/>
              </a:rPr>
              <a:t>sslmode=require.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7380" y="448767"/>
            <a:ext cx="26441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</a:rPr>
              <a:t>Creating</a:t>
            </a:r>
            <a:r>
              <a:rPr sz="2400" spc="-8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the</a:t>
            </a:r>
            <a:r>
              <a:rPr sz="2400" spc="-70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subscriber_device</a:t>
            </a:r>
            <a:r>
              <a:rPr sz="2400" spc="-85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Table</a:t>
            </a:r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633730" y="1410969"/>
            <a:ext cx="10894060" cy="4173220"/>
            <a:chOff x="633730" y="1410969"/>
            <a:chExt cx="10894060" cy="4173220"/>
          </a:xfrm>
        </p:grpSpPr>
        <p:sp>
          <p:nvSpPr>
            <p:cNvPr id="6" name="object 6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10808208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087367"/>
                  </a:lnTo>
                  <a:lnTo>
                    <a:pt x="5746" y="4115835"/>
                  </a:lnTo>
                  <a:lnTo>
                    <a:pt x="21420" y="4139088"/>
                  </a:lnTo>
                  <a:lnTo>
                    <a:pt x="44668" y="4154769"/>
                  </a:lnTo>
                  <a:lnTo>
                    <a:pt x="73139" y="4160519"/>
                  </a:lnTo>
                  <a:lnTo>
                    <a:pt x="10808208" y="4160519"/>
                  </a:lnTo>
                  <a:lnTo>
                    <a:pt x="10836675" y="4154769"/>
                  </a:lnTo>
                  <a:lnTo>
                    <a:pt x="10859928" y="4139088"/>
                  </a:lnTo>
                  <a:lnTo>
                    <a:pt x="10875609" y="4115835"/>
                  </a:lnTo>
                  <a:lnTo>
                    <a:pt x="10881360" y="4087367"/>
                  </a:lnTo>
                  <a:lnTo>
                    <a:pt x="10881360" y="73151"/>
                  </a:lnTo>
                  <a:lnTo>
                    <a:pt x="10875609" y="44684"/>
                  </a:lnTo>
                  <a:lnTo>
                    <a:pt x="10859928" y="21431"/>
                  </a:lnTo>
                  <a:lnTo>
                    <a:pt x="10836675" y="5750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0E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10808208" y="0"/>
                  </a:lnTo>
                  <a:lnTo>
                    <a:pt x="10836675" y="5750"/>
                  </a:lnTo>
                  <a:lnTo>
                    <a:pt x="10859928" y="21431"/>
                  </a:lnTo>
                  <a:lnTo>
                    <a:pt x="10875609" y="44684"/>
                  </a:lnTo>
                  <a:lnTo>
                    <a:pt x="10881360" y="73151"/>
                  </a:lnTo>
                  <a:lnTo>
                    <a:pt x="10881360" y="4087367"/>
                  </a:lnTo>
                  <a:lnTo>
                    <a:pt x="10875609" y="4115835"/>
                  </a:lnTo>
                  <a:lnTo>
                    <a:pt x="10859928" y="4139088"/>
                  </a:lnTo>
                  <a:lnTo>
                    <a:pt x="10836675" y="4154769"/>
                  </a:lnTo>
                  <a:lnTo>
                    <a:pt x="10808208" y="4160519"/>
                  </a:lnTo>
                  <a:lnTo>
                    <a:pt x="73139" y="4160519"/>
                  </a:lnTo>
                  <a:lnTo>
                    <a:pt x="44668" y="4154769"/>
                  </a:lnTo>
                  <a:lnTo>
                    <a:pt x="21420" y="4139088"/>
                  </a:lnTo>
                  <a:lnTo>
                    <a:pt x="5746" y="4115835"/>
                  </a:lnTo>
                  <a:lnTo>
                    <a:pt x="0" y="408736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1700" y="1839848"/>
            <a:ext cx="4359910" cy="748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3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EXTENSION</a:t>
            </a:r>
            <a:r>
              <a:rPr sz="135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IF</a:t>
            </a:r>
            <a:r>
              <a:rPr sz="13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NOT</a:t>
            </a:r>
            <a:r>
              <a:rPr sz="135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EXISTS</a:t>
            </a:r>
            <a:r>
              <a:rPr sz="1350" spc="-2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7CD2FB"/>
                </a:solidFill>
                <a:latin typeface="Courier New"/>
                <a:cs typeface="Courier New"/>
              </a:rPr>
              <a:t>"pgcrypto";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35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TABLE</a:t>
            </a:r>
            <a:r>
              <a:rPr sz="135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subscriber_device</a:t>
            </a:r>
            <a:r>
              <a:rPr sz="135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7CD2FB"/>
                </a:solidFill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82650" y="2652916"/>
          <a:ext cx="8217533" cy="250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2270"/>
                <a:gridCol w="1289684"/>
                <a:gridCol w="4005579"/>
              </a:tblGrid>
              <a:tr h="226060">
                <a:tc>
                  <a:txBody>
                    <a:bodyPr/>
                    <a:lstStyle/>
                    <a:p>
                      <a:pPr marL="446405">
                        <a:lnSpc>
                          <a:spcPts val="1400"/>
                        </a:lnSpc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anonymous_id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400"/>
                        </a:lnSpc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UUID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400"/>
                        </a:lnSpc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PRIMARY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KEY</a:t>
                      </a: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gen_random_uuid(),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device_model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os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app_version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consent_given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data_collection_enabled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TRUE,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wifi_only_uploads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notifications_enabled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registered_at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TIMESTAMPTZ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NOW()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</a:tr>
              <a:tr h="2260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27380" y="5877559"/>
            <a:ext cx="6236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anonymous_id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defaults</a:t>
            </a:r>
            <a:r>
              <a:rPr sz="1200" i="1" spc="-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to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gen_random_uuid()</a:t>
            </a:r>
            <a:r>
              <a:rPr sz="1200" i="1" spc="2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generated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automatically,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never</a:t>
            </a:r>
            <a:r>
              <a:rPr sz="12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supplied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by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the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client.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7380" y="448767"/>
            <a:ext cx="26441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7380" y="722121"/>
            <a:ext cx="64185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</a:rPr>
              <a:t>Creating</a:t>
            </a:r>
            <a:r>
              <a:rPr sz="2400" spc="-8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the</a:t>
            </a:r>
            <a:r>
              <a:rPr sz="2400" spc="-70" dirty="0">
                <a:solidFill>
                  <a:srgbClr val="FFFFFF"/>
                </a:solidFill>
              </a:rPr>
              <a:t> </a:t>
            </a:r>
            <a:r>
              <a:rPr lang="en-US" sz="2400" spc="-70" dirty="0" smtClean="0">
                <a:solidFill>
                  <a:srgbClr val="FFFFFF"/>
                </a:solidFill>
              </a:rPr>
              <a:t>Feedback </a:t>
            </a:r>
            <a:r>
              <a:rPr sz="2400" spc="-10" dirty="0" smtClean="0">
                <a:solidFill>
                  <a:srgbClr val="FFFFFF"/>
                </a:solidFill>
              </a:rPr>
              <a:t>Table</a:t>
            </a:r>
            <a:endParaRPr sz="2400" dirty="0"/>
          </a:p>
        </p:txBody>
      </p:sp>
      <p:grpSp>
        <p:nvGrpSpPr>
          <p:cNvPr id="5" name="object 5"/>
          <p:cNvGrpSpPr/>
          <p:nvPr/>
        </p:nvGrpSpPr>
        <p:grpSpPr>
          <a:xfrm>
            <a:off x="633730" y="1410969"/>
            <a:ext cx="10894060" cy="4173220"/>
            <a:chOff x="633730" y="1410969"/>
            <a:chExt cx="10894060" cy="4173220"/>
          </a:xfrm>
        </p:grpSpPr>
        <p:sp>
          <p:nvSpPr>
            <p:cNvPr id="6" name="object 6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10808208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087367"/>
                  </a:lnTo>
                  <a:lnTo>
                    <a:pt x="5746" y="4115835"/>
                  </a:lnTo>
                  <a:lnTo>
                    <a:pt x="21420" y="4139088"/>
                  </a:lnTo>
                  <a:lnTo>
                    <a:pt x="44668" y="4154769"/>
                  </a:lnTo>
                  <a:lnTo>
                    <a:pt x="73139" y="4160519"/>
                  </a:lnTo>
                  <a:lnTo>
                    <a:pt x="10808208" y="4160519"/>
                  </a:lnTo>
                  <a:lnTo>
                    <a:pt x="10836675" y="4154769"/>
                  </a:lnTo>
                  <a:lnTo>
                    <a:pt x="10859928" y="4139088"/>
                  </a:lnTo>
                  <a:lnTo>
                    <a:pt x="10875609" y="4115835"/>
                  </a:lnTo>
                  <a:lnTo>
                    <a:pt x="10881360" y="4087367"/>
                  </a:lnTo>
                  <a:lnTo>
                    <a:pt x="10881360" y="73151"/>
                  </a:lnTo>
                  <a:lnTo>
                    <a:pt x="10875609" y="44684"/>
                  </a:lnTo>
                  <a:lnTo>
                    <a:pt x="10859928" y="21431"/>
                  </a:lnTo>
                  <a:lnTo>
                    <a:pt x="10836675" y="5750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0E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10808208" y="0"/>
                  </a:lnTo>
                  <a:lnTo>
                    <a:pt x="10836675" y="5750"/>
                  </a:lnTo>
                  <a:lnTo>
                    <a:pt x="10859928" y="21431"/>
                  </a:lnTo>
                  <a:lnTo>
                    <a:pt x="10875609" y="44684"/>
                  </a:lnTo>
                  <a:lnTo>
                    <a:pt x="10881360" y="73151"/>
                  </a:lnTo>
                  <a:lnTo>
                    <a:pt x="10881360" y="4087367"/>
                  </a:lnTo>
                  <a:lnTo>
                    <a:pt x="10875609" y="4115835"/>
                  </a:lnTo>
                  <a:lnTo>
                    <a:pt x="10859928" y="4139088"/>
                  </a:lnTo>
                  <a:lnTo>
                    <a:pt x="10836675" y="4154769"/>
                  </a:lnTo>
                  <a:lnTo>
                    <a:pt x="10808208" y="4160519"/>
                  </a:lnTo>
                  <a:lnTo>
                    <a:pt x="73139" y="4160519"/>
                  </a:lnTo>
                  <a:lnTo>
                    <a:pt x="44668" y="4154769"/>
                  </a:lnTo>
                  <a:lnTo>
                    <a:pt x="21420" y="4139088"/>
                  </a:lnTo>
                  <a:lnTo>
                    <a:pt x="5746" y="4115835"/>
                  </a:lnTo>
                  <a:lnTo>
                    <a:pt x="0" y="408736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1700" y="1839848"/>
            <a:ext cx="4359910" cy="748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3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EXTENSION</a:t>
            </a:r>
            <a:r>
              <a:rPr sz="135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IF</a:t>
            </a:r>
            <a:r>
              <a:rPr sz="13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NOT</a:t>
            </a:r>
            <a:r>
              <a:rPr sz="135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EXISTS</a:t>
            </a:r>
            <a:r>
              <a:rPr sz="1350" spc="-2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7CD2FB"/>
                </a:solidFill>
                <a:latin typeface="Courier New"/>
                <a:cs typeface="Courier New"/>
              </a:rPr>
              <a:t>"pgcrypto";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35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TABLE</a:t>
            </a:r>
            <a:r>
              <a:rPr sz="135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subscriber_device</a:t>
            </a:r>
            <a:r>
              <a:rPr sz="135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7CD2FB"/>
                </a:solidFill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82650" y="2652916"/>
          <a:ext cx="8217533" cy="250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2270"/>
                <a:gridCol w="1289684"/>
                <a:gridCol w="4005579"/>
              </a:tblGrid>
              <a:tr h="226060">
                <a:tc>
                  <a:txBody>
                    <a:bodyPr/>
                    <a:lstStyle/>
                    <a:p>
                      <a:pPr marL="446405">
                        <a:lnSpc>
                          <a:spcPts val="1400"/>
                        </a:lnSpc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anonymous_id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400"/>
                        </a:lnSpc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UUID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400"/>
                        </a:lnSpc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PRIMARY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KEY</a:t>
                      </a: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gen_random_uuid(),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device_model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os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app_version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consent_given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data_collection_enabled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TRUE,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wifi_only_uploads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notifications_enabled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registered_at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TIMESTAMPTZ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NOW()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</a:tr>
              <a:tr h="2260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27380" y="5877559"/>
            <a:ext cx="6236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anonymous_id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defaults</a:t>
            </a:r>
            <a:r>
              <a:rPr sz="1200" i="1" spc="-5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to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gen_random_uuid()</a:t>
            </a:r>
            <a:r>
              <a:rPr sz="1200" i="1" spc="24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generated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automatically,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never</a:t>
            </a:r>
            <a:r>
              <a:rPr sz="12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supplied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by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the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client.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6102"/>
            <a:ext cx="10881360" cy="425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42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7380" y="448767"/>
            <a:ext cx="26441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27380" y="722121"/>
            <a:ext cx="64185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70" dirty="0" smtClean="0">
                <a:solidFill>
                  <a:srgbClr val="FFFFFF"/>
                </a:solidFill>
              </a:rPr>
              <a:t>Feedback </a:t>
            </a:r>
            <a:r>
              <a:rPr sz="2400" spc="-10" dirty="0" smtClean="0">
                <a:solidFill>
                  <a:srgbClr val="FFFFFF"/>
                </a:solidFill>
              </a:rPr>
              <a:t>Table</a:t>
            </a:r>
            <a:r>
              <a:rPr lang="en-US" sz="2400" spc="-10" dirty="0" smtClean="0">
                <a:solidFill>
                  <a:srgbClr val="FFFFFF"/>
                </a:solidFill>
              </a:rPr>
              <a:t> Constraints</a:t>
            </a:r>
            <a:endParaRPr sz="2400" dirty="0"/>
          </a:p>
        </p:txBody>
      </p:sp>
      <p:grpSp>
        <p:nvGrpSpPr>
          <p:cNvPr id="5" name="object 5"/>
          <p:cNvGrpSpPr/>
          <p:nvPr/>
        </p:nvGrpSpPr>
        <p:grpSpPr>
          <a:xfrm>
            <a:off x="633730" y="1410969"/>
            <a:ext cx="10894060" cy="4173220"/>
            <a:chOff x="633730" y="1410969"/>
            <a:chExt cx="10894060" cy="4173220"/>
          </a:xfrm>
        </p:grpSpPr>
        <p:sp>
          <p:nvSpPr>
            <p:cNvPr id="6" name="object 6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10808208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087367"/>
                  </a:lnTo>
                  <a:lnTo>
                    <a:pt x="5746" y="4115835"/>
                  </a:lnTo>
                  <a:lnTo>
                    <a:pt x="21420" y="4139088"/>
                  </a:lnTo>
                  <a:lnTo>
                    <a:pt x="44668" y="4154769"/>
                  </a:lnTo>
                  <a:lnTo>
                    <a:pt x="73139" y="4160519"/>
                  </a:lnTo>
                  <a:lnTo>
                    <a:pt x="10808208" y="4160519"/>
                  </a:lnTo>
                  <a:lnTo>
                    <a:pt x="10836675" y="4154769"/>
                  </a:lnTo>
                  <a:lnTo>
                    <a:pt x="10859928" y="4139088"/>
                  </a:lnTo>
                  <a:lnTo>
                    <a:pt x="10875609" y="4115835"/>
                  </a:lnTo>
                  <a:lnTo>
                    <a:pt x="10881360" y="4087367"/>
                  </a:lnTo>
                  <a:lnTo>
                    <a:pt x="10881360" y="73151"/>
                  </a:lnTo>
                  <a:lnTo>
                    <a:pt x="10875609" y="44684"/>
                  </a:lnTo>
                  <a:lnTo>
                    <a:pt x="10859928" y="21431"/>
                  </a:lnTo>
                  <a:lnTo>
                    <a:pt x="10836675" y="5750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0E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10808208" y="0"/>
                  </a:lnTo>
                  <a:lnTo>
                    <a:pt x="10836675" y="5750"/>
                  </a:lnTo>
                  <a:lnTo>
                    <a:pt x="10859928" y="21431"/>
                  </a:lnTo>
                  <a:lnTo>
                    <a:pt x="10875609" y="44684"/>
                  </a:lnTo>
                  <a:lnTo>
                    <a:pt x="10881360" y="73151"/>
                  </a:lnTo>
                  <a:lnTo>
                    <a:pt x="10881360" y="4087367"/>
                  </a:lnTo>
                  <a:lnTo>
                    <a:pt x="10875609" y="4115835"/>
                  </a:lnTo>
                  <a:lnTo>
                    <a:pt x="10859928" y="4139088"/>
                  </a:lnTo>
                  <a:lnTo>
                    <a:pt x="10836675" y="4154769"/>
                  </a:lnTo>
                  <a:lnTo>
                    <a:pt x="10808208" y="4160519"/>
                  </a:lnTo>
                  <a:lnTo>
                    <a:pt x="73139" y="4160519"/>
                  </a:lnTo>
                  <a:lnTo>
                    <a:pt x="44668" y="4154769"/>
                  </a:lnTo>
                  <a:lnTo>
                    <a:pt x="21420" y="4139088"/>
                  </a:lnTo>
                  <a:lnTo>
                    <a:pt x="5746" y="4115835"/>
                  </a:lnTo>
                  <a:lnTo>
                    <a:pt x="0" y="408736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1700" y="1839848"/>
            <a:ext cx="4359910" cy="748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3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EXTENSION</a:t>
            </a:r>
            <a:r>
              <a:rPr sz="135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IF</a:t>
            </a:r>
            <a:r>
              <a:rPr sz="13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NOT</a:t>
            </a:r>
            <a:r>
              <a:rPr sz="135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EXISTS</a:t>
            </a:r>
            <a:r>
              <a:rPr sz="1350" spc="-2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spc="-10" dirty="0">
                <a:solidFill>
                  <a:srgbClr val="7CD2FB"/>
                </a:solidFill>
                <a:latin typeface="Courier New"/>
                <a:cs typeface="Courier New"/>
              </a:rPr>
              <a:t>"pgcrypto";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35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TABLE</a:t>
            </a:r>
            <a:r>
              <a:rPr sz="135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dirty="0">
                <a:solidFill>
                  <a:srgbClr val="7CD2FB"/>
                </a:solidFill>
                <a:latin typeface="Courier New"/>
                <a:cs typeface="Courier New"/>
              </a:rPr>
              <a:t>subscriber_device</a:t>
            </a:r>
            <a:r>
              <a:rPr sz="135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50" spc="-50" dirty="0">
                <a:solidFill>
                  <a:srgbClr val="7CD2FB"/>
                </a:solidFill>
                <a:latin typeface="Courier New"/>
                <a:cs typeface="Courier New"/>
              </a:rPr>
              <a:t>(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82650" y="2652916"/>
          <a:ext cx="8217533" cy="2506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2270"/>
                <a:gridCol w="1289684"/>
                <a:gridCol w="4005579"/>
              </a:tblGrid>
              <a:tr h="226060">
                <a:tc>
                  <a:txBody>
                    <a:bodyPr/>
                    <a:lstStyle/>
                    <a:p>
                      <a:pPr marL="446405">
                        <a:lnSpc>
                          <a:spcPts val="1400"/>
                        </a:lnSpc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anonymous_id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ts val="1400"/>
                        </a:lnSpc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UUID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ts val="1400"/>
                        </a:lnSpc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PRIMARY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KEY</a:t>
                      </a: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gen_random_uuid(),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device_model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os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app_version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TEXT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NULL,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consent_given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2540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data_collection_enabled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TRUE,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7175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wifi_only_uploads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notifications_enabled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BOOLEAN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FALSE,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</a:tr>
              <a:tr h="256540">
                <a:tc>
                  <a:txBody>
                    <a:bodyPr/>
                    <a:lstStyle/>
                    <a:p>
                      <a:pPr marL="4464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registered_at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spc="-1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TIMESTAMPTZ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35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DEFAULT</a:t>
                      </a:r>
                      <a:r>
                        <a:rPr sz="1350" spc="-3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350" spc="-20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NOW()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1905" marB="0"/>
                </a:tc>
              </a:tr>
              <a:tr h="2260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350" spc="-25" dirty="0">
                          <a:solidFill>
                            <a:srgbClr val="7CD2FB"/>
                          </a:solidFill>
                          <a:latin typeface="Courier New"/>
                          <a:cs typeface="Courier New"/>
                        </a:rPr>
                        <a:t>);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76102"/>
            <a:ext cx="10881360" cy="42542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76102"/>
            <a:ext cx="10881360" cy="4248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160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26441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Constraints</a:t>
            </a:r>
            <a:r>
              <a:rPr sz="2800" spc="-80" dirty="0"/>
              <a:t> </a:t>
            </a:r>
            <a:r>
              <a:rPr sz="2800" dirty="0"/>
              <a:t>and</a:t>
            </a:r>
            <a:r>
              <a:rPr sz="2800" spc="-95" dirty="0"/>
              <a:t> </a:t>
            </a:r>
            <a:r>
              <a:rPr sz="2800" spc="-10" dirty="0"/>
              <a:t>Indexes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27380" y="1461261"/>
            <a:ext cx="19538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Foreign</a:t>
            </a:r>
            <a:r>
              <a:rPr sz="1500" b="1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Keys</a:t>
            </a:r>
            <a:r>
              <a:rPr sz="1500" b="1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&amp;</a:t>
            </a:r>
            <a:r>
              <a:rPr sz="1500" b="1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Cascades</a:t>
            </a:r>
            <a:endParaRPr sz="15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6905" y="1825625"/>
          <a:ext cx="5120640" cy="1508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7360"/>
                <a:gridCol w="1188720"/>
                <a:gridCol w="219456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Parent</a:t>
                      </a:r>
                      <a:r>
                        <a:rPr sz="105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Table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89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105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DELETE</a:t>
                      </a:r>
                      <a:r>
                        <a:rPr sz="105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891B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Effect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1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0891B1"/>
                    </a:solidFill>
                  </a:tcPr>
                </a:tc>
              </a:tr>
              <a:tr h="5022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subscriber_device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266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950" b="1" spc="-10" dirty="0">
                          <a:solidFill>
                            <a:srgbClr val="0891B1"/>
                          </a:solidFill>
                          <a:latin typeface="Courier New"/>
                          <a:cs typeface="Courier New"/>
                        </a:rPr>
                        <a:t>CASCADE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266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5941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Deleting</a:t>
                      </a:r>
                      <a:r>
                        <a:rPr sz="95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r>
                        <a:rPr sz="95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deletes</a:t>
                      </a:r>
                      <a:r>
                        <a:rPr sz="95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950" spc="-4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related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metrics,</a:t>
                      </a:r>
                      <a:r>
                        <a:rPr sz="95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locations,</a:t>
                      </a:r>
                      <a:r>
                        <a:rPr sz="95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950" spc="-3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feedback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91440" marR="61722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95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network_metric (metric_id)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9334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950" b="1" dirty="0">
                          <a:solidFill>
                            <a:srgbClr val="0891B1"/>
                          </a:solidFill>
                          <a:latin typeface="Courier New"/>
                          <a:cs typeface="Courier New"/>
                        </a:rPr>
                        <a:t>SET</a:t>
                      </a:r>
                      <a:r>
                        <a:rPr sz="950" b="1" spc="-15" dirty="0">
                          <a:solidFill>
                            <a:srgbClr val="0891B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950" b="1" spc="-20" dirty="0">
                          <a:solidFill>
                            <a:srgbClr val="0891B1"/>
                          </a:solidFill>
                          <a:latin typeface="Courier New"/>
                          <a:cs typeface="Courier New"/>
                        </a:rPr>
                        <a:t>NULL</a:t>
                      </a:r>
                      <a:endParaRPr sz="950">
                        <a:latin typeface="Courier New"/>
                        <a:cs typeface="Courier New"/>
                      </a:endParaRPr>
                    </a:p>
                  </a:txBody>
                  <a:tcPr marL="0" marR="0" marT="2667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7559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Deleting</a:t>
                      </a:r>
                      <a:r>
                        <a:rPr sz="95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95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r>
                        <a:rPr sz="950" spc="-4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keeps</a:t>
                      </a:r>
                      <a:r>
                        <a:rPr sz="95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feedback</a:t>
                      </a:r>
                      <a:r>
                        <a:rPr sz="950" spc="-3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but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clears</a:t>
                      </a:r>
                      <a:r>
                        <a:rPr sz="950" spc="-2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950" spc="-15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1E293A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27380" y="3747896"/>
            <a:ext cx="14795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CHECK</a:t>
            </a:r>
            <a:r>
              <a:rPr sz="1500" b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Constraints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290237"/>
            <a:ext cx="5072380" cy="7105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150" dirty="0">
                <a:solidFill>
                  <a:srgbClr val="0891B1"/>
                </a:solidFill>
                <a:latin typeface="Courier New"/>
                <a:cs typeface="Courier New"/>
              </a:rPr>
              <a:t>CHECK</a:t>
            </a:r>
            <a:r>
              <a:rPr sz="1150" spc="-5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891B1"/>
                </a:solidFill>
                <a:latin typeface="Courier New"/>
                <a:cs typeface="Courier New"/>
              </a:rPr>
              <a:t>(overall_rating</a:t>
            </a:r>
            <a:r>
              <a:rPr sz="1150" spc="-4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891B1"/>
                </a:solidFill>
                <a:latin typeface="Courier New"/>
                <a:cs typeface="Courier New"/>
              </a:rPr>
              <a:t>BETWEEN</a:t>
            </a:r>
            <a:r>
              <a:rPr sz="1150" spc="-4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891B1"/>
                </a:solidFill>
                <a:latin typeface="Courier New"/>
                <a:cs typeface="Courier New"/>
              </a:rPr>
              <a:t>1</a:t>
            </a:r>
            <a:r>
              <a:rPr sz="1150" spc="-4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0891B1"/>
                </a:solidFill>
                <a:latin typeface="Courier New"/>
                <a:cs typeface="Courier New"/>
              </a:rPr>
              <a:t>AND</a:t>
            </a:r>
            <a:r>
              <a:rPr sz="1150" spc="-45" dirty="0">
                <a:solidFill>
                  <a:srgbClr val="0891B1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0891B1"/>
                </a:solidFill>
                <a:latin typeface="Courier New"/>
                <a:cs typeface="Courier New"/>
              </a:rPr>
              <a:t>5)</a:t>
            </a:r>
            <a:endParaRPr sz="1150">
              <a:latin typeface="Courier New"/>
              <a:cs typeface="Courier New"/>
            </a:endParaRPr>
          </a:p>
          <a:p>
            <a:pPr marL="12700" marR="5080">
              <a:lnSpc>
                <a:spcPct val="129600"/>
              </a:lnSpc>
              <a:spcBef>
                <a:spcPts val="15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Applied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all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four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feedback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rating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columns.</a:t>
            </a:r>
            <a:r>
              <a:rPr sz="11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database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rejects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out-of-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range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values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even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if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application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validation is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bypassed.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14415" y="1461261"/>
            <a:ext cx="19596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Indexes</a:t>
            </a:r>
            <a:r>
              <a:rPr sz="1500" b="1" spc="-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E293A"/>
                </a:solidFill>
                <a:latin typeface="Calibri"/>
                <a:cs typeface="Calibri"/>
              </a:rPr>
              <a:t>for</a:t>
            </a:r>
            <a:r>
              <a:rPr sz="1500" b="1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E293A"/>
                </a:solidFill>
                <a:latin typeface="Calibri"/>
                <a:cs typeface="Calibri"/>
              </a:rPr>
              <a:t>Performance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26479" y="1828800"/>
            <a:ext cx="5394960" cy="3429000"/>
          </a:xfrm>
          <a:custGeom>
            <a:avLst/>
            <a:gdLst/>
            <a:ahLst/>
            <a:cxnLst/>
            <a:rect l="l" t="t" r="r" b="b"/>
            <a:pathLst>
              <a:path w="5394959" h="3429000">
                <a:moveTo>
                  <a:pt x="5321808" y="0"/>
                </a:moveTo>
                <a:lnTo>
                  <a:pt x="73152" y="0"/>
                </a:lnTo>
                <a:lnTo>
                  <a:pt x="44684" y="5750"/>
                </a:lnTo>
                <a:lnTo>
                  <a:pt x="21431" y="21431"/>
                </a:lnTo>
                <a:lnTo>
                  <a:pt x="5750" y="44684"/>
                </a:lnTo>
                <a:lnTo>
                  <a:pt x="0" y="73151"/>
                </a:lnTo>
                <a:lnTo>
                  <a:pt x="0" y="3355848"/>
                </a:lnTo>
                <a:lnTo>
                  <a:pt x="5750" y="3384315"/>
                </a:lnTo>
                <a:lnTo>
                  <a:pt x="21431" y="3407568"/>
                </a:lnTo>
                <a:lnTo>
                  <a:pt x="44684" y="3423249"/>
                </a:lnTo>
                <a:lnTo>
                  <a:pt x="73152" y="3429000"/>
                </a:lnTo>
                <a:lnTo>
                  <a:pt x="5321808" y="3429000"/>
                </a:lnTo>
                <a:lnTo>
                  <a:pt x="5350275" y="3423249"/>
                </a:lnTo>
                <a:lnTo>
                  <a:pt x="5373528" y="3407568"/>
                </a:lnTo>
                <a:lnTo>
                  <a:pt x="5389209" y="3384315"/>
                </a:lnTo>
                <a:lnTo>
                  <a:pt x="5394960" y="3355848"/>
                </a:lnTo>
                <a:lnTo>
                  <a:pt x="5394960" y="73151"/>
                </a:lnTo>
                <a:lnTo>
                  <a:pt x="5389209" y="44684"/>
                </a:lnTo>
                <a:lnTo>
                  <a:pt x="5373528" y="21431"/>
                </a:lnTo>
                <a:lnTo>
                  <a:pt x="5350275" y="5750"/>
                </a:lnTo>
                <a:lnTo>
                  <a:pt x="5321808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343269" y="2275408"/>
            <a:ext cx="34512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20000"/>
              </a:lnSpc>
              <a:spcBef>
                <a:spcPts val="100"/>
              </a:spcBef>
            </a:pP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250" spc="-6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INDEX</a:t>
            </a:r>
            <a:r>
              <a:rPr sz="1250" spc="-6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idx_metric_anonymous_id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ON</a:t>
            </a:r>
            <a:r>
              <a:rPr sz="125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network_metric(anonymous_id);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6343269" y="2961208"/>
            <a:ext cx="3641725" cy="4826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250" spc="-6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INDEX</a:t>
            </a:r>
            <a:r>
              <a:rPr sz="1250" spc="-6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idx_metric_recorded_at</a:t>
            </a:r>
            <a:endParaRPr sz="1250">
              <a:latin typeface="Courier New"/>
              <a:cs typeface="Courier New"/>
            </a:endParaRPr>
          </a:p>
          <a:p>
            <a:pPr marL="201295">
              <a:lnSpc>
                <a:spcPct val="100000"/>
              </a:lnSpc>
              <a:spcBef>
                <a:spcPts val="300"/>
              </a:spcBef>
            </a:pP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ON</a:t>
            </a:r>
            <a:r>
              <a:rPr sz="125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network_metric(recorded_at</a:t>
            </a:r>
            <a:r>
              <a:rPr sz="1250" spc="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DESC);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43269" y="3647388"/>
            <a:ext cx="36417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20000"/>
              </a:lnSpc>
              <a:spcBef>
                <a:spcPts val="100"/>
              </a:spcBef>
            </a:pP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250" spc="-6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INDEX</a:t>
            </a:r>
            <a:r>
              <a:rPr sz="1250" spc="-6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idx_location_anonymous_id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ON</a:t>
            </a:r>
            <a:r>
              <a:rPr sz="125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location(anonymous_id);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43269" y="4333188"/>
            <a:ext cx="36417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20000"/>
              </a:lnSpc>
              <a:spcBef>
                <a:spcPts val="100"/>
              </a:spcBef>
            </a:pP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CREATE</a:t>
            </a:r>
            <a:r>
              <a:rPr sz="1250" spc="-6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INDEX</a:t>
            </a:r>
            <a:r>
              <a:rPr sz="1250" spc="-6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idx_feedback_anonymous_id </a:t>
            </a:r>
            <a:r>
              <a:rPr sz="1250" dirty="0">
                <a:solidFill>
                  <a:srgbClr val="7CD2FB"/>
                </a:solidFill>
                <a:latin typeface="Courier New"/>
                <a:cs typeface="Courier New"/>
              </a:rPr>
              <a:t>ON</a:t>
            </a:r>
            <a:r>
              <a:rPr sz="125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7CD2FB"/>
                </a:solidFill>
                <a:latin typeface="Courier New"/>
                <a:cs typeface="Courier New"/>
              </a:rPr>
              <a:t>feedback(anonymous_id);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2238755"/>
              <a:ext cx="1438656" cy="143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233172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13" y="1970"/>
                  </a:lnTo>
                  <a:lnTo>
                    <a:pt x="497951" y="7778"/>
                  </a:lnTo>
                  <a:lnTo>
                    <a:pt x="451528" y="17271"/>
                  </a:lnTo>
                  <a:lnTo>
                    <a:pt x="406495" y="30297"/>
                  </a:lnTo>
                  <a:lnTo>
                    <a:pt x="363007" y="46702"/>
                  </a:lnTo>
                  <a:lnTo>
                    <a:pt x="321216" y="66334"/>
                  </a:lnTo>
                  <a:lnTo>
                    <a:pt x="281276" y="89039"/>
                  </a:lnTo>
                  <a:lnTo>
                    <a:pt x="243338" y="114665"/>
                  </a:lnTo>
                  <a:lnTo>
                    <a:pt x="207556" y="143060"/>
                  </a:lnTo>
                  <a:lnTo>
                    <a:pt x="174083" y="174069"/>
                  </a:lnTo>
                  <a:lnTo>
                    <a:pt x="143072" y="207540"/>
                  </a:lnTo>
                  <a:lnTo>
                    <a:pt x="114676" y="243321"/>
                  </a:lnTo>
                  <a:lnTo>
                    <a:pt x="89048" y="281259"/>
                  </a:lnTo>
                  <a:lnTo>
                    <a:pt x="66341" y="321200"/>
                  </a:lnTo>
                  <a:lnTo>
                    <a:pt x="46707" y="362991"/>
                  </a:lnTo>
                  <a:lnTo>
                    <a:pt x="30300" y="406481"/>
                  </a:lnTo>
                  <a:lnTo>
                    <a:pt x="17273" y="451515"/>
                  </a:lnTo>
                  <a:lnTo>
                    <a:pt x="7779" y="497942"/>
                  </a:lnTo>
                  <a:lnTo>
                    <a:pt x="1970" y="545607"/>
                  </a:lnTo>
                  <a:lnTo>
                    <a:pt x="0" y="594359"/>
                  </a:lnTo>
                  <a:lnTo>
                    <a:pt x="1970" y="643112"/>
                  </a:lnTo>
                  <a:lnTo>
                    <a:pt x="7779" y="690777"/>
                  </a:lnTo>
                  <a:lnTo>
                    <a:pt x="17273" y="737204"/>
                  </a:lnTo>
                  <a:lnTo>
                    <a:pt x="30300" y="782238"/>
                  </a:lnTo>
                  <a:lnTo>
                    <a:pt x="46707" y="825728"/>
                  </a:lnTo>
                  <a:lnTo>
                    <a:pt x="66341" y="867519"/>
                  </a:lnTo>
                  <a:lnTo>
                    <a:pt x="89048" y="907460"/>
                  </a:lnTo>
                  <a:lnTo>
                    <a:pt x="114676" y="945398"/>
                  </a:lnTo>
                  <a:lnTo>
                    <a:pt x="143072" y="981179"/>
                  </a:lnTo>
                  <a:lnTo>
                    <a:pt x="174083" y="1014650"/>
                  </a:lnTo>
                  <a:lnTo>
                    <a:pt x="207556" y="1045659"/>
                  </a:lnTo>
                  <a:lnTo>
                    <a:pt x="243338" y="1074054"/>
                  </a:lnTo>
                  <a:lnTo>
                    <a:pt x="281276" y="1099680"/>
                  </a:lnTo>
                  <a:lnTo>
                    <a:pt x="321216" y="1122385"/>
                  </a:lnTo>
                  <a:lnTo>
                    <a:pt x="363007" y="1142017"/>
                  </a:lnTo>
                  <a:lnTo>
                    <a:pt x="406495" y="1158422"/>
                  </a:lnTo>
                  <a:lnTo>
                    <a:pt x="451528" y="1171448"/>
                  </a:lnTo>
                  <a:lnTo>
                    <a:pt x="497951" y="1180941"/>
                  </a:lnTo>
                  <a:lnTo>
                    <a:pt x="545613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59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" y="2670048"/>
              <a:ext cx="512064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90673" y="2179141"/>
            <a:ext cx="796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>
                <a:solidFill>
                  <a:srgbClr val="2462EB"/>
                </a:solidFill>
              </a:rPr>
              <a:t>05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645668" y="3583304"/>
            <a:ext cx="5320665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Backend</a:t>
            </a:r>
            <a:r>
              <a:rPr sz="4000" b="1" spc="-17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Implementation</a:t>
            </a:r>
            <a:endParaRPr sz="4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900"/>
              </a:spcBef>
            </a:pP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Node.js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+</a:t>
            </a:r>
            <a:r>
              <a:rPr sz="1500" i="1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Express</a:t>
            </a:r>
            <a:r>
              <a:rPr sz="1500" i="1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layered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architecture</a:t>
            </a:r>
            <a:r>
              <a:rPr sz="1500" i="1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REST</a:t>
            </a:r>
            <a:r>
              <a:rPr sz="1500" i="1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25" dirty="0">
                <a:solidFill>
                  <a:srgbClr val="63748A"/>
                </a:solidFill>
                <a:latin typeface="Calibri"/>
                <a:cs typeface="Calibri"/>
              </a:rPr>
              <a:t>API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7380" y="448767"/>
            <a:ext cx="25476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2462EB"/>
                </a:solidFill>
              </a:rPr>
              <a:t>B</a:t>
            </a:r>
            <a:r>
              <a:rPr sz="1300" spc="-9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A</a:t>
            </a:r>
            <a:r>
              <a:rPr sz="1300" spc="-10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C</a:t>
            </a:r>
            <a:r>
              <a:rPr sz="1300" spc="-9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K</a:t>
            </a:r>
            <a:r>
              <a:rPr sz="1300" spc="-95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E</a:t>
            </a:r>
            <a:r>
              <a:rPr sz="1300" spc="-9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N</a:t>
            </a:r>
            <a:r>
              <a:rPr sz="1300" spc="-90" dirty="0">
                <a:solidFill>
                  <a:srgbClr val="2462EB"/>
                </a:solidFill>
              </a:rPr>
              <a:t> </a:t>
            </a:r>
            <a:r>
              <a:rPr sz="1300" dirty="0">
                <a:solidFill>
                  <a:srgbClr val="2462EB"/>
                </a:solidFill>
              </a:rPr>
              <a:t>D</a:t>
            </a:r>
            <a:r>
              <a:rPr sz="1300" spc="42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I</a:t>
            </a:r>
            <a:r>
              <a:rPr sz="1300" spc="-85" dirty="0">
                <a:solidFill>
                  <a:srgbClr val="2462EB"/>
                </a:solidFill>
              </a:rPr>
              <a:t> </a:t>
            </a:r>
            <a:r>
              <a:rPr sz="1300" spc="-20" dirty="0">
                <a:solidFill>
                  <a:srgbClr val="2462EB"/>
                </a:solidFill>
              </a:rPr>
              <a:t>M</a:t>
            </a:r>
            <a:r>
              <a:rPr sz="1300" spc="-100" dirty="0">
                <a:solidFill>
                  <a:srgbClr val="2462EB"/>
                </a:solidFill>
              </a:rPr>
              <a:t> </a:t>
            </a:r>
            <a:r>
              <a:rPr sz="1300" dirty="0">
                <a:solidFill>
                  <a:srgbClr val="2462EB"/>
                </a:solidFill>
              </a:rPr>
              <a:t>P</a:t>
            </a:r>
            <a:r>
              <a:rPr sz="1300" spc="-10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L</a:t>
            </a:r>
            <a:r>
              <a:rPr sz="1300" spc="-85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E</a:t>
            </a:r>
            <a:r>
              <a:rPr sz="1300" spc="-90" dirty="0">
                <a:solidFill>
                  <a:srgbClr val="2462EB"/>
                </a:solidFill>
              </a:rPr>
              <a:t> </a:t>
            </a:r>
            <a:r>
              <a:rPr sz="1300" spc="-20" dirty="0">
                <a:solidFill>
                  <a:srgbClr val="2462EB"/>
                </a:solidFill>
              </a:rPr>
              <a:t>M</a:t>
            </a:r>
            <a:r>
              <a:rPr sz="1300" spc="-10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E</a:t>
            </a:r>
            <a:r>
              <a:rPr sz="1300" spc="-85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N</a:t>
            </a:r>
            <a:r>
              <a:rPr sz="1300" spc="-95" dirty="0">
                <a:solidFill>
                  <a:srgbClr val="2462EB"/>
                </a:solidFill>
              </a:rPr>
              <a:t> </a:t>
            </a:r>
            <a:r>
              <a:rPr sz="1300" dirty="0">
                <a:solidFill>
                  <a:srgbClr val="2462EB"/>
                </a:solidFill>
              </a:rPr>
              <a:t>T</a:t>
            </a:r>
            <a:r>
              <a:rPr sz="1300" spc="-95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A</a:t>
            </a:r>
            <a:r>
              <a:rPr sz="1300" spc="-100" dirty="0">
                <a:solidFill>
                  <a:srgbClr val="2462EB"/>
                </a:solidFill>
              </a:rPr>
              <a:t> </a:t>
            </a:r>
            <a:r>
              <a:rPr sz="1300" dirty="0">
                <a:solidFill>
                  <a:srgbClr val="2462EB"/>
                </a:solidFill>
              </a:rPr>
              <a:t>T</a:t>
            </a:r>
            <a:r>
              <a:rPr sz="1300" spc="-100" dirty="0">
                <a:solidFill>
                  <a:srgbClr val="2462EB"/>
                </a:solidFill>
              </a:rPr>
              <a:t> </a:t>
            </a:r>
            <a:r>
              <a:rPr sz="1300" spc="-10" dirty="0">
                <a:solidFill>
                  <a:srgbClr val="2462EB"/>
                </a:solidFill>
              </a:rPr>
              <a:t>I</a:t>
            </a:r>
            <a:r>
              <a:rPr sz="1300" spc="-85" dirty="0">
                <a:solidFill>
                  <a:srgbClr val="2462EB"/>
                </a:solidFill>
              </a:rPr>
              <a:t> </a:t>
            </a:r>
            <a:r>
              <a:rPr sz="1300" dirty="0">
                <a:solidFill>
                  <a:srgbClr val="2462EB"/>
                </a:solidFill>
              </a:rPr>
              <a:t>O</a:t>
            </a:r>
            <a:r>
              <a:rPr sz="1300" spc="-95" dirty="0">
                <a:solidFill>
                  <a:srgbClr val="2462EB"/>
                </a:solidFill>
              </a:rPr>
              <a:t> </a:t>
            </a:r>
            <a:r>
              <a:rPr sz="1300" spc="-50" dirty="0">
                <a:solidFill>
                  <a:srgbClr val="2462EB"/>
                </a:solidFill>
              </a:rPr>
              <a:t>N</a:t>
            </a:r>
            <a:endParaRPr sz="1300"/>
          </a:p>
        </p:txBody>
      </p:sp>
      <p:sp>
        <p:nvSpPr>
          <p:cNvPr id="3" name="object 3"/>
          <p:cNvSpPr txBox="1"/>
          <p:nvPr/>
        </p:nvSpPr>
        <p:spPr>
          <a:xfrm>
            <a:off x="627380" y="738886"/>
            <a:ext cx="6156325" cy="786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1E293A"/>
                </a:solidFill>
                <a:latin typeface="Calibri"/>
                <a:cs typeface="Calibri"/>
              </a:rPr>
              <a:t>Layered</a:t>
            </a:r>
            <a:r>
              <a:rPr sz="2800" b="1" spc="-1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1E293A"/>
                </a:solidFill>
                <a:latin typeface="Calibri"/>
                <a:cs typeface="Calibri"/>
              </a:rPr>
              <a:t>Architecture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Each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layer</a:t>
            </a:r>
            <a:r>
              <a:rPr sz="12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has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exactly</a:t>
            </a:r>
            <a:r>
              <a:rPr sz="12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one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job</a:t>
            </a:r>
            <a:r>
              <a:rPr sz="1250" spc="229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routes,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validation,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controllers,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services,</a:t>
            </a:r>
            <a:r>
              <a:rPr sz="12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database</a:t>
            </a:r>
            <a:r>
              <a:rPr sz="12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config.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9083" y="1666668"/>
            <a:ext cx="4265295" cy="14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340" dirty="0">
                <a:solidFill>
                  <a:srgbClr val="1F487C"/>
                </a:solidFill>
                <a:latin typeface="Arial"/>
                <a:cs typeface="Arial"/>
              </a:rPr>
              <a:t>Backend</a:t>
            </a:r>
            <a:r>
              <a:rPr sz="750" b="1" spc="16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750" b="1" spc="315" dirty="0">
                <a:solidFill>
                  <a:srgbClr val="1F487C"/>
                </a:solidFill>
                <a:latin typeface="Arial"/>
                <a:cs typeface="Arial"/>
              </a:rPr>
              <a:t>Layered</a:t>
            </a:r>
            <a:r>
              <a:rPr sz="750" b="1" spc="7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750" b="1" spc="285" dirty="0">
                <a:solidFill>
                  <a:srgbClr val="1F487C"/>
                </a:solidFill>
                <a:latin typeface="Arial"/>
                <a:cs typeface="Arial"/>
              </a:rPr>
              <a:t>Architecture</a:t>
            </a:r>
            <a:r>
              <a:rPr sz="750" b="1" spc="15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750" b="1" spc="355" dirty="0">
                <a:solidFill>
                  <a:srgbClr val="1F487C"/>
                </a:solidFill>
                <a:latin typeface="Arial"/>
                <a:cs typeface="Arial"/>
              </a:rPr>
              <a:t>SpeeDT</a:t>
            </a:r>
            <a:r>
              <a:rPr sz="750" b="1" spc="16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750" b="1" spc="380" dirty="0">
                <a:solidFill>
                  <a:srgbClr val="1F487C"/>
                </a:solidFill>
                <a:latin typeface="Arial"/>
                <a:cs typeface="Arial"/>
              </a:rPr>
              <a:t>QoE</a:t>
            </a:r>
            <a:r>
              <a:rPr sz="750" b="1" spc="17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750" b="1" spc="330" dirty="0">
                <a:solidFill>
                  <a:srgbClr val="1F487C"/>
                </a:solidFill>
                <a:latin typeface="Arial"/>
                <a:cs typeface="Arial"/>
              </a:rPr>
              <a:t>Backend</a:t>
            </a:r>
            <a:endParaRPr sz="7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96141" y="1968904"/>
            <a:ext cx="202565" cy="3594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75"/>
              </a:lnSpc>
            </a:pPr>
            <a:r>
              <a:rPr sz="1250" b="1" spc="-330" dirty="0">
                <a:latin typeface="Arial"/>
                <a:cs typeface="Arial"/>
              </a:rPr>
              <a:t>CLIENT</a:t>
            </a:r>
            <a:endParaRPr sz="1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6141" y="2634766"/>
            <a:ext cx="202565" cy="44830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75"/>
              </a:lnSpc>
            </a:pPr>
            <a:r>
              <a:rPr sz="1250" b="1" spc="-365" dirty="0">
                <a:latin typeface="Arial"/>
                <a:cs typeface="Arial"/>
              </a:rPr>
              <a:t>ROUTING</a:t>
            </a:r>
            <a:endParaRPr sz="12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96141" y="3241241"/>
            <a:ext cx="202565" cy="6534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75"/>
              </a:lnSpc>
            </a:pPr>
            <a:r>
              <a:rPr sz="1250" b="1" spc="-385" dirty="0">
                <a:latin typeface="Arial"/>
                <a:cs typeface="Arial"/>
              </a:rPr>
              <a:t>MIDDLEWARE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396141" y="4175999"/>
            <a:ext cx="202565" cy="32004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75"/>
              </a:lnSpc>
            </a:pPr>
            <a:r>
              <a:rPr sz="1250" b="1" spc="-345" dirty="0">
                <a:latin typeface="Arial"/>
                <a:cs typeface="Arial"/>
              </a:rPr>
              <a:t>LOGIC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96141" y="4864928"/>
            <a:ext cx="202565" cy="6718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475"/>
              </a:lnSpc>
            </a:pPr>
            <a:r>
              <a:rPr sz="1250" b="1" spc="-390" dirty="0">
                <a:latin typeface="Arial"/>
                <a:cs typeface="Arial"/>
              </a:rPr>
              <a:t>DATA</a:t>
            </a:r>
            <a:r>
              <a:rPr sz="1250" b="1" spc="-240" dirty="0">
                <a:latin typeface="Arial"/>
                <a:cs typeface="Arial"/>
              </a:rPr>
              <a:t> </a:t>
            </a:r>
            <a:r>
              <a:rPr sz="1250" b="1" spc="-380" dirty="0">
                <a:latin typeface="Arial"/>
                <a:cs typeface="Arial"/>
              </a:rPr>
              <a:t>ACCESS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9869" y="1935645"/>
            <a:ext cx="10438765" cy="431165"/>
          </a:xfrm>
          <a:custGeom>
            <a:avLst/>
            <a:gdLst/>
            <a:ahLst/>
            <a:cxnLst/>
            <a:rect l="l" t="t" r="r" b="b"/>
            <a:pathLst>
              <a:path w="10438765" h="431164">
                <a:moveTo>
                  <a:pt x="10393831" y="0"/>
                </a:moveTo>
                <a:lnTo>
                  <a:pt x="44283" y="0"/>
                </a:lnTo>
                <a:lnTo>
                  <a:pt x="27046" y="2028"/>
                </a:lnTo>
                <a:lnTo>
                  <a:pt x="12970" y="7564"/>
                </a:lnTo>
                <a:lnTo>
                  <a:pt x="3480" y="15785"/>
                </a:lnTo>
                <a:lnTo>
                  <a:pt x="0" y="25868"/>
                </a:lnTo>
                <a:lnTo>
                  <a:pt x="0" y="405279"/>
                </a:lnTo>
                <a:lnTo>
                  <a:pt x="3480" y="415341"/>
                </a:lnTo>
                <a:lnTo>
                  <a:pt x="12970" y="423564"/>
                </a:lnTo>
                <a:lnTo>
                  <a:pt x="27046" y="429113"/>
                </a:lnTo>
                <a:lnTo>
                  <a:pt x="44283" y="431148"/>
                </a:lnTo>
                <a:lnTo>
                  <a:pt x="10393831" y="431148"/>
                </a:lnTo>
                <a:lnTo>
                  <a:pt x="10411212" y="429113"/>
                </a:lnTo>
                <a:lnTo>
                  <a:pt x="10425462" y="423564"/>
                </a:lnTo>
                <a:lnTo>
                  <a:pt x="10435100" y="415341"/>
                </a:lnTo>
                <a:lnTo>
                  <a:pt x="10438642" y="405279"/>
                </a:lnTo>
                <a:lnTo>
                  <a:pt x="10438642" y="25868"/>
                </a:lnTo>
                <a:lnTo>
                  <a:pt x="10435100" y="15785"/>
                </a:lnTo>
                <a:lnTo>
                  <a:pt x="10425462" y="7564"/>
                </a:lnTo>
                <a:lnTo>
                  <a:pt x="10411212" y="2028"/>
                </a:lnTo>
                <a:lnTo>
                  <a:pt x="10393831" y="0"/>
                </a:lnTo>
                <a:close/>
              </a:path>
            </a:pathLst>
          </a:custGeom>
          <a:solidFill>
            <a:srgbClr val="DAE8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9869" y="1935645"/>
            <a:ext cx="10438765" cy="431165"/>
          </a:xfrm>
          <a:prstGeom prst="rect">
            <a:avLst/>
          </a:prstGeom>
          <a:ln w="12813">
            <a:solidFill>
              <a:srgbClr val="6C8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550" spc="220" dirty="0">
                <a:solidFill>
                  <a:srgbClr val="1F487C"/>
                </a:solidFill>
                <a:latin typeface="Microsoft Sans Serif"/>
                <a:cs typeface="Microsoft Sans Serif"/>
              </a:rPr>
              <a:t>Mobile</a:t>
            </a:r>
            <a:r>
              <a:rPr sz="550" spc="50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550" spc="195" dirty="0">
                <a:solidFill>
                  <a:srgbClr val="1F487C"/>
                </a:solidFill>
                <a:latin typeface="Microsoft Sans Serif"/>
                <a:cs typeface="Microsoft Sans Serif"/>
              </a:rPr>
              <a:t>Application</a:t>
            </a:r>
            <a:r>
              <a:rPr sz="550" spc="165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550" spc="254" dirty="0">
                <a:solidFill>
                  <a:srgbClr val="1F487C"/>
                </a:solidFill>
                <a:latin typeface="Microsoft Sans Serif"/>
                <a:cs typeface="Microsoft Sans Serif"/>
              </a:rPr>
              <a:t>(SpeeDT</a:t>
            </a:r>
            <a:r>
              <a:rPr sz="550" spc="80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550" spc="229" dirty="0">
                <a:solidFill>
                  <a:srgbClr val="1F487C"/>
                </a:solidFill>
                <a:latin typeface="Microsoft Sans Serif"/>
                <a:cs typeface="Microsoft Sans Serif"/>
              </a:rPr>
              <a:t>React</a:t>
            </a:r>
            <a:r>
              <a:rPr sz="550" spc="175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550" spc="200" dirty="0">
                <a:solidFill>
                  <a:srgbClr val="1F487C"/>
                </a:solidFill>
                <a:latin typeface="Microsoft Sans Serif"/>
                <a:cs typeface="Microsoft Sans Serif"/>
              </a:rPr>
              <a:t>Native</a:t>
            </a:r>
            <a:r>
              <a:rPr sz="550" spc="170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550" spc="125" dirty="0">
                <a:solidFill>
                  <a:srgbClr val="1F487C"/>
                </a:solidFill>
                <a:latin typeface="Microsoft Sans Serif"/>
                <a:cs typeface="Microsoft Sans Serif"/>
              </a:rPr>
              <a:t>/</a:t>
            </a:r>
            <a:r>
              <a:rPr sz="550" spc="130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550" spc="185" dirty="0">
                <a:solidFill>
                  <a:srgbClr val="1F487C"/>
                </a:solidFill>
                <a:latin typeface="Microsoft Sans Serif"/>
                <a:cs typeface="Microsoft Sans Serif"/>
              </a:rPr>
              <a:t>Expo)...</a:t>
            </a:r>
            <a:endParaRPr sz="55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3166" y="2366794"/>
            <a:ext cx="91604" cy="27306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9869" y="2643961"/>
            <a:ext cx="10438765" cy="431165"/>
          </a:xfrm>
          <a:prstGeom prst="rect">
            <a:avLst/>
          </a:prstGeom>
          <a:ln w="12813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5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550" spc="204" dirty="0">
                <a:latin typeface="Microsoft Sans Serif"/>
                <a:cs typeface="Microsoft Sans Serif"/>
              </a:rPr>
              <a:t>Express.js</a:t>
            </a:r>
            <a:r>
              <a:rPr sz="550" spc="25" dirty="0">
                <a:latin typeface="Microsoft Sans Serif"/>
                <a:cs typeface="Microsoft Sans Serif"/>
              </a:rPr>
              <a:t> </a:t>
            </a:r>
            <a:r>
              <a:rPr sz="550" spc="195" dirty="0">
                <a:latin typeface="Microsoft Sans Serif"/>
                <a:cs typeface="Microsoft Sans Serif"/>
              </a:rPr>
              <a:t>Application</a:t>
            </a:r>
            <a:r>
              <a:rPr sz="550" spc="210" dirty="0">
                <a:latin typeface="Microsoft Sans Serif"/>
                <a:cs typeface="Microsoft Sans Serif"/>
              </a:rPr>
              <a:t> </a:t>
            </a:r>
            <a:r>
              <a:rPr sz="550" spc="160" dirty="0">
                <a:latin typeface="Microsoft Sans Serif"/>
                <a:cs typeface="Microsoft Sans Serif"/>
              </a:rPr>
              <a:t>(src/app.js)...</a:t>
            </a:r>
            <a:endParaRPr sz="550">
              <a:latin typeface="Microsoft Sans Serif"/>
              <a:cs typeface="Microsoft Sans Serif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9869" y="3075109"/>
            <a:ext cx="10438765" cy="708660"/>
            <a:chOff x="689869" y="3075109"/>
            <a:chExt cx="10438765" cy="70866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3167" y="3075109"/>
              <a:ext cx="91604" cy="2730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89869" y="3352276"/>
              <a:ext cx="10438765" cy="431165"/>
            </a:xfrm>
            <a:custGeom>
              <a:avLst/>
              <a:gdLst/>
              <a:ahLst/>
              <a:cxnLst/>
              <a:rect l="l" t="t" r="r" b="b"/>
              <a:pathLst>
                <a:path w="10438765" h="431164">
                  <a:moveTo>
                    <a:pt x="10393831" y="0"/>
                  </a:moveTo>
                  <a:lnTo>
                    <a:pt x="44283" y="0"/>
                  </a:lnTo>
                  <a:lnTo>
                    <a:pt x="27046" y="2028"/>
                  </a:lnTo>
                  <a:lnTo>
                    <a:pt x="12970" y="7564"/>
                  </a:lnTo>
                  <a:lnTo>
                    <a:pt x="3480" y="15785"/>
                  </a:lnTo>
                  <a:lnTo>
                    <a:pt x="0" y="25868"/>
                  </a:lnTo>
                  <a:lnTo>
                    <a:pt x="0" y="405279"/>
                  </a:lnTo>
                  <a:lnTo>
                    <a:pt x="3480" y="415341"/>
                  </a:lnTo>
                  <a:lnTo>
                    <a:pt x="12970" y="423564"/>
                  </a:lnTo>
                  <a:lnTo>
                    <a:pt x="27046" y="429113"/>
                  </a:lnTo>
                  <a:lnTo>
                    <a:pt x="44283" y="431148"/>
                  </a:lnTo>
                  <a:lnTo>
                    <a:pt x="10393831" y="431148"/>
                  </a:lnTo>
                  <a:lnTo>
                    <a:pt x="10411212" y="429113"/>
                  </a:lnTo>
                  <a:lnTo>
                    <a:pt x="10425462" y="423564"/>
                  </a:lnTo>
                  <a:lnTo>
                    <a:pt x="10435100" y="415341"/>
                  </a:lnTo>
                  <a:lnTo>
                    <a:pt x="10438642" y="405279"/>
                  </a:lnTo>
                  <a:lnTo>
                    <a:pt x="10438642" y="25868"/>
                  </a:lnTo>
                  <a:lnTo>
                    <a:pt x="10435100" y="15785"/>
                  </a:lnTo>
                  <a:lnTo>
                    <a:pt x="10425462" y="7564"/>
                  </a:lnTo>
                  <a:lnTo>
                    <a:pt x="10411212" y="2028"/>
                  </a:lnTo>
                  <a:lnTo>
                    <a:pt x="10393831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89869" y="3352276"/>
            <a:ext cx="10438765" cy="431165"/>
          </a:xfrm>
          <a:prstGeom prst="rect">
            <a:avLst/>
          </a:prstGeom>
          <a:ln w="12813">
            <a:solidFill>
              <a:srgbClr val="6C8EBE"/>
            </a:solidFill>
          </a:ln>
        </p:spPr>
        <p:txBody>
          <a:bodyPr vert="horz" wrap="square" lIns="0" tIns="736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0"/>
              </a:spcBef>
            </a:pPr>
            <a:endParaRPr sz="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600" spc="155" dirty="0">
                <a:latin typeface="Microsoft Sans Serif"/>
                <a:cs typeface="Microsoft Sans Serif"/>
              </a:rPr>
              <a:t>Validation</a:t>
            </a:r>
            <a:r>
              <a:rPr sz="600" spc="145" dirty="0">
                <a:latin typeface="Microsoft Sans Serif"/>
                <a:cs typeface="Microsoft Sans Serif"/>
              </a:rPr>
              <a:t> </a:t>
            </a:r>
            <a:r>
              <a:rPr sz="600" spc="195" dirty="0">
                <a:latin typeface="Microsoft Sans Serif"/>
                <a:cs typeface="Microsoft Sans Serif"/>
              </a:rPr>
              <a:t>Middleware</a:t>
            </a:r>
            <a:r>
              <a:rPr sz="600" spc="135" dirty="0">
                <a:latin typeface="Microsoft Sans Serif"/>
                <a:cs typeface="Microsoft Sans Serif"/>
              </a:rPr>
              <a:t> </a:t>
            </a:r>
            <a:r>
              <a:rPr sz="600" spc="150" dirty="0">
                <a:latin typeface="Microsoft Sans Serif"/>
                <a:cs typeface="Microsoft Sans Serif"/>
              </a:rPr>
              <a:t>(src/middleware/validation.js)...</a:t>
            </a:r>
            <a:endParaRPr sz="6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85107" y="3778662"/>
            <a:ext cx="5229225" cy="841375"/>
            <a:chOff x="685107" y="3778662"/>
            <a:chExt cx="5229225" cy="841375"/>
          </a:xfrm>
        </p:grpSpPr>
        <p:sp>
          <p:nvSpPr>
            <p:cNvPr id="19" name="object 19"/>
            <p:cNvSpPr/>
            <p:nvPr/>
          </p:nvSpPr>
          <p:spPr>
            <a:xfrm>
              <a:off x="3220340" y="3783424"/>
              <a:ext cx="2689225" cy="220979"/>
            </a:xfrm>
            <a:custGeom>
              <a:avLst/>
              <a:gdLst/>
              <a:ahLst/>
              <a:cxnLst/>
              <a:rect l="l" t="t" r="r" b="b"/>
              <a:pathLst>
                <a:path w="2689225" h="220979">
                  <a:moveTo>
                    <a:pt x="2688628" y="0"/>
                  </a:moveTo>
                  <a:lnTo>
                    <a:pt x="2688628" y="77401"/>
                  </a:lnTo>
                  <a:lnTo>
                    <a:pt x="2662269" y="123595"/>
                  </a:lnTo>
                  <a:lnTo>
                    <a:pt x="2583192" y="138994"/>
                  </a:lnTo>
                  <a:lnTo>
                    <a:pt x="105436" y="138994"/>
                  </a:lnTo>
                  <a:lnTo>
                    <a:pt x="59307" y="141545"/>
                  </a:lnTo>
                  <a:lnTo>
                    <a:pt x="26359" y="149201"/>
                  </a:lnTo>
                  <a:lnTo>
                    <a:pt x="6589" y="161968"/>
                  </a:lnTo>
                  <a:lnTo>
                    <a:pt x="0" y="179850"/>
                  </a:lnTo>
                  <a:lnTo>
                    <a:pt x="0" y="220604"/>
                  </a:lnTo>
                </a:path>
              </a:pathLst>
            </a:custGeom>
            <a:ln w="928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80801" y="4004029"/>
              <a:ext cx="79375" cy="46355"/>
            </a:xfrm>
            <a:custGeom>
              <a:avLst/>
              <a:gdLst/>
              <a:ahLst/>
              <a:cxnLst/>
              <a:rect l="l" t="t" r="r" b="b"/>
              <a:pathLst>
                <a:path w="79375" h="46354">
                  <a:moveTo>
                    <a:pt x="79077" y="0"/>
                  </a:moveTo>
                  <a:lnTo>
                    <a:pt x="0" y="0"/>
                  </a:lnTo>
                  <a:lnTo>
                    <a:pt x="39538" y="46194"/>
                  </a:lnTo>
                  <a:lnTo>
                    <a:pt x="7907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80801" y="4004029"/>
              <a:ext cx="79375" cy="46355"/>
            </a:xfrm>
            <a:custGeom>
              <a:avLst/>
              <a:gdLst/>
              <a:ahLst/>
              <a:cxnLst/>
              <a:rect l="l" t="t" r="r" b="b"/>
              <a:pathLst>
                <a:path w="79375" h="46354">
                  <a:moveTo>
                    <a:pt x="39538" y="46194"/>
                  </a:moveTo>
                  <a:lnTo>
                    <a:pt x="0" y="0"/>
                  </a:lnTo>
                  <a:lnTo>
                    <a:pt x="79077" y="0"/>
                  </a:lnTo>
                  <a:lnTo>
                    <a:pt x="39538" y="46194"/>
                  </a:lnTo>
                  <a:close/>
                </a:path>
              </a:pathLst>
            </a:custGeom>
            <a:ln w="1091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9870" y="4060591"/>
              <a:ext cx="5060950" cy="554355"/>
            </a:xfrm>
            <a:custGeom>
              <a:avLst/>
              <a:gdLst/>
              <a:ahLst/>
              <a:cxnLst/>
              <a:rect l="l" t="t" r="r" b="b"/>
              <a:pathLst>
                <a:path w="5060950" h="554354">
                  <a:moveTo>
                    <a:pt x="5004008" y="0"/>
                  </a:moveTo>
                  <a:lnTo>
                    <a:pt x="5044271" y="9739"/>
                  </a:lnTo>
                  <a:lnTo>
                    <a:pt x="5060944" y="521073"/>
                  </a:lnTo>
                  <a:lnTo>
                    <a:pt x="5056471" y="534022"/>
                  </a:lnTo>
                  <a:lnTo>
                    <a:pt x="5044272" y="544594"/>
                  </a:lnTo>
                  <a:lnTo>
                    <a:pt x="5026174" y="551720"/>
                  </a:lnTo>
                  <a:lnTo>
                    <a:pt x="5004008" y="554333"/>
                  </a:lnTo>
                  <a:lnTo>
                    <a:pt x="56935" y="554333"/>
                  </a:lnTo>
                  <a:lnTo>
                    <a:pt x="16676" y="544594"/>
                  </a:lnTo>
                  <a:lnTo>
                    <a:pt x="0" y="33260"/>
                  </a:lnTo>
                  <a:lnTo>
                    <a:pt x="4474" y="20311"/>
                  </a:lnTo>
                  <a:lnTo>
                    <a:pt x="16676" y="9739"/>
                  </a:lnTo>
                  <a:lnTo>
                    <a:pt x="34773" y="2612"/>
                  </a:lnTo>
                  <a:lnTo>
                    <a:pt x="56935" y="0"/>
                  </a:lnTo>
                  <a:lnTo>
                    <a:pt x="5004008" y="0"/>
                  </a:lnTo>
                  <a:close/>
                </a:path>
              </a:pathLst>
            </a:custGeom>
            <a:ln w="93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372496" y="4274501"/>
            <a:ext cx="1686560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spc="190" dirty="0">
                <a:latin typeface="Microsoft Sans Serif"/>
                <a:cs typeface="Microsoft Sans Serif"/>
              </a:rPr>
              <a:t>Controllers</a:t>
            </a:r>
            <a:r>
              <a:rPr sz="550" spc="180" dirty="0">
                <a:latin typeface="Microsoft Sans Serif"/>
                <a:cs typeface="Microsoft Sans Serif"/>
              </a:rPr>
              <a:t> </a:t>
            </a:r>
            <a:r>
              <a:rPr sz="550" spc="155" dirty="0">
                <a:latin typeface="Microsoft Sans Serif"/>
                <a:cs typeface="Microsoft Sans Serif"/>
              </a:rPr>
              <a:t>(src/controllers/)...</a:t>
            </a:r>
            <a:endParaRPr sz="550">
              <a:latin typeface="Microsoft Sans Serif"/>
              <a:cs typeface="Microsoft Sans Serif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46051" y="4308311"/>
            <a:ext cx="415290" cy="59055"/>
            <a:chOff x="5746051" y="4308311"/>
            <a:chExt cx="415290" cy="59055"/>
          </a:xfrm>
        </p:grpSpPr>
        <p:sp>
          <p:nvSpPr>
            <p:cNvPr id="25" name="object 25"/>
            <p:cNvSpPr/>
            <p:nvPr/>
          </p:nvSpPr>
          <p:spPr>
            <a:xfrm>
              <a:off x="5750814" y="4337758"/>
              <a:ext cx="325120" cy="0"/>
            </a:xfrm>
            <a:custGeom>
              <a:avLst/>
              <a:gdLst/>
              <a:ahLst/>
              <a:cxnLst/>
              <a:rect l="l" t="t" r="r" b="b"/>
              <a:pathLst>
                <a:path w="325120">
                  <a:moveTo>
                    <a:pt x="0" y="0"/>
                  </a:moveTo>
                  <a:lnTo>
                    <a:pt x="324919" y="0"/>
                  </a:lnTo>
                </a:path>
              </a:pathLst>
            </a:custGeom>
            <a:ln w="9238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75734" y="4314661"/>
              <a:ext cx="79375" cy="46355"/>
            </a:xfrm>
            <a:custGeom>
              <a:avLst/>
              <a:gdLst/>
              <a:ahLst/>
              <a:cxnLst/>
              <a:rect l="l" t="t" r="r" b="b"/>
              <a:pathLst>
                <a:path w="79375" h="46354">
                  <a:moveTo>
                    <a:pt x="0" y="0"/>
                  </a:moveTo>
                  <a:lnTo>
                    <a:pt x="0" y="46194"/>
                  </a:lnTo>
                  <a:lnTo>
                    <a:pt x="79077" y="230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75734" y="4314661"/>
              <a:ext cx="79375" cy="46355"/>
            </a:xfrm>
            <a:custGeom>
              <a:avLst/>
              <a:gdLst/>
              <a:ahLst/>
              <a:cxnLst/>
              <a:rect l="l" t="t" r="r" b="b"/>
              <a:pathLst>
                <a:path w="79375" h="46354">
                  <a:moveTo>
                    <a:pt x="79077" y="23097"/>
                  </a:moveTo>
                  <a:lnTo>
                    <a:pt x="0" y="46194"/>
                  </a:lnTo>
                  <a:lnTo>
                    <a:pt x="0" y="0"/>
                  </a:lnTo>
                  <a:lnTo>
                    <a:pt x="79077" y="23097"/>
                  </a:lnTo>
                  <a:close/>
                </a:path>
              </a:pathLst>
            </a:custGeom>
            <a:ln w="1091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841354" y="4280660"/>
            <a:ext cx="236220" cy="99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spc="135" dirty="0">
                <a:solidFill>
                  <a:srgbClr val="666666"/>
                </a:solidFill>
                <a:latin typeface="Microsoft Sans Serif"/>
                <a:cs typeface="Microsoft Sans Serif"/>
              </a:rPr>
              <a:t>calls</a:t>
            </a:r>
            <a:endParaRPr sz="450">
              <a:latin typeface="Microsoft Sans Serif"/>
              <a:cs typeface="Microsoft Sans Serif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167797" y="4055829"/>
            <a:ext cx="5071110" cy="563880"/>
            <a:chOff x="6167797" y="4055829"/>
            <a:chExt cx="5071110" cy="563880"/>
          </a:xfrm>
        </p:grpSpPr>
        <p:sp>
          <p:nvSpPr>
            <p:cNvPr id="30" name="object 30"/>
            <p:cNvSpPr/>
            <p:nvPr/>
          </p:nvSpPr>
          <p:spPr>
            <a:xfrm>
              <a:off x="6172560" y="4060592"/>
              <a:ext cx="5061585" cy="554355"/>
            </a:xfrm>
            <a:custGeom>
              <a:avLst/>
              <a:gdLst/>
              <a:ahLst/>
              <a:cxnLst/>
              <a:rect l="l" t="t" r="r" b="b"/>
              <a:pathLst>
                <a:path w="5061584" h="554354">
                  <a:moveTo>
                    <a:pt x="5004276" y="0"/>
                  </a:moveTo>
                  <a:lnTo>
                    <a:pt x="56935" y="0"/>
                  </a:lnTo>
                  <a:lnTo>
                    <a:pt x="34769" y="2612"/>
                  </a:lnTo>
                  <a:lnTo>
                    <a:pt x="16672" y="9739"/>
                  </a:lnTo>
                  <a:lnTo>
                    <a:pt x="4472" y="20311"/>
                  </a:lnTo>
                  <a:lnTo>
                    <a:pt x="0" y="33260"/>
                  </a:lnTo>
                  <a:lnTo>
                    <a:pt x="0" y="521073"/>
                  </a:lnTo>
                  <a:lnTo>
                    <a:pt x="4472" y="534022"/>
                  </a:lnTo>
                  <a:lnTo>
                    <a:pt x="16672" y="544594"/>
                  </a:lnTo>
                  <a:lnTo>
                    <a:pt x="34769" y="551720"/>
                  </a:lnTo>
                  <a:lnTo>
                    <a:pt x="56935" y="554333"/>
                  </a:lnTo>
                  <a:lnTo>
                    <a:pt x="5004276" y="554333"/>
                  </a:lnTo>
                  <a:lnTo>
                    <a:pt x="5026173" y="551720"/>
                  </a:lnTo>
                  <a:lnTo>
                    <a:pt x="5044364" y="544594"/>
                  </a:lnTo>
                  <a:lnTo>
                    <a:pt x="5056788" y="534022"/>
                  </a:lnTo>
                  <a:lnTo>
                    <a:pt x="5061387" y="521073"/>
                  </a:lnTo>
                  <a:lnTo>
                    <a:pt x="5061387" y="33260"/>
                  </a:lnTo>
                  <a:lnTo>
                    <a:pt x="5056788" y="20311"/>
                  </a:lnTo>
                  <a:lnTo>
                    <a:pt x="5044364" y="9739"/>
                  </a:lnTo>
                  <a:lnTo>
                    <a:pt x="5026173" y="2612"/>
                  </a:lnTo>
                  <a:lnTo>
                    <a:pt x="5004276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72560" y="4060592"/>
              <a:ext cx="5061585" cy="554355"/>
            </a:xfrm>
            <a:custGeom>
              <a:avLst/>
              <a:gdLst/>
              <a:ahLst/>
              <a:cxnLst/>
              <a:rect l="l" t="t" r="r" b="b"/>
              <a:pathLst>
                <a:path w="5061584" h="554354">
                  <a:moveTo>
                    <a:pt x="5004276" y="0"/>
                  </a:moveTo>
                  <a:lnTo>
                    <a:pt x="5044364" y="9739"/>
                  </a:lnTo>
                  <a:lnTo>
                    <a:pt x="5061387" y="521073"/>
                  </a:lnTo>
                  <a:lnTo>
                    <a:pt x="5056788" y="534022"/>
                  </a:lnTo>
                  <a:lnTo>
                    <a:pt x="5044364" y="544594"/>
                  </a:lnTo>
                  <a:lnTo>
                    <a:pt x="5026173" y="551720"/>
                  </a:lnTo>
                  <a:lnTo>
                    <a:pt x="5004276" y="554333"/>
                  </a:lnTo>
                  <a:lnTo>
                    <a:pt x="56935" y="554333"/>
                  </a:lnTo>
                  <a:lnTo>
                    <a:pt x="16672" y="544594"/>
                  </a:lnTo>
                  <a:lnTo>
                    <a:pt x="0" y="33260"/>
                  </a:lnTo>
                  <a:lnTo>
                    <a:pt x="4472" y="20311"/>
                  </a:lnTo>
                  <a:lnTo>
                    <a:pt x="16672" y="9739"/>
                  </a:lnTo>
                  <a:lnTo>
                    <a:pt x="34769" y="2612"/>
                  </a:lnTo>
                  <a:lnTo>
                    <a:pt x="56935" y="0"/>
                  </a:lnTo>
                  <a:lnTo>
                    <a:pt x="5004276" y="0"/>
                  </a:lnTo>
                  <a:close/>
                </a:path>
              </a:pathLst>
            </a:custGeom>
            <a:ln w="9316">
              <a:solidFill>
                <a:srgbClr val="6C8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981714" y="4274501"/>
            <a:ext cx="1440180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spc="204" dirty="0">
                <a:latin typeface="Microsoft Sans Serif"/>
                <a:cs typeface="Microsoft Sans Serif"/>
              </a:rPr>
              <a:t>Services</a:t>
            </a:r>
            <a:r>
              <a:rPr sz="550" spc="175" dirty="0">
                <a:latin typeface="Microsoft Sans Serif"/>
                <a:cs typeface="Microsoft Sans Serif"/>
              </a:rPr>
              <a:t> </a:t>
            </a:r>
            <a:r>
              <a:rPr sz="550" spc="160" dirty="0">
                <a:latin typeface="Microsoft Sans Serif"/>
                <a:cs typeface="Microsoft Sans Serif"/>
              </a:rPr>
              <a:t>(src/services/)...</a:t>
            </a:r>
            <a:endParaRPr sz="550">
              <a:latin typeface="Microsoft Sans Serif"/>
              <a:cs typeface="Microsoft Sans Serif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85107" y="4610163"/>
            <a:ext cx="10448290" cy="871855"/>
            <a:chOff x="685107" y="4610163"/>
            <a:chExt cx="10448290" cy="871855"/>
          </a:xfrm>
        </p:grpSpPr>
        <p:sp>
          <p:nvSpPr>
            <p:cNvPr id="34" name="object 34"/>
            <p:cNvSpPr/>
            <p:nvPr/>
          </p:nvSpPr>
          <p:spPr>
            <a:xfrm>
              <a:off x="5908969" y="4614925"/>
              <a:ext cx="2794635" cy="251460"/>
            </a:xfrm>
            <a:custGeom>
              <a:avLst/>
              <a:gdLst/>
              <a:ahLst/>
              <a:cxnLst/>
              <a:rect l="l" t="t" r="r" b="b"/>
              <a:pathLst>
                <a:path w="2794634" h="251460">
                  <a:moveTo>
                    <a:pt x="2794065" y="0"/>
                  </a:moveTo>
                  <a:lnTo>
                    <a:pt x="2794065" y="92388"/>
                  </a:lnTo>
                  <a:lnTo>
                    <a:pt x="2767706" y="138583"/>
                  </a:lnTo>
                  <a:lnTo>
                    <a:pt x="2688628" y="153981"/>
                  </a:lnTo>
                  <a:lnTo>
                    <a:pt x="105436" y="153981"/>
                  </a:lnTo>
                  <a:lnTo>
                    <a:pt x="59307" y="157023"/>
                  </a:lnTo>
                  <a:lnTo>
                    <a:pt x="26359" y="166152"/>
                  </a:lnTo>
                  <a:lnTo>
                    <a:pt x="6589" y="181373"/>
                  </a:lnTo>
                  <a:lnTo>
                    <a:pt x="0" y="202691"/>
                  </a:lnTo>
                  <a:lnTo>
                    <a:pt x="0" y="251400"/>
                  </a:lnTo>
                </a:path>
              </a:pathLst>
            </a:custGeom>
            <a:ln w="9291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69430" y="4866326"/>
              <a:ext cx="79375" cy="46355"/>
            </a:xfrm>
            <a:custGeom>
              <a:avLst/>
              <a:gdLst/>
              <a:ahLst/>
              <a:cxnLst/>
              <a:rect l="l" t="t" r="r" b="b"/>
              <a:pathLst>
                <a:path w="79375" h="46354">
                  <a:moveTo>
                    <a:pt x="79077" y="0"/>
                  </a:moveTo>
                  <a:lnTo>
                    <a:pt x="0" y="0"/>
                  </a:lnTo>
                  <a:lnTo>
                    <a:pt x="39538" y="46194"/>
                  </a:lnTo>
                  <a:lnTo>
                    <a:pt x="79077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69430" y="4866326"/>
              <a:ext cx="79375" cy="46355"/>
            </a:xfrm>
            <a:custGeom>
              <a:avLst/>
              <a:gdLst/>
              <a:ahLst/>
              <a:cxnLst/>
              <a:rect l="l" t="t" r="r" b="b"/>
              <a:pathLst>
                <a:path w="79375" h="46354">
                  <a:moveTo>
                    <a:pt x="39538" y="46194"/>
                  </a:moveTo>
                  <a:lnTo>
                    <a:pt x="0" y="0"/>
                  </a:lnTo>
                  <a:lnTo>
                    <a:pt x="79077" y="0"/>
                  </a:lnTo>
                  <a:lnTo>
                    <a:pt x="39538" y="46194"/>
                  </a:lnTo>
                  <a:close/>
                </a:path>
              </a:pathLst>
            </a:custGeom>
            <a:ln w="1091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20340" y="4614925"/>
              <a:ext cx="2689225" cy="258445"/>
            </a:xfrm>
            <a:custGeom>
              <a:avLst/>
              <a:gdLst/>
              <a:ahLst/>
              <a:cxnLst/>
              <a:rect l="l" t="t" r="r" b="b"/>
              <a:pathLst>
                <a:path w="2689225" h="258445">
                  <a:moveTo>
                    <a:pt x="0" y="0"/>
                  </a:moveTo>
                  <a:lnTo>
                    <a:pt x="0" y="92388"/>
                  </a:lnTo>
                  <a:lnTo>
                    <a:pt x="26359" y="138583"/>
                  </a:lnTo>
                  <a:lnTo>
                    <a:pt x="105436" y="153981"/>
                  </a:lnTo>
                  <a:lnTo>
                    <a:pt x="2583192" y="153981"/>
                  </a:lnTo>
                  <a:lnTo>
                    <a:pt x="2629320" y="157225"/>
                  </a:lnTo>
                  <a:lnTo>
                    <a:pt x="2662269" y="166960"/>
                  </a:lnTo>
                  <a:lnTo>
                    <a:pt x="2682039" y="183192"/>
                  </a:lnTo>
                  <a:lnTo>
                    <a:pt x="2688628" y="205924"/>
                  </a:lnTo>
                  <a:lnTo>
                    <a:pt x="2688628" y="257919"/>
                  </a:lnTo>
                </a:path>
              </a:pathLst>
            </a:custGeom>
            <a:ln w="7232">
              <a:solidFill>
                <a:srgbClr val="AAAAA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872066" y="4872844"/>
              <a:ext cx="74295" cy="43180"/>
            </a:xfrm>
            <a:custGeom>
              <a:avLst/>
              <a:gdLst/>
              <a:ahLst/>
              <a:cxnLst/>
              <a:rect l="l" t="t" r="r" b="b"/>
              <a:pathLst>
                <a:path w="74295" h="43179">
                  <a:moveTo>
                    <a:pt x="36902" y="43114"/>
                  </a:moveTo>
                  <a:lnTo>
                    <a:pt x="0" y="0"/>
                  </a:lnTo>
                  <a:lnTo>
                    <a:pt x="73805" y="0"/>
                  </a:lnTo>
                  <a:lnTo>
                    <a:pt x="36902" y="43114"/>
                  </a:lnTo>
                  <a:close/>
                </a:path>
              </a:pathLst>
            </a:custGeom>
            <a:ln w="8487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89869" y="4922888"/>
              <a:ext cx="10438765" cy="554355"/>
            </a:xfrm>
            <a:custGeom>
              <a:avLst/>
              <a:gdLst/>
              <a:ahLst/>
              <a:cxnLst/>
              <a:rect l="l" t="t" r="r" b="b"/>
              <a:pathLst>
                <a:path w="10438765" h="554354">
                  <a:moveTo>
                    <a:pt x="10381530" y="0"/>
                  </a:moveTo>
                  <a:lnTo>
                    <a:pt x="10421618" y="9739"/>
                  </a:lnTo>
                  <a:lnTo>
                    <a:pt x="10438642" y="521073"/>
                  </a:lnTo>
                  <a:lnTo>
                    <a:pt x="10434043" y="534022"/>
                  </a:lnTo>
                  <a:lnTo>
                    <a:pt x="10421618" y="544594"/>
                  </a:lnTo>
                  <a:lnTo>
                    <a:pt x="10403428" y="551720"/>
                  </a:lnTo>
                  <a:lnTo>
                    <a:pt x="10381530" y="554333"/>
                  </a:lnTo>
                  <a:lnTo>
                    <a:pt x="56935" y="554333"/>
                  </a:lnTo>
                  <a:lnTo>
                    <a:pt x="16676" y="544594"/>
                  </a:lnTo>
                  <a:lnTo>
                    <a:pt x="0" y="33260"/>
                  </a:lnTo>
                  <a:lnTo>
                    <a:pt x="4474" y="20311"/>
                  </a:lnTo>
                  <a:lnTo>
                    <a:pt x="16676" y="9739"/>
                  </a:lnTo>
                  <a:lnTo>
                    <a:pt x="34773" y="2612"/>
                  </a:lnTo>
                  <a:lnTo>
                    <a:pt x="56935" y="0"/>
                  </a:lnTo>
                  <a:lnTo>
                    <a:pt x="10381530" y="0"/>
                  </a:lnTo>
                  <a:close/>
                </a:path>
              </a:pathLst>
            </a:custGeom>
            <a:ln w="92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654140" y="5138030"/>
            <a:ext cx="2508885" cy="114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50" spc="240" dirty="0">
                <a:latin typeface="Microsoft Sans Serif"/>
                <a:cs typeface="Microsoft Sans Serif"/>
              </a:rPr>
              <a:t>PostgreSQL</a:t>
            </a:r>
            <a:r>
              <a:rPr sz="550" spc="55" dirty="0">
                <a:latin typeface="Microsoft Sans Serif"/>
                <a:cs typeface="Microsoft Sans Serif"/>
              </a:rPr>
              <a:t> </a:t>
            </a:r>
            <a:r>
              <a:rPr sz="550" spc="260" dirty="0">
                <a:latin typeface="Microsoft Sans Serif"/>
                <a:cs typeface="Microsoft Sans Serif"/>
              </a:rPr>
              <a:t>on</a:t>
            </a:r>
            <a:r>
              <a:rPr sz="550" spc="145" dirty="0">
                <a:latin typeface="Microsoft Sans Serif"/>
                <a:cs typeface="Microsoft Sans Serif"/>
              </a:rPr>
              <a:t> </a:t>
            </a:r>
            <a:r>
              <a:rPr sz="550" spc="265" dirty="0">
                <a:latin typeface="Microsoft Sans Serif"/>
                <a:cs typeface="Microsoft Sans Serif"/>
              </a:rPr>
              <a:t>Neon</a:t>
            </a:r>
            <a:r>
              <a:rPr sz="550" spc="145" dirty="0">
                <a:latin typeface="Microsoft Sans Serif"/>
                <a:cs typeface="Microsoft Sans Serif"/>
              </a:rPr>
              <a:t> </a:t>
            </a:r>
            <a:r>
              <a:rPr sz="550" spc="320" dirty="0">
                <a:latin typeface="Microsoft Sans Serif"/>
                <a:cs typeface="Microsoft Sans Serif"/>
              </a:rPr>
              <a:t>DB</a:t>
            </a:r>
            <a:r>
              <a:rPr sz="550" spc="130" dirty="0">
                <a:latin typeface="Microsoft Sans Serif"/>
                <a:cs typeface="Microsoft Sans Serif"/>
              </a:rPr>
              <a:t> </a:t>
            </a:r>
            <a:r>
              <a:rPr sz="550" spc="160" dirty="0">
                <a:latin typeface="Microsoft Sans Serif"/>
                <a:cs typeface="Microsoft Sans Serif"/>
              </a:rPr>
              <a:t>(src/config/db.js)...</a:t>
            </a:r>
            <a:endParaRPr sz="55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6126" y="5689032"/>
            <a:ext cx="2959735" cy="438784"/>
            <a:chOff x="686126" y="5689032"/>
            <a:chExt cx="2959735" cy="438784"/>
          </a:xfrm>
        </p:grpSpPr>
        <p:sp>
          <p:nvSpPr>
            <p:cNvPr id="42" name="object 42"/>
            <p:cNvSpPr/>
            <p:nvPr/>
          </p:nvSpPr>
          <p:spPr>
            <a:xfrm>
              <a:off x="689869" y="5692776"/>
              <a:ext cx="2952750" cy="431165"/>
            </a:xfrm>
            <a:custGeom>
              <a:avLst/>
              <a:gdLst/>
              <a:ahLst/>
              <a:cxnLst/>
              <a:rect l="l" t="t" r="r" b="b"/>
              <a:pathLst>
                <a:path w="2952750" h="431164">
                  <a:moveTo>
                    <a:pt x="2893172" y="0"/>
                  </a:moveTo>
                  <a:lnTo>
                    <a:pt x="59044" y="0"/>
                  </a:lnTo>
                  <a:lnTo>
                    <a:pt x="36061" y="2710"/>
                  </a:lnTo>
                  <a:lnTo>
                    <a:pt x="17293" y="10103"/>
                  </a:lnTo>
                  <a:lnTo>
                    <a:pt x="4640" y="21066"/>
                  </a:lnTo>
                  <a:lnTo>
                    <a:pt x="0" y="34491"/>
                  </a:lnTo>
                  <a:lnTo>
                    <a:pt x="0" y="396657"/>
                  </a:lnTo>
                  <a:lnTo>
                    <a:pt x="4640" y="410083"/>
                  </a:lnTo>
                  <a:lnTo>
                    <a:pt x="17293" y="421046"/>
                  </a:lnTo>
                  <a:lnTo>
                    <a:pt x="36061" y="428438"/>
                  </a:lnTo>
                  <a:lnTo>
                    <a:pt x="59044" y="431149"/>
                  </a:lnTo>
                  <a:lnTo>
                    <a:pt x="2893172" y="431149"/>
                  </a:lnTo>
                  <a:lnTo>
                    <a:pt x="2916149" y="428438"/>
                  </a:lnTo>
                  <a:lnTo>
                    <a:pt x="2934918" y="421046"/>
                  </a:lnTo>
                  <a:lnTo>
                    <a:pt x="2947574" y="410083"/>
                  </a:lnTo>
                  <a:lnTo>
                    <a:pt x="2952216" y="396657"/>
                  </a:lnTo>
                  <a:lnTo>
                    <a:pt x="2952216" y="34491"/>
                  </a:lnTo>
                  <a:lnTo>
                    <a:pt x="2947574" y="21066"/>
                  </a:lnTo>
                  <a:lnTo>
                    <a:pt x="2934918" y="10103"/>
                  </a:lnTo>
                  <a:lnTo>
                    <a:pt x="2916149" y="2710"/>
                  </a:lnTo>
                  <a:lnTo>
                    <a:pt x="2893172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89869" y="5692776"/>
              <a:ext cx="2952750" cy="431165"/>
            </a:xfrm>
            <a:custGeom>
              <a:avLst/>
              <a:gdLst/>
              <a:ahLst/>
              <a:cxnLst/>
              <a:rect l="l" t="t" r="r" b="b"/>
              <a:pathLst>
                <a:path w="2952750" h="431164">
                  <a:moveTo>
                    <a:pt x="2893172" y="0"/>
                  </a:moveTo>
                  <a:lnTo>
                    <a:pt x="2934918" y="10103"/>
                  </a:lnTo>
                  <a:lnTo>
                    <a:pt x="2952216" y="396657"/>
                  </a:lnTo>
                  <a:lnTo>
                    <a:pt x="2947574" y="410083"/>
                  </a:lnTo>
                  <a:lnTo>
                    <a:pt x="2934918" y="421046"/>
                  </a:lnTo>
                  <a:lnTo>
                    <a:pt x="2916149" y="428438"/>
                  </a:lnTo>
                  <a:lnTo>
                    <a:pt x="2893172" y="431149"/>
                  </a:lnTo>
                  <a:lnTo>
                    <a:pt x="59044" y="431149"/>
                  </a:lnTo>
                  <a:lnTo>
                    <a:pt x="17293" y="421046"/>
                  </a:lnTo>
                  <a:lnTo>
                    <a:pt x="0" y="34491"/>
                  </a:lnTo>
                  <a:lnTo>
                    <a:pt x="4640" y="21066"/>
                  </a:lnTo>
                  <a:lnTo>
                    <a:pt x="17293" y="10103"/>
                  </a:lnTo>
                  <a:lnTo>
                    <a:pt x="36061" y="2710"/>
                  </a:lnTo>
                  <a:lnTo>
                    <a:pt x="59044" y="0"/>
                  </a:lnTo>
                  <a:lnTo>
                    <a:pt x="2893172" y="0"/>
                  </a:lnTo>
                  <a:close/>
                </a:path>
              </a:pathLst>
            </a:custGeom>
            <a:ln w="7292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750421" y="5847557"/>
            <a:ext cx="816610" cy="1073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185" dirty="0">
                <a:solidFill>
                  <a:srgbClr val="333333"/>
                </a:solidFill>
                <a:latin typeface="Microsoft Sans Serif"/>
                <a:cs typeface="Microsoft Sans Serif"/>
              </a:rPr>
              <a:t>Error</a:t>
            </a:r>
            <a:r>
              <a:rPr sz="500" spc="15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500" spc="160" dirty="0">
                <a:solidFill>
                  <a:srgbClr val="333333"/>
                </a:solidFill>
                <a:latin typeface="Microsoft Sans Serif"/>
                <a:cs typeface="Microsoft Sans Serif"/>
              </a:rPr>
              <a:t>Handler...</a:t>
            </a:r>
            <a:endParaRPr sz="50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481767" y="5688966"/>
            <a:ext cx="2960370" cy="438784"/>
            <a:chOff x="4481767" y="5688966"/>
            <a:chExt cx="2960370" cy="438784"/>
          </a:xfrm>
        </p:grpSpPr>
        <p:sp>
          <p:nvSpPr>
            <p:cNvPr id="46" name="object 46"/>
            <p:cNvSpPr/>
            <p:nvPr/>
          </p:nvSpPr>
          <p:spPr>
            <a:xfrm>
              <a:off x="4485577" y="5692776"/>
              <a:ext cx="2952750" cy="431165"/>
            </a:xfrm>
            <a:custGeom>
              <a:avLst/>
              <a:gdLst/>
              <a:ahLst/>
              <a:cxnLst/>
              <a:rect l="l" t="t" r="r" b="b"/>
              <a:pathLst>
                <a:path w="2952750" h="431164">
                  <a:moveTo>
                    <a:pt x="2893175" y="0"/>
                  </a:moveTo>
                  <a:lnTo>
                    <a:pt x="59044" y="0"/>
                  </a:lnTo>
                  <a:lnTo>
                    <a:pt x="36066" y="2710"/>
                  </a:lnTo>
                  <a:lnTo>
                    <a:pt x="17298" y="10103"/>
                  </a:lnTo>
                  <a:lnTo>
                    <a:pt x="4641" y="21066"/>
                  </a:lnTo>
                  <a:lnTo>
                    <a:pt x="0" y="34491"/>
                  </a:lnTo>
                  <a:lnTo>
                    <a:pt x="0" y="396657"/>
                  </a:lnTo>
                  <a:lnTo>
                    <a:pt x="4641" y="410083"/>
                  </a:lnTo>
                  <a:lnTo>
                    <a:pt x="17298" y="421046"/>
                  </a:lnTo>
                  <a:lnTo>
                    <a:pt x="36066" y="428438"/>
                  </a:lnTo>
                  <a:lnTo>
                    <a:pt x="59044" y="431149"/>
                  </a:lnTo>
                  <a:lnTo>
                    <a:pt x="2893175" y="431149"/>
                  </a:lnTo>
                  <a:lnTo>
                    <a:pt x="2916153" y="428438"/>
                  </a:lnTo>
                  <a:lnTo>
                    <a:pt x="2934921" y="421046"/>
                  </a:lnTo>
                  <a:lnTo>
                    <a:pt x="2947578" y="410083"/>
                  </a:lnTo>
                  <a:lnTo>
                    <a:pt x="2952219" y="396657"/>
                  </a:lnTo>
                  <a:lnTo>
                    <a:pt x="2952219" y="34491"/>
                  </a:lnTo>
                  <a:lnTo>
                    <a:pt x="2947578" y="21066"/>
                  </a:lnTo>
                  <a:lnTo>
                    <a:pt x="2934921" y="10103"/>
                  </a:lnTo>
                  <a:lnTo>
                    <a:pt x="2916153" y="2710"/>
                  </a:lnTo>
                  <a:lnTo>
                    <a:pt x="2893175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485577" y="5692776"/>
              <a:ext cx="2952750" cy="431165"/>
            </a:xfrm>
            <a:custGeom>
              <a:avLst/>
              <a:gdLst/>
              <a:ahLst/>
              <a:cxnLst/>
              <a:rect l="l" t="t" r="r" b="b"/>
              <a:pathLst>
                <a:path w="2952750" h="431164">
                  <a:moveTo>
                    <a:pt x="2893175" y="0"/>
                  </a:moveTo>
                  <a:lnTo>
                    <a:pt x="2934921" y="10103"/>
                  </a:lnTo>
                  <a:lnTo>
                    <a:pt x="2952219" y="396657"/>
                  </a:lnTo>
                  <a:lnTo>
                    <a:pt x="2947578" y="410083"/>
                  </a:lnTo>
                  <a:lnTo>
                    <a:pt x="2934921" y="421046"/>
                  </a:lnTo>
                  <a:lnTo>
                    <a:pt x="2916153" y="428438"/>
                  </a:lnTo>
                  <a:lnTo>
                    <a:pt x="2893175" y="431149"/>
                  </a:lnTo>
                  <a:lnTo>
                    <a:pt x="59044" y="431149"/>
                  </a:lnTo>
                  <a:lnTo>
                    <a:pt x="17298" y="421046"/>
                  </a:lnTo>
                  <a:lnTo>
                    <a:pt x="0" y="34491"/>
                  </a:lnTo>
                  <a:lnTo>
                    <a:pt x="4641" y="21066"/>
                  </a:lnTo>
                  <a:lnTo>
                    <a:pt x="17298" y="10103"/>
                  </a:lnTo>
                  <a:lnTo>
                    <a:pt x="36066" y="2710"/>
                  </a:lnTo>
                  <a:lnTo>
                    <a:pt x="59044" y="0"/>
                  </a:lnTo>
                  <a:lnTo>
                    <a:pt x="2893175" y="0"/>
                  </a:lnTo>
                  <a:close/>
                </a:path>
              </a:pathLst>
            </a:custGeom>
            <a:ln w="7292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5697961" y="5847557"/>
            <a:ext cx="521334" cy="1073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spc="185" dirty="0">
                <a:solidFill>
                  <a:srgbClr val="333333"/>
                </a:solidFill>
                <a:latin typeface="Microsoft Sans Serif"/>
                <a:cs typeface="Microsoft Sans Serif"/>
              </a:rPr>
              <a:t>.env</a:t>
            </a:r>
            <a:r>
              <a:rPr sz="500" spc="160" dirty="0">
                <a:solidFill>
                  <a:srgbClr val="333333"/>
                </a:solidFill>
                <a:latin typeface="Microsoft Sans Serif"/>
                <a:cs typeface="Microsoft Sans Serif"/>
              </a:rPr>
              <a:t> </a:t>
            </a:r>
            <a:r>
              <a:rPr sz="500" spc="110" dirty="0">
                <a:solidFill>
                  <a:srgbClr val="333333"/>
                </a:solidFill>
                <a:latin typeface="Microsoft Sans Serif"/>
                <a:cs typeface="Microsoft Sans Serif"/>
              </a:rPr>
              <a:t>file...</a:t>
            </a:r>
            <a:endParaRPr sz="500">
              <a:latin typeface="Microsoft Sans Serif"/>
              <a:cs typeface="Microsoft Sans Serif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891507" y="5479203"/>
            <a:ext cx="83820" cy="220345"/>
            <a:chOff x="5891507" y="5479203"/>
            <a:chExt cx="83820" cy="220345"/>
          </a:xfrm>
        </p:grpSpPr>
        <p:sp>
          <p:nvSpPr>
            <p:cNvPr id="50" name="object 50"/>
            <p:cNvSpPr/>
            <p:nvPr/>
          </p:nvSpPr>
          <p:spPr>
            <a:xfrm>
              <a:off x="5930583" y="5490926"/>
              <a:ext cx="15240" cy="201930"/>
            </a:xfrm>
            <a:custGeom>
              <a:avLst/>
              <a:gdLst/>
              <a:ahLst/>
              <a:cxnLst/>
              <a:rect l="l" t="t" r="r" b="b"/>
              <a:pathLst>
                <a:path w="15239" h="201929">
                  <a:moveTo>
                    <a:pt x="15112" y="201849"/>
                  </a:moveTo>
                  <a:lnTo>
                    <a:pt x="0" y="0"/>
                  </a:lnTo>
                </a:path>
              </a:pathLst>
            </a:custGeom>
            <a:ln w="12272">
              <a:solidFill>
                <a:srgbClr val="AAAAAA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896404" y="5484100"/>
              <a:ext cx="74295" cy="44450"/>
            </a:xfrm>
            <a:custGeom>
              <a:avLst/>
              <a:gdLst/>
              <a:ahLst/>
              <a:cxnLst/>
              <a:rect l="l" t="t" r="r" b="b"/>
              <a:pathLst>
                <a:path w="74295" h="44450">
                  <a:moveTo>
                    <a:pt x="73805" y="42139"/>
                  </a:moveTo>
                  <a:lnTo>
                    <a:pt x="33739" y="0"/>
                  </a:lnTo>
                  <a:lnTo>
                    <a:pt x="0" y="43987"/>
                  </a:lnTo>
                </a:path>
              </a:pathLst>
            </a:custGeom>
            <a:ln w="8526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387978" y="6026175"/>
            <a:ext cx="1520190" cy="99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50" spc="165" dirty="0">
                <a:latin typeface="Arial MT"/>
                <a:cs typeface="Arial MT"/>
              </a:rPr>
              <a:t>Text</a:t>
            </a:r>
            <a:r>
              <a:rPr sz="450" spc="50" dirty="0">
                <a:latin typeface="Arial MT"/>
                <a:cs typeface="Arial MT"/>
              </a:rPr>
              <a:t> </a:t>
            </a:r>
            <a:r>
              <a:rPr sz="450" spc="125" dirty="0">
                <a:latin typeface="Arial MT"/>
                <a:cs typeface="Arial MT"/>
              </a:rPr>
              <a:t>is</a:t>
            </a:r>
            <a:r>
              <a:rPr sz="450" spc="130" dirty="0">
                <a:latin typeface="Arial MT"/>
                <a:cs typeface="Arial MT"/>
              </a:rPr>
              <a:t> </a:t>
            </a:r>
            <a:r>
              <a:rPr sz="450" spc="170" dirty="0">
                <a:latin typeface="Arial MT"/>
                <a:cs typeface="Arial MT"/>
              </a:rPr>
              <a:t>not</a:t>
            </a:r>
            <a:r>
              <a:rPr sz="450" spc="150" dirty="0">
                <a:latin typeface="Arial MT"/>
                <a:cs typeface="Arial MT"/>
              </a:rPr>
              <a:t> </a:t>
            </a:r>
            <a:r>
              <a:rPr sz="450" spc="250" dirty="0">
                <a:latin typeface="Arial MT"/>
                <a:cs typeface="Arial MT"/>
              </a:rPr>
              <a:t>SVG</a:t>
            </a:r>
            <a:r>
              <a:rPr sz="450" spc="135" dirty="0">
                <a:latin typeface="Arial MT"/>
                <a:cs typeface="Arial MT"/>
              </a:rPr>
              <a:t> </a:t>
            </a:r>
            <a:r>
              <a:rPr sz="450" spc="125" dirty="0">
                <a:latin typeface="Arial MT"/>
                <a:cs typeface="Arial MT"/>
              </a:rPr>
              <a:t>-</a:t>
            </a:r>
            <a:r>
              <a:rPr sz="450" spc="105" dirty="0">
                <a:latin typeface="Arial MT"/>
                <a:cs typeface="Arial MT"/>
              </a:rPr>
              <a:t> </a:t>
            </a:r>
            <a:r>
              <a:rPr sz="450" spc="180" dirty="0">
                <a:latin typeface="Arial MT"/>
                <a:cs typeface="Arial MT"/>
              </a:rPr>
              <a:t>cannot</a:t>
            </a:r>
            <a:r>
              <a:rPr sz="450" spc="150" dirty="0">
                <a:latin typeface="Arial MT"/>
                <a:cs typeface="Arial MT"/>
              </a:rPr>
              <a:t> </a:t>
            </a:r>
            <a:r>
              <a:rPr sz="450" spc="120" dirty="0">
                <a:latin typeface="Arial MT"/>
                <a:cs typeface="Arial MT"/>
              </a:rPr>
              <a:t>di</a:t>
            </a:r>
            <a:r>
              <a:rPr sz="450" spc="-60" dirty="0">
                <a:latin typeface="Arial MT"/>
                <a:cs typeface="Arial MT"/>
              </a:rPr>
              <a:t> </a:t>
            </a:r>
            <a:r>
              <a:rPr sz="450" spc="155" dirty="0">
                <a:latin typeface="Arial MT"/>
                <a:cs typeface="Arial MT"/>
              </a:rPr>
              <a:t>splay</a:t>
            </a:r>
            <a:endParaRPr sz="450">
              <a:latin typeface="Arial MT"/>
              <a:cs typeface="Arial MT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627380" y="448767"/>
            <a:ext cx="25476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C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sz="1300" b="1" spc="42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10</a:t>
            </a:r>
            <a:r>
              <a:rPr sz="2800" spc="-30" dirty="0"/>
              <a:t> </a:t>
            </a:r>
            <a:r>
              <a:rPr sz="2800" dirty="0"/>
              <a:t>REST</a:t>
            </a:r>
            <a:r>
              <a:rPr sz="2800" spc="-55" dirty="0"/>
              <a:t> </a:t>
            </a:r>
            <a:r>
              <a:rPr sz="2800" dirty="0"/>
              <a:t>API</a:t>
            </a:r>
            <a:r>
              <a:rPr sz="2800" spc="-40" dirty="0"/>
              <a:t> </a:t>
            </a:r>
            <a:r>
              <a:rPr sz="2800" spc="-10" dirty="0"/>
              <a:t>Endpoints</a:t>
            </a:r>
            <a:endParaRPr sz="28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36905" y="1414144"/>
          <a:ext cx="10881359" cy="383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/>
                <a:gridCol w="3931920"/>
                <a:gridCol w="5943599"/>
              </a:tblGrid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Endpoint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9969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2462E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b="1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/api/devices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Register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device;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returns</a:t>
                      </a:r>
                      <a:r>
                        <a:rPr sz="1050" spc="-4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generated</a:t>
                      </a:r>
                      <a:r>
                        <a:rPr sz="1050" spc="-4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anonymous_id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b="1" spc="-25" dirty="0">
                          <a:solidFill>
                            <a:srgbClr val="2462EB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/api/devices/:deviceId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Retrieve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registered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 by</a:t>
                      </a:r>
                      <a:r>
                        <a:rPr sz="1050" spc="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UUID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4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b="1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/api/metrics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Ingest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050" spc="-3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reading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b="1" spc="-25" dirty="0">
                          <a:solidFill>
                            <a:srgbClr val="2462EB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/api/metrics/latest/:deviceId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330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most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recent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/api/locations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Record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new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GPS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entry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5" dirty="0">
                          <a:solidFill>
                            <a:srgbClr val="2462EB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/api/locations/history/:deviceId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Get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location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history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device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0" dirty="0">
                          <a:solidFill>
                            <a:srgbClr val="049569"/>
                          </a:solidFill>
                          <a:latin typeface="Courier New"/>
                          <a:cs typeface="Courier New"/>
                        </a:rPr>
                        <a:t>POST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/api/feedback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Submit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QoE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feedback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5" dirty="0">
                          <a:solidFill>
                            <a:srgbClr val="2462EB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/api/analytics/average-speed/:deviceId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19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download</a:t>
                      </a:r>
                      <a:r>
                        <a:rPr sz="1050" spc="-3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upload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speed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device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139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  <a:solidFill>
                      <a:srgbClr val="F8F9FB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5" dirty="0">
                          <a:solidFill>
                            <a:srgbClr val="2462EB"/>
                          </a:solidFill>
                          <a:latin typeface="Courier New"/>
                          <a:cs typeface="Courier New"/>
                        </a:rPr>
                        <a:t>GET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spc="-10" dirty="0">
                          <a:solidFill>
                            <a:srgbClr val="1E293A"/>
                          </a:solidFill>
                          <a:latin typeface="Courier New"/>
                          <a:cs typeface="Courier New"/>
                        </a:rPr>
                        <a:t>/api/analytics/average-qoe/:deviceId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T="10096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sz="1050" spc="-3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values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across</a:t>
                      </a:r>
                      <a:r>
                        <a:rPr sz="1050" spc="-1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all</a:t>
                      </a:r>
                      <a:r>
                        <a:rPr sz="1050" spc="-25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four</a:t>
                      </a:r>
                      <a:r>
                        <a:rPr sz="1050" spc="-2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rating</a:t>
                      </a:r>
                      <a:r>
                        <a:rPr sz="1050" spc="-3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solidFill>
                            <a:srgbClr val="63748A"/>
                          </a:solidFill>
                          <a:latin typeface="Calibri"/>
                          <a:cs typeface="Calibri"/>
                        </a:rPr>
                        <a:t>dimensions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E1E8EF"/>
                      </a:solidFill>
                      <a:prstDash val="solid"/>
                    </a:lnL>
                    <a:lnR w="6350">
                      <a:solidFill>
                        <a:srgbClr val="E1E8EF"/>
                      </a:solidFill>
                      <a:prstDash val="solid"/>
                    </a:lnR>
                    <a:lnT w="6350">
                      <a:solidFill>
                        <a:srgbClr val="E1E8EF"/>
                      </a:solidFill>
                      <a:prstDash val="solid"/>
                    </a:lnT>
                    <a:lnB w="6350">
                      <a:solidFill>
                        <a:srgbClr val="E1E8E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25476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C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sz="1300" b="1" spc="42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P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/>
              <a:t>Validation</a:t>
            </a:r>
            <a:r>
              <a:rPr sz="2800" spc="-85" dirty="0"/>
              <a:t> </a:t>
            </a:r>
            <a:r>
              <a:rPr sz="2800" spc="-10" dirty="0"/>
              <a:t>Middleware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27380" y="1304290"/>
            <a:ext cx="49574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Every</a:t>
            </a:r>
            <a:r>
              <a:rPr sz="13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request</a:t>
            </a:r>
            <a:r>
              <a:rPr sz="13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passes</a:t>
            </a:r>
            <a:r>
              <a:rPr sz="130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through</a:t>
            </a:r>
            <a:r>
              <a:rPr sz="130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three</a:t>
            </a:r>
            <a:r>
              <a:rPr sz="13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checks</a:t>
            </a:r>
            <a:r>
              <a:rPr sz="13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before</a:t>
            </a:r>
            <a:r>
              <a:rPr sz="13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reaching</a:t>
            </a:r>
            <a:r>
              <a:rPr sz="130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30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63748A"/>
                </a:solidFill>
                <a:latin typeface="Calibri"/>
                <a:cs typeface="Calibri"/>
              </a:rPr>
              <a:t>controller.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40080" y="1828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6"/>
                </a:lnTo>
                <a:lnTo>
                  <a:pt x="100788" y="39045"/>
                </a:lnTo>
                <a:lnTo>
                  <a:pt x="66955" y="66960"/>
                </a:lnTo>
                <a:lnTo>
                  <a:pt x="39041" y="100793"/>
                </a:lnTo>
                <a:lnTo>
                  <a:pt x="17964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4" y="317575"/>
                </a:lnTo>
                <a:lnTo>
                  <a:pt x="39041" y="356406"/>
                </a:lnTo>
                <a:lnTo>
                  <a:pt x="66955" y="390239"/>
                </a:lnTo>
                <a:lnTo>
                  <a:pt x="100788" y="418154"/>
                </a:lnTo>
                <a:lnTo>
                  <a:pt x="139619" y="439233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3"/>
                </a:lnTo>
                <a:lnTo>
                  <a:pt x="356411" y="418154"/>
                </a:lnTo>
                <a:lnTo>
                  <a:pt x="390244" y="390239"/>
                </a:lnTo>
                <a:lnTo>
                  <a:pt x="418158" y="356406"/>
                </a:lnTo>
                <a:lnTo>
                  <a:pt x="439235" y="317575"/>
                </a:lnTo>
                <a:lnTo>
                  <a:pt x="452555" y="274666"/>
                </a:lnTo>
                <a:lnTo>
                  <a:pt x="457200" y="228600"/>
                </a:lnTo>
                <a:lnTo>
                  <a:pt x="452555" y="182533"/>
                </a:lnTo>
                <a:lnTo>
                  <a:pt x="439235" y="139624"/>
                </a:lnTo>
                <a:lnTo>
                  <a:pt x="418158" y="100793"/>
                </a:lnTo>
                <a:lnTo>
                  <a:pt x="390244" y="66960"/>
                </a:lnTo>
                <a:lnTo>
                  <a:pt x="356411" y="39045"/>
                </a:lnTo>
                <a:lnTo>
                  <a:pt x="317580" y="17966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24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8068" y="1892934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7713" y="1865502"/>
            <a:ext cx="17843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Required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Field</a:t>
            </a:r>
            <a:r>
              <a:rPr sz="1600" b="1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Check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67713" y="2443987"/>
            <a:ext cx="37731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Rejects</a:t>
            </a:r>
            <a:r>
              <a:rPr sz="11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requests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missing</a:t>
            </a:r>
            <a:r>
              <a:rPr sz="1150" spc="-5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mandatory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body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fields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HTTP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400.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0080" y="2971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6"/>
                </a:lnTo>
                <a:lnTo>
                  <a:pt x="100788" y="39045"/>
                </a:lnTo>
                <a:lnTo>
                  <a:pt x="66955" y="66960"/>
                </a:lnTo>
                <a:lnTo>
                  <a:pt x="39041" y="100793"/>
                </a:lnTo>
                <a:lnTo>
                  <a:pt x="17964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4" y="317575"/>
                </a:lnTo>
                <a:lnTo>
                  <a:pt x="39041" y="356406"/>
                </a:lnTo>
                <a:lnTo>
                  <a:pt x="66955" y="390239"/>
                </a:lnTo>
                <a:lnTo>
                  <a:pt x="100788" y="418154"/>
                </a:lnTo>
                <a:lnTo>
                  <a:pt x="139619" y="439233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3"/>
                </a:lnTo>
                <a:lnTo>
                  <a:pt x="356411" y="418154"/>
                </a:lnTo>
                <a:lnTo>
                  <a:pt x="390244" y="390239"/>
                </a:lnTo>
                <a:lnTo>
                  <a:pt x="418158" y="356406"/>
                </a:lnTo>
                <a:lnTo>
                  <a:pt x="439235" y="317575"/>
                </a:lnTo>
                <a:lnTo>
                  <a:pt x="452555" y="274666"/>
                </a:lnTo>
                <a:lnTo>
                  <a:pt x="457200" y="228600"/>
                </a:lnTo>
                <a:lnTo>
                  <a:pt x="452555" y="182533"/>
                </a:lnTo>
                <a:lnTo>
                  <a:pt x="439235" y="139624"/>
                </a:lnTo>
                <a:lnTo>
                  <a:pt x="418158" y="100793"/>
                </a:lnTo>
                <a:lnTo>
                  <a:pt x="390244" y="66960"/>
                </a:lnTo>
                <a:lnTo>
                  <a:pt x="356411" y="39045"/>
                </a:lnTo>
                <a:lnTo>
                  <a:pt x="317580" y="17966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7B39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98068" y="3035630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7713" y="3008198"/>
            <a:ext cx="1510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UUID</a:t>
            </a:r>
            <a:r>
              <a:rPr sz="1600" b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Sanitization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7713" y="3447338"/>
            <a:ext cx="410210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Strips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stray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angle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brackets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pasted</a:t>
            </a:r>
            <a:r>
              <a:rPr sz="11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documentation,</a:t>
            </a:r>
            <a:r>
              <a:rPr sz="1150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e.g.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&lt;device-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id&gt;.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0080" y="411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182529" y="4644"/>
                </a:lnTo>
                <a:lnTo>
                  <a:pt x="139619" y="17966"/>
                </a:lnTo>
                <a:lnTo>
                  <a:pt x="100788" y="39045"/>
                </a:lnTo>
                <a:lnTo>
                  <a:pt x="66955" y="66960"/>
                </a:lnTo>
                <a:lnTo>
                  <a:pt x="39041" y="100793"/>
                </a:lnTo>
                <a:lnTo>
                  <a:pt x="17964" y="139624"/>
                </a:lnTo>
                <a:lnTo>
                  <a:pt x="4644" y="182533"/>
                </a:lnTo>
                <a:lnTo>
                  <a:pt x="0" y="228600"/>
                </a:lnTo>
                <a:lnTo>
                  <a:pt x="4644" y="274666"/>
                </a:lnTo>
                <a:lnTo>
                  <a:pt x="17964" y="317575"/>
                </a:lnTo>
                <a:lnTo>
                  <a:pt x="39041" y="356406"/>
                </a:lnTo>
                <a:lnTo>
                  <a:pt x="66955" y="390239"/>
                </a:lnTo>
                <a:lnTo>
                  <a:pt x="100788" y="418154"/>
                </a:lnTo>
                <a:lnTo>
                  <a:pt x="139619" y="439233"/>
                </a:lnTo>
                <a:lnTo>
                  <a:pt x="182529" y="452555"/>
                </a:lnTo>
                <a:lnTo>
                  <a:pt x="228600" y="457200"/>
                </a:lnTo>
                <a:lnTo>
                  <a:pt x="274670" y="452555"/>
                </a:lnTo>
                <a:lnTo>
                  <a:pt x="317580" y="439233"/>
                </a:lnTo>
                <a:lnTo>
                  <a:pt x="356411" y="418154"/>
                </a:lnTo>
                <a:lnTo>
                  <a:pt x="390244" y="390239"/>
                </a:lnTo>
                <a:lnTo>
                  <a:pt x="418158" y="356406"/>
                </a:lnTo>
                <a:lnTo>
                  <a:pt x="439235" y="317575"/>
                </a:lnTo>
                <a:lnTo>
                  <a:pt x="452555" y="274666"/>
                </a:lnTo>
                <a:lnTo>
                  <a:pt x="457200" y="228600"/>
                </a:lnTo>
                <a:lnTo>
                  <a:pt x="452555" y="182533"/>
                </a:lnTo>
                <a:lnTo>
                  <a:pt x="439235" y="139624"/>
                </a:lnTo>
                <a:lnTo>
                  <a:pt x="418158" y="100793"/>
                </a:lnTo>
                <a:lnTo>
                  <a:pt x="390244" y="66960"/>
                </a:lnTo>
                <a:lnTo>
                  <a:pt x="356411" y="39045"/>
                </a:lnTo>
                <a:lnTo>
                  <a:pt x="317580" y="17966"/>
                </a:lnTo>
                <a:lnTo>
                  <a:pt x="274670" y="4644"/>
                </a:lnTo>
                <a:lnTo>
                  <a:pt x="228600" y="0"/>
                </a:lnTo>
                <a:close/>
              </a:path>
            </a:pathLst>
          </a:custGeom>
          <a:solidFill>
            <a:srgbClr val="049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98068" y="417888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67713" y="4151757"/>
            <a:ext cx="2029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UUID</a:t>
            </a:r>
            <a:r>
              <a:rPr sz="1600" b="1" spc="-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Format</a:t>
            </a:r>
            <a:r>
              <a:rPr sz="1600" b="1" spc="-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Validation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7713" y="4590719"/>
            <a:ext cx="395986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Verifies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anonymous_id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matches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RFC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4122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UUID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format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via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regex.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26479" y="1783079"/>
            <a:ext cx="5394960" cy="4160520"/>
          </a:xfrm>
          <a:custGeom>
            <a:avLst/>
            <a:gdLst/>
            <a:ahLst/>
            <a:cxnLst/>
            <a:rect l="l" t="t" r="r" b="b"/>
            <a:pathLst>
              <a:path w="5394959" h="4160520">
                <a:moveTo>
                  <a:pt x="5321808" y="0"/>
                </a:moveTo>
                <a:lnTo>
                  <a:pt x="73152" y="0"/>
                </a:lnTo>
                <a:lnTo>
                  <a:pt x="44684" y="5750"/>
                </a:lnTo>
                <a:lnTo>
                  <a:pt x="21431" y="21431"/>
                </a:lnTo>
                <a:lnTo>
                  <a:pt x="5750" y="44684"/>
                </a:lnTo>
                <a:lnTo>
                  <a:pt x="0" y="73152"/>
                </a:lnTo>
                <a:lnTo>
                  <a:pt x="0" y="4087380"/>
                </a:lnTo>
                <a:lnTo>
                  <a:pt x="5750" y="4115846"/>
                </a:lnTo>
                <a:lnTo>
                  <a:pt x="21431" y="4139095"/>
                </a:lnTo>
                <a:lnTo>
                  <a:pt x="44684" y="4154771"/>
                </a:lnTo>
                <a:lnTo>
                  <a:pt x="73152" y="4160520"/>
                </a:lnTo>
                <a:lnTo>
                  <a:pt x="5321808" y="4160520"/>
                </a:lnTo>
                <a:lnTo>
                  <a:pt x="5350275" y="4154771"/>
                </a:lnTo>
                <a:lnTo>
                  <a:pt x="5373528" y="4139095"/>
                </a:lnTo>
                <a:lnTo>
                  <a:pt x="5389209" y="4115846"/>
                </a:lnTo>
                <a:lnTo>
                  <a:pt x="5394960" y="4087380"/>
                </a:lnTo>
                <a:lnTo>
                  <a:pt x="5394960" y="73152"/>
                </a:lnTo>
                <a:lnTo>
                  <a:pt x="5389209" y="44684"/>
                </a:lnTo>
                <a:lnTo>
                  <a:pt x="5373528" y="21431"/>
                </a:lnTo>
                <a:lnTo>
                  <a:pt x="5350275" y="5750"/>
                </a:lnTo>
                <a:lnTo>
                  <a:pt x="5321808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43269" y="2773197"/>
            <a:ext cx="3569335" cy="208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820" marR="398145" indent="-198120">
              <a:lnSpc>
                <a:spcPct val="130000"/>
              </a:lnSpc>
              <a:spcBef>
                <a:spcPts val="100"/>
              </a:spcBef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const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isValidUUID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(value)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=&gt;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{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const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uuidRegex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 =</a:t>
            </a:r>
            <a:endParaRPr sz="130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  <a:spcBef>
                <a:spcPts val="465"/>
              </a:spcBef>
            </a:pP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/^[0-9a-f]{8}-[0-9a-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f]{4}-</a:t>
            </a:r>
            <a:endParaRPr sz="1300">
              <a:latin typeface="Courier New"/>
              <a:cs typeface="Courier New"/>
            </a:endParaRPr>
          </a:p>
          <a:p>
            <a:pPr marL="504825">
              <a:lnSpc>
                <a:spcPct val="100000"/>
              </a:lnSpc>
              <a:spcBef>
                <a:spcPts val="470"/>
              </a:spcBef>
            </a:pP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[1-5][0-9a-f]{3}-[89ab]</a:t>
            </a:r>
            <a:endParaRPr sz="1300">
              <a:latin typeface="Courier New"/>
              <a:cs typeface="Courier New"/>
            </a:endParaRPr>
          </a:p>
          <a:p>
            <a:pPr marL="504825">
              <a:lnSpc>
                <a:spcPct val="100000"/>
              </a:lnSpc>
              <a:spcBef>
                <a:spcPts val="470"/>
              </a:spcBef>
            </a:pP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[0-9a-f]{3}-[0-9a-f]{12}$/i;</a:t>
            </a:r>
            <a:endParaRPr sz="1300">
              <a:latin typeface="Courier New"/>
              <a:cs typeface="Courier New"/>
            </a:endParaRPr>
          </a:p>
          <a:p>
            <a:pPr marL="407034" marR="5080" indent="-196850">
              <a:lnSpc>
                <a:spcPct val="130000"/>
              </a:lnSpc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return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typeof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value</a:t>
            </a:r>
            <a:r>
              <a:rPr sz="130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===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'string'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&amp;&amp;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 uuidRegex.test(value.trim());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};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7116" y="2238755"/>
              <a:ext cx="1438656" cy="143865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40080" y="233172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13" y="1970"/>
                  </a:lnTo>
                  <a:lnTo>
                    <a:pt x="497951" y="7778"/>
                  </a:lnTo>
                  <a:lnTo>
                    <a:pt x="451528" y="17271"/>
                  </a:lnTo>
                  <a:lnTo>
                    <a:pt x="406495" y="30297"/>
                  </a:lnTo>
                  <a:lnTo>
                    <a:pt x="363007" y="46702"/>
                  </a:lnTo>
                  <a:lnTo>
                    <a:pt x="321216" y="66334"/>
                  </a:lnTo>
                  <a:lnTo>
                    <a:pt x="281276" y="89039"/>
                  </a:lnTo>
                  <a:lnTo>
                    <a:pt x="243338" y="114665"/>
                  </a:lnTo>
                  <a:lnTo>
                    <a:pt x="207556" y="143060"/>
                  </a:lnTo>
                  <a:lnTo>
                    <a:pt x="174083" y="174069"/>
                  </a:lnTo>
                  <a:lnTo>
                    <a:pt x="143072" y="207540"/>
                  </a:lnTo>
                  <a:lnTo>
                    <a:pt x="114676" y="243321"/>
                  </a:lnTo>
                  <a:lnTo>
                    <a:pt x="89048" y="281259"/>
                  </a:lnTo>
                  <a:lnTo>
                    <a:pt x="66341" y="321200"/>
                  </a:lnTo>
                  <a:lnTo>
                    <a:pt x="46707" y="362991"/>
                  </a:lnTo>
                  <a:lnTo>
                    <a:pt x="30300" y="406481"/>
                  </a:lnTo>
                  <a:lnTo>
                    <a:pt x="17273" y="451515"/>
                  </a:lnTo>
                  <a:lnTo>
                    <a:pt x="7779" y="497942"/>
                  </a:lnTo>
                  <a:lnTo>
                    <a:pt x="1970" y="545607"/>
                  </a:lnTo>
                  <a:lnTo>
                    <a:pt x="0" y="594359"/>
                  </a:lnTo>
                  <a:lnTo>
                    <a:pt x="1970" y="643112"/>
                  </a:lnTo>
                  <a:lnTo>
                    <a:pt x="7779" y="690777"/>
                  </a:lnTo>
                  <a:lnTo>
                    <a:pt x="17273" y="737204"/>
                  </a:lnTo>
                  <a:lnTo>
                    <a:pt x="30300" y="782238"/>
                  </a:lnTo>
                  <a:lnTo>
                    <a:pt x="46707" y="825728"/>
                  </a:lnTo>
                  <a:lnTo>
                    <a:pt x="66341" y="867519"/>
                  </a:lnTo>
                  <a:lnTo>
                    <a:pt x="89048" y="907460"/>
                  </a:lnTo>
                  <a:lnTo>
                    <a:pt x="114676" y="945398"/>
                  </a:lnTo>
                  <a:lnTo>
                    <a:pt x="143072" y="981179"/>
                  </a:lnTo>
                  <a:lnTo>
                    <a:pt x="174083" y="1014650"/>
                  </a:lnTo>
                  <a:lnTo>
                    <a:pt x="207556" y="1045659"/>
                  </a:lnTo>
                  <a:lnTo>
                    <a:pt x="243338" y="1074054"/>
                  </a:lnTo>
                  <a:lnTo>
                    <a:pt x="281276" y="1099680"/>
                  </a:lnTo>
                  <a:lnTo>
                    <a:pt x="321216" y="1122385"/>
                  </a:lnTo>
                  <a:lnTo>
                    <a:pt x="363007" y="1142017"/>
                  </a:lnTo>
                  <a:lnTo>
                    <a:pt x="406495" y="1158422"/>
                  </a:lnTo>
                  <a:lnTo>
                    <a:pt x="451528" y="1171448"/>
                  </a:lnTo>
                  <a:lnTo>
                    <a:pt x="497951" y="1180941"/>
                  </a:lnTo>
                  <a:lnTo>
                    <a:pt x="545613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20" y="594359"/>
                  </a:lnTo>
                  <a:lnTo>
                    <a:pt x="1186749" y="545607"/>
                  </a:lnTo>
                  <a:lnTo>
                    <a:pt x="1180941" y="497942"/>
                  </a:lnTo>
                  <a:lnTo>
                    <a:pt x="1171448" y="451515"/>
                  </a:lnTo>
                  <a:lnTo>
                    <a:pt x="1158422" y="406481"/>
                  </a:lnTo>
                  <a:lnTo>
                    <a:pt x="1142017" y="362991"/>
                  </a:lnTo>
                  <a:lnTo>
                    <a:pt x="1122385" y="321200"/>
                  </a:lnTo>
                  <a:lnTo>
                    <a:pt x="1099680" y="281259"/>
                  </a:lnTo>
                  <a:lnTo>
                    <a:pt x="1074054" y="243321"/>
                  </a:lnTo>
                  <a:lnTo>
                    <a:pt x="1045659" y="207540"/>
                  </a:lnTo>
                  <a:lnTo>
                    <a:pt x="1014650" y="174069"/>
                  </a:lnTo>
                  <a:lnTo>
                    <a:pt x="981179" y="143060"/>
                  </a:lnTo>
                  <a:lnTo>
                    <a:pt x="945398" y="114665"/>
                  </a:lnTo>
                  <a:lnTo>
                    <a:pt x="907460" y="89039"/>
                  </a:lnTo>
                  <a:lnTo>
                    <a:pt x="867519" y="66334"/>
                  </a:lnTo>
                  <a:lnTo>
                    <a:pt x="825728" y="46702"/>
                  </a:lnTo>
                  <a:lnTo>
                    <a:pt x="782238" y="30297"/>
                  </a:lnTo>
                  <a:lnTo>
                    <a:pt x="737204" y="17271"/>
                  </a:lnTo>
                  <a:lnTo>
                    <a:pt x="690777" y="7778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8408" y="2670048"/>
              <a:ext cx="512064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90673" y="2179141"/>
            <a:ext cx="7969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5" dirty="0">
                <a:solidFill>
                  <a:srgbClr val="7B39EC"/>
                </a:solidFill>
              </a:rPr>
              <a:t>06</a:t>
            </a:r>
            <a:endParaRPr sz="6000"/>
          </a:p>
        </p:txBody>
      </p:sp>
      <p:sp>
        <p:nvSpPr>
          <p:cNvPr id="8" name="object 8"/>
          <p:cNvSpPr txBox="1"/>
          <p:nvPr/>
        </p:nvSpPr>
        <p:spPr>
          <a:xfrm>
            <a:off x="645668" y="3583304"/>
            <a:ext cx="6929755" cy="1104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solidFill>
                  <a:srgbClr val="1E293A"/>
                </a:solidFill>
                <a:latin typeface="Calibri"/>
                <a:cs typeface="Calibri"/>
              </a:rPr>
              <a:t>Connecting</a:t>
            </a:r>
            <a:r>
              <a:rPr sz="4000" b="1" spc="-15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Database</a:t>
            </a:r>
            <a:r>
              <a:rPr sz="4000" b="1" spc="-14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1E293A"/>
                </a:solidFill>
                <a:latin typeface="Calibri"/>
                <a:cs typeface="Calibri"/>
              </a:rPr>
              <a:t>to</a:t>
            </a:r>
            <a:r>
              <a:rPr sz="4000" b="1" spc="-16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E293A"/>
                </a:solidFill>
                <a:latin typeface="Calibri"/>
                <a:cs typeface="Calibri"/>
              </a:rPr>
              <a:t>Backend</a:t>
            </a:r>
            <a:endParaRPr sz="40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900"/>
              </a:spcBef>
            </a:pP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Connection</a:t>
            </a:r>
            <a:r>
              <a:rPr sz="1500" i="1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pooling,</a:t>
            </a:r>
            <a:r>
              <a:rPr sz="1500" i="1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request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lifecycle,</a:t>
            </a:r>
            <a:r>
              <a:rPr sz="1500" i="1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500" i="1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live</a:t>
            </a:r>
            <a:r>
              <a:rPr sz="1500" i="1" spc="-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dirty="0">
                <a:solidFill>
                  <a:srgbClr val="63748A"/>
                </a:solidFill>
                <a:latin typeface="Calibri"/>
                <a:cs typeface="Calibri"/>
              </a:rPr>
              <a:t>SQL</a:t>
            </a:r>
            <a:r>
              <a:rPr sz="1500" i="1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500" i="1" spc="-10" dirty="0">
                <a:solidFill>
                  <a:srgbClr val="63748A"/>
                </a:solidFill>
                <a:latin typeface="Calibri"/>
                <a:cs typeface="Calibri"/>
              </a:rPr>
              <a:t>queries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33909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G</a:t>
            </a:r>
            <a:r>
              <a:rPr sz="1300" b="1" spc="4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1300" b="1" spc="40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7B39EC"/>
                </a:solidFill>
                <a:latin typeface="Calibri"/>
                <a:cs typeface="Calibri"/>
              </a:rPr>
              <a:t>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API</a:t>
            </a:r>
            <a:r>
              <a:rPr sz="2800" spc="-105" dirty="0"/>
              <a:t> </a:t>
            </a:r>
            <a:r>
              <a:rPr sz="2800" dirty="0"/>
              <a:t>Request</a:t>
            </a:r>
            <a:r>
              <a:rPr sz="2800" spc="-85" dirty="0"/>
              <a:t> </a:t>
            </a:r>
            <a:r>
              <a:rPr sz="2800" spc="-10" dirty="0"/>
              <a:t>Lifecycle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27380" y="1309877"/>
            <a:ext cx="546036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Tracing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one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POST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/api/metrics</a:t>
            </a:r>
            <a:r>
              <a:rPr sz="1250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request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sz="1250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mobile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app</a:t>
            </a:r>
            <a:r>
              <a:rPr sz="12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PostgreSQL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back.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3418" y="2026134"/>
            <a:ext cx="29622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1F487C"/>
                </a:solidFill>
                <a:latin typeface="Arial"/>
                <a:cs typeface="Arial"/>
              </a:rPr>
              <a:t>API</a:t>
            </a:r>
            <a:r>
              <a:rPr sz="1200" b="1" spc="-5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F487C"/>
                </a:solidFill>
                <a:latin typeface="Arial"/>
                <a:cs typeface="Arial"/>
              </a:rPr>
              <a:t>Request</a:t>
            </a:r>
            <a:r>
              <a:rPr sz="1200" b="1" spc="-5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F487C"/>
                </a:solidFill>
                <a:latin typeface="Arial"/>
                <a:cs typeface="Arial"/>
              </a:rPr>
              <a:t>Lifecycle</a:t>
            </a:r>
            <a:r>
              <a:rPr sz="1200" b="1" spc="-20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F487C"/>
                </a:solidFill>
                <a:latin typeface="Arial"/>
                <a:cs typeface="Arial"/>
              </a:rPr>
              <a:t>POST</a:t>
            </a:r>
            <a:r>
              <a:rPr sz="1200" b="1" spc="-5" dirty="0">
                <a:solidFill>
                  <a:srgbClr val="1F487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F487C"/>
                </a:solidFill>
                <a:latin typeface="Arial"/>
                <a:cs typeface="Arial"/>
              </a:rPr>
              <a:t>/api/metrics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6673" y="2711179"/>
            <a:ext cx="1442085" cy="869315"/>
            <a:chOff x="756673" y="2711179"/>
            <a:chExt cx="1442085" cy="869315"/>
          </a:xfrm>
        </p:grpSpPr>
        <p:sp>
          <p:nvSpPr>
            <p:cNvPr id="7" name="object 7"/>
            <p:cNvSpPr/>
            <p:nvPr/>
          </p:nvSpPr>
          <p:spPr>
            <a:xfrm>
              <a:off x="763976" y="2718481"/>
              <a:ext cx="1427480" cy="854710"/>
            </a:xfrm>
            <a:custGeom>
              <a:avLst/>
              <a:gdLst/>
              <a:ahLst/>
              <a:cxnLst/>
              <a:rect l="l" t="t" r="r" b="b"/>
              <a:pathLst>
                <a:path w="1427480" h="854710">
                  <a:moveTo>
                    <a:pt x="1358735" y="0"/>
                  </a:moveTo>
                  <a:lnTo>
                    <a:pt x="68503" y="0"/>
                  </a:lnTo>
                  <a:lnTo>
                    <a:pt x="41839" y="5372"/>
                  </a:lnTo>
                  <a:lnTo>
                    <a:pt x="20064" y="20020"/>
                  </a:lnTo>
                  <a:lnTo>
                    <a:pt x="5383" y="41742"/>
                  </a:lnTo>
                  <a:lnTo>
                    <a:pt x="0" y="68336"/>
                  </a:lnTo>
                  <a:lnTo>
                    <a:pt x="0" y="785869"/>
                  </a:lnTo>
                  <a:lnTo>
                    <a:pt x="5383" y="812496"/>
                  </a:lnTo>
                  <a:lnTo>
                    <a:pt x="20064" y="834215"/>
                  </a:lnTo>
                  <a:lnTo>
                    <a:pt x="41839" y="848844"/>
                  </a:lnTo>
                  <a:lnTo>
                    <a:pt x="68503" y="854206"/>
                  </a:lnTo>
                  <a:lnTo>
                    <a:pt x="1358735" y="854206"/>
                  </a:lnTo>
                  <a:lnTo>
                    <a:pt x="1385396" y="848844"/>
                  </a:lnTo>
                  <a:lnTo>
                    <a:pt x="1407173" y="834215"/>
                  </a:lnTo>
                  <a:lnTo>
                    <a:pt x="1421858" y="812496"/>
                  </a:lnTo>
                  <a:lnTo>
                    <a:pt x="1427243" y="785869"/>
                  </a:lnTo>
                  <a:lnTo>
                    <a:pt x="1427243" y="68336"/>
                  </a:lnTo>
                  <a:lnTo>
                    <a:pt x="1421858" y="41742"/>
                  </a:lnTo>
                  <a:lnTo>
                    <a:pt x="1407173" y="20020"/>
                  </a:lnTo>
                  <a:lnTo>
                    <a:pt x="1385396" y="5372"/>
                  </a:lnTo>
                  <a:lnTo>
                    <a:pt x="1358735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3976" y="2718481"/>
              <a:ext cx="1427480" cy="854710"/>
            </a:xfrm>
            <a:custGeom>
              <a:avLst/>
              <a:gdLst/>
              <a:ahLst/>
              <a:cxnLst/>
              <a:rect l="l" t="t" r="r" b="b"/>
              <a:pathLst>
                <a:path w="1427480" h="854710">
                  <a:moveTo>
                    <a:pt x="1358735" y="0"/>
                  </a:moveTo>
                  <a:lnTo>
                    <a:pt x="1407173" y="20020"/>
                  </a:lnTo>
                  <a:lnTo>
                    <a:pt x="1427243" y="68336"/>
                  </a:lnTo>
                  <a:lnTo>
                    <a:pt x="1427243" y="785869"/>
                  </a:lnTo>
                  <a:lnTo>
                    <a:pt x="1421858" y="812496"/>
                  </a:lnTo>
                  <a:lnTo>
                    <a:pt x="1407173" y="834215"/>
                  </a:lnTo>
                  <a:lnTo>
                    <a:pt x="1385396" y="848844"/>
                  </a:lnTo>
                  <a:lnTo>
                    <a:pt x="1358735" y="854206"/>
                  </a:lnTo>
                  <a:lnTo>
                    <a:pt x="68503" y="854206"/>
                  </a:lnTo>
                  <a:lnTo>
                    <a:pt x="20064" y="834215"/>
                  </a:lnTo>
                  <a:lnTo>
                    <a:pt x="0" y="785869"/>
                  </a:lnTo>
                  <a:lnTo>
                    <a:pt x="0" y="68336"/>
                  </a:lnTo>
                  <a:lnTo>
                    <a:pt x="5383" y="41742"/>
                  </a:lnTo>
                  <a:lnTo>
                    <a:pt x="20064" y="20020"/>
                  </a:lnTo>
                  <a:lnTo>
                    <a:pt x="41839" y="5372"/>
                  </a:lnTo>
                  <a:lnTo>
                    <a:pt x="68503" y="0"/>
                  </a:lnTo>
                  <a:lnTo>
                    <a:pt x="1358735" y="0"/>
                  </a:lnTo>
                  <a:close/>
                </a:path>
              </a:pathLst>
            </a:custGeom>
            <a:ln w="14246">
              <a:solidFill>
                <a:srgbClr val="6C8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32836" y="3041690"/>
            <a:ext cx="87693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1F487C"/>
                </a:solidFill>
                <a:latin typeface="Microsoft Sans Serif"/>
                <a:cs typeface="Microsoft Sans Serif"/>
              </a:rPr>
              <a:t>1.</a:t>
            </a:r>
            <a:r>
              <a:rPr sz="950" spc="45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1F487C"/>
                </a:solidFill>
                <a:latin typeface="Microsoft Sans Serif"/>
                <a:cs typeface="Microsoft Sans Serif"/>
              </a:rPr>
              <a:t>Mobile</a:t>
            </a:r>
            <a:r>
              <a:rPr sz="950" spc="-30" dirty="0">
                <a:solidFill>
                  <a:srgbClr val="1F487C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1F487C"/>
                </a:solidFill>
                <a:latin typeface="Microsoft Sans Serif"/>
                <a:cs typeface="Microsoft Sans Serif"/>
              </a:rPr>
              <a:t>App...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83917" y="2711179"/>
            <a:ext cx="1822450" cy="869315"/>
            <a:chOff x="2183917" y="2711179"/>
            <a:chExt cx="1822450" cy="869315"/>
          </a:xfrm>
        </p:grpSpPr>
        <p:sp>
          <p:nvSpPr>
            <p:cNvPr id="11" name="object 11"/>
            <p:cNvSpPr/>
            <p:nvPr/>
          </p:nvSpPr>
          <p:spPr>
            <a:xfrm>
              <a:off x="2191219" y="3145584"/>
              <a:ext cx="293370" cy="0"/>
            </a:xfrm>
            <a:custGeom>
              <a:avLst/>
              <a:gdLst/>
              <a:ahLst/>
              <a:cxnLst/>
              <a:rect l="l" t="t" r="r" b="b"/>
              <a:pathLst>
                <a:path w="293369">
                  <a:moveTo>
                    <a:pt x="0" y="0"/>
                  </a:moveTo>
                  <a:lnTo>
                    <a:pt x="293220" y="0"/>
                  </a:lnTo>
                </a:path>
              </a:pathLst>
            </a:custGeom>
            <a:ln w="1423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77312" y="3102865"/>
              <a:ext cx="85617" cy="8543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571819" y="2718481"/>
              <a:ext cx="1427480" cy="854710"/>
            </a:xfrm>
            <a:custGeom>
              <a:avLst/>
              <a:gdLst/>
              <a:ahLst/>
              <a:cxnLst/>
              <a:rect l="l" t="t" r="r" b="b"/>
              <a:pathLst>
                <a:path w="1427479" h="854710">
                  <a:moveTo>
                    <a:pt x="1358739" y="0"/>
                  </a:moveTo>
                  <a:lnTo>
                    <a:pt x="1407177" y="20020"/>
                  </a:lnTo>
                  <a:lnTo>
                    <a:pt x="1427247" y="68336"/>
                  </a:lnTo>
                  <a:lnTo>
                    <a:pt x="1427247" y="785869"/>
                  </a:lnTo>
                  <a:lnTo>
                    <a:pt x="1421862" y="812496"/>
                  </a:lnTo>
                  <a:lnTo>
                    <a:pt x="1407177" y="834215"/>
                  </a:lnTo>
                  <a:lnTo>
                    <a:pt x="1385400" y="848844"/>
                  </a:lnTo>
                  <a:lnTo>
                    <a:pt x="1358739" y="854206"/>
                  </a:lnTo>
                  <a:lnTo>
                    <a:pt x="68507" y="854206"/>
                  </a:lnTo>
                  <a:lnTo>
                    <a:pt x="20070" y="834215"/>
                  </a:lnTo>
                  <a:lnTo>
                    <a:pt x="0" y="785869"/>
                  </a:lnTo>
                  <a:lnTo>
                    <a:pt x="0" y="68336"/>
                  </a:lnTo>
                  <a:lnTo>
                    <a:pt x="5385" y="41742"/>
                  </a:lnTo>
                  <a:lnTo>
                    <a:pt x="20070" y="20020"/>
                  </a:lnTo>
                  <a:lnTo>
                    <a:pt x="41847" y="5372"/>
                  </a:lnTo>
                  <a:lnTo>
                    <a:pt x="68507" y="0"/>
                  </a:lnTo>
                  <a:lnTo>
                    <a:pt x="1358739" y="0"/>
                  </a:lnTo>
                  <a:close/>
                </a:path>
              </a:pathLst>
            </a:custGeom>
            <a:ln w="14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720794" y="3041690"/>
            <a:ext cx="111823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Microsoft Sans Serif"/>
                <a:cs typeface="Microsoft Sans Serif"/>
              </a:rPr>
              <a:t>2.</a:t>
            </a:r>
            <a:r>
              <a:rPr sz="950" spc="45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Express</a:t>
            </a:r>
            <a:r>
              <a:rPr sz="950" spc="105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Router...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91764" y="2711179"/>
            <a:ext cx="1822450" cy="869315"/>
            <a:chOff x="3991764" y="2711179"/>
            <a:chExt cx="1822450" cy="869315"/>
          </a:xfrm>
        </p:grpSpPr>
        <p:sp>
          <p:nvSpPr>
            <p:cNvPr id="16" name="object 16"/>
            <p:cNvSpPr/>
            <p:nvPr/>
          </p:nvSpPr>
          <p:spPr>
            <a:xfrm>
              <a:off x="3999067" y="3145584"/>
              <a:ext cx="293370" cy="0"/>
            </a:xfrm>
            <a:custGeom>
              <a:avLst/>
              <a:gdLst/>
              <a:ahLst/>
              <a:cxnLst/>
              <a:rect l="l" t="t" r="r" b="b"/>
              <a:pathLst>
                <a:path w="293370">
                  <a:moveTo>
                    <a:pt x="0" y="0"/>
                  </a:moveTo>
                  <a:lnTo>
                    <a:pt x="293220" y="0"/>
                  </a:lnTo>
                </a:path>
              </a:pathLst>
            </a:custGeom>
            <a:ln w="1423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85160" y="3102865"/>
              <a:ext cx="85617" cy="8543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379666" y="2718481"/>
              <a:ext cx="1427480" cy="854710"/>
            </a:xfrm>
            <a:custGeom>
              <a:avLst/>
              <a:gdLst/>
              <a:ahLst/>
              <a:cxnLst/>
              <a:rect l="l" t="t" r="r" b="b"/>
              <a:pathLst>
                <a:path w="1427479" h="854710">
                  <a:moveTo>
                    <a:pt x="1358739" y="0"/>
                  </a:moveTo>
                  <a:lnTo>
                    <a:pt x="68507" y="0"/>
                  </a:lnTo>
                  <a:lnTo>
                    <a:pt x="41847" y="5372"/>
                  </a:lnTo>
                  <a:lnTo>
                    <a:pt x="20070" y="20020"/>
                  </a:lnTo>
                  <a:lnTo>
                    <a:pt x="5385" y="41742"/>
                  </a:lnTo>
                  <a:lnTo>
                    <a:pt x="0" y="68336"/>
                  </a:lnTo>
                  <a:lnTo>
                    <a:pt x="0" y="785869"/>
                  </a:lnTo>
                  <a:lnTo>
                    <a:pt x="5385" y="812496"/>
                  </a:lnTo>
                  <a:lnTo>
                    <a:pt x="20070" y="834215"/>
                  </a:lnTo>
                  <a:lnTo>
                    <a:pt x="41847" y="848844"/>
                  </a:lnTo>
                  <a:lnTo>
                    <a:pt x="68507" y="854206"/>
                  </a:lnTo>
                  <a:lnTo>
                    <a:pt x="1358739" y="854206"/>
                  </a:lnTo>
                  <a:lnTo>
                    <a:pt x="1385400" y="848844"/>
                  </a:lnTo>
                  <a:lnTo>
                    <a:pt x="1407177" y="834215"/>
                  </a:lnTo>
                  <a:lnTo>
                    <a:pt x="1421862" y="812496"/>
                  </a:lnTo>
                  <a:lnTo>
                    <a:pt x="1427247" y="785869"/>
                  </a:lnTo>
                  <a:lnTo>
                    <a:pt x="1427247" y="68336"/>
                  </a:lnTo>
                  <a:lnTo>
                    <a:pt x="1421862" y="41742"/>
                  </a:lnTo>
                  <a:lnTo>
                    <a:pt x="1407177" y="20020"/>
                  </a:lnTo>
                  <a:lnTo>
                    <a:pt x="1385400" y="5372"/>
                  </a:lnTo>
                  <a:lnTo>
                    <a:pt x="1358739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79666" y="2718481"/>
              <a:ext cx="1427480" cy="854710"/>
            </a:xfrm>
            <a:custGeom>
              <a:avLst/>
              <a:gdLst/>
              <a:ahLst/>
              <a:cxnLst/>
              <a:rect l="l" t="t" r="r" b="b"/>
              <a:pathLst>
                <a:path w="1427479" h="854710">
                  <a:moveTo>
                    <a:pt x="1358739" y="0"/>
                  </a:moveTo>
                  <a:lnTo>
                    <a:pt x="1407177" y="20020"/>
                  </a:lnTo>
                  <a:lnTo>
                    <a:pt x="1427247" y="68336"/>
                  </a:lnTo>
                  <a:lnTo>
                    <a:pt x="1427247" y="785869"/>
                  </a:lnTo>
                  <a:lnTo>
                    <a:pt x="1421862" y="812496"/>
                  </a:lnTo>
                  <a:lnTo>
                    <a:pt x="1407177" y="834215"/>
                  </a:lnTo>
                  <a:lnTo>
                    <a:pt x="1385400" y="848844"/>
                  </a:lnTo>
                  <a:lnTo>
                    <a:pt x="1358739" y="854206"/>
                  </a:lnTo>
                  <a:lnTo>
                    <a:pt x="68507" y="854206"/>
                  </a:lnTo>
                  <a:lnTo>
                    <a:pt x="20070" y="834215"/>
                  </a:lnTo>
                  <a:lnTo>
                    <a:pt x="0" y="785869"/>
                  </a:lnTo>
                  <a:lnTo>
                    <a:pt x="0" y="68336"/>
                  </a:lnTo>
                  <a:lnTo>
                    <a:pt x="5385" y="41742"/>
                  </a:lnTo>
                  <a:lnTo>
                    <a:pt x="20070" y="20020"/>
                  </a:lnTo>
                  <a:lnTo>
                    <a:pt x="41847" y="5372"/>
                  </a:lnTo>
                  <a:lnTo>
                    <a:pt x="68507" y="0"/>
                  </a:lnTo>
                  <a:lnTo>
                    <a:pt x="1358739" y="0"/>
                  </a:lnTo>
                  <a:close/>
                </a:path>
              </a:pathLst>
            </a:custGeom>
            <a:ln w="14246">
              <a:solidFill>
                <a:srgbClr val="6C8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90397" y="3041690"/>
            <a:ext cx="79883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Microsoft Sans Serif"/>
                <a:cs typeface="Microsoft Sans Serif"/>
              </a:rPr>
              <a:t>3.</a:t>
            </a:r>
            <a:r>
              <a:rPr sz="950" spc="25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Validation...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99611" y="2711179"/>
            <a:ext cx="1822450" cy="869315"/>
            <a:chOff x="5799611" y="2711179"/>
            <a:chExt cx="1822450" cy="869315"/>
          </a:xfrm>
        </p:grpSpPr>
        <p:sp>
          <p:nvSpPr>
            <p:cNvPr id="22" name="object 22"/>
            <p:cNvSpPr/>
            <p:nvPr/>
          </p:nvSpPr>
          <p:spPr>
            <a:xfrm>
              <a:off x="5806914" y="3145584"/>
              <a:ext cx="293370" cy="0"/>
            </a:xfrm>
            <a:custGeom>
              <a:avLst/>
              <a:gdLst/>
              <a:ahLst/>
              <a:cxnLst/>
              <a:rect l="l" t="t" r="r" b="b"/>
              <a:pathLst>
                <a:path w="293370">
                  <a:moveTo>
                    <a:pt x="0" y="0"/>
                  </a:moveTo>
                  <a:lnTo>
                    <a:pt x="293220" y="0"/>
                  </a:lnTo>
                </a:path>
              </a:pathLst>
            </a:custGeom>
            <a:ln w="1423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3007" y="3102865"/>
              <a:ext cx="85617" cy="8543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187513" y="2718481"/>
              <a:ext cx="1427480" cy="854710"/>
            </a:xfrm>
            <a:custGeom>
              <a:avLst/>
              <a:gdLst/>
              <a:ahLst/>
              <a:cxnLst/>
              <a:rect l="l" t="t" r="r" b="b"/>
              <a:pathLst>
                <a:path w="1427479" h="854710">
                  <a:moveTo>
                    <a:pt x="1358739" y="0"/>
                  </a:moveTo>
                  <a:lnTo>
                    <a:pt x="1407177" y="20020"/>
                  </a:lnTo>
                  <a:lnTo>
                    <a:pt x="1427247" y="68336"/>
                  </a:lnTo>
                  <a:lnTo>
                    <a:pt x="1427247" y="785869"/>
                  </a:lnTo>
                  <a:lnTo>
                    <a:pt x="1421862" y="812496"/>
                  </a:lnTo>
                  <a:lnTo>
                    <a:pt x="1407177" y="834215"/>
                  </a:lnTo>
                  <a:lnTo>
                    <a:pt x="1385400" y="848844"/>
                  </a:lnTo>
                  <a:lnTo>
                    <a:pt x="1358739" y="854206"/>
                  </a:lnTo>
                  <a:lnTo>
                    <a:pt x="68507" y="854206"/>
                  </a:lnTo>
                  <a:lnTo>
                    <a:pt x="20070" y="834215"/>
                  </a:lnTo>
                  <a:lnTo>
                    <a:pt x="0" y="785869"/>
                  </a:lnTo>
                  <a:lnTo>
                    <a:pt x="0" y="68336"/>
                  </a:lnTo>
                  <a:lnTo>
                    <a:pt x="5385" y="41742"/>
                  </a:lnTo>
                  <a:lnTo>
                    <a:pt x="20070" y="20020"/>
                  </a:lnTo>
                  <a:lnTo>
                    <a:pt x="41847" y="5372"/>
                  </a:lnTo>
                  <a:lnTo>
                    <a:pt x="68507" y="0"/>
                  </a:lnTo>
                  <a:lnTo>
                    <a:pt x="1358739" y="0"/>
                  </a:lnTo>
                  <a:close/>
                </a:path>
              </a:pathLst>
            </a:custGeom>
            <a:ln w="142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498244" y="3041690"/>
            <a:ext cx="80073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Microsoft Sans Serif"/>
                <a:cs typeface="Microsoft Sans Serif"/>
              </a:rPr>
              <a:t>4.</a:t>
            </a:r>
            <a:r>
              <a:rPr sz="950" spc="25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Controller...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607458" y="2711179"/>
            <a:ext cx="1823085" cy="869315"/>
            <a:chOff x="7607458" y="2711179"/>
            <a:chExt cx="1823085" cy="869315"/>
          </a:xfrm>
        </p:grpSpPr>
        <p:sp>
          <p:nvSpPr>
            <p:cNvPr id="27" name="object 27"/>
            <p:cNvSpPr/>
            <p:nvPr/>
          </p:nvSpPr>
          <p:spPr>
            <a:xfrm>
              <a:off x="7614761" y="3145584"/>
              <a:ext cx="293370" cy="0"/>
            </a:xfrm>
            <a:custGeom>
              <a:avLst/>
              <a:gdLst/>
              <a:ahLst/>
              <a:cxnLst/>
              <a:rect l="l" t="t" r="r" b="b"/>
              <a:pathLst>
                <a:path w="293370">
                  <a:moveTo>
                    <a:pt x="0" y="0"/>
                  </a:moveTo>
                  <a:lnTo>
                    <a:pt x="293220" y="0"/>
                  </a:lnTo>
                </a:path>
              </a:pathLst>
            </a:custGeom>
            <a:ln w="1423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0854" y="3102865"/>
              <a:ext cx="85617" cy="8543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995360" y="2718481"/>
              <a:ext cx="1428115" cy="854710"/>
            </a:xfrm>
            <a:custGeom>
              <a:avLst/>
              <a:gdLst/>
              <a:ahLst/>
              <a:cxnLst/>
              <a:rect l="l" t="t" r="r" b="b"/>
              <a:pathLst>
                <a:path w="1428115" h="854710">
                  <a:moveTo>
                    <a:pt x="1358660" y="0"/>
                  </a:moveTo>
                  <a:lnTo>
                    <a:pt x="68507" y="0"/>
                  </a:lnTo>
                  <a:lnTo>
                    <a:pt x="41847" y="5372"/>
                  </a:lnTo>
                  <a:lnTo>
                    <a:pt x="20070" y="20020"/>
                  </a:lnTo>
                  <a:lnTo>
                    <a:pt x="5385" y="41742"/>
                  </a:lnTo>
                  <a:lnTo>
                    <a:pt x="0" y="68336"/>
                  </a:lnTo>
                  <a:lnTo>
                    <a:pt x="0" y="785869"/>
                  </a:lnTo>
                  <a:lnTo>
                    <a:pt x="5385" y="812496"/>
                  </a:lnTo>
                  <a:lnTo>
                    <a:pt x="20070" y="834215"/>
                  </a:lnTo>
                  <a:lnTo>
                    <a:pt x="41847" y="848844"/>
                  </a:lnTo>
                  <a:lnTo>
                    <a:pt x="68507" y="854206"/>
                  </a:lnTo>
                  <a:lnTo>
                    <a:pt x="1358660" y="854206"/>
                  </a:lnTo>
                  <a:lnTo>
                    <a:pt x="1385495" y="848844"/>
                  </a:lnTo>
                  <a:lnTo>
                    <a:pt x="1407424" y="834215"/>
                  </a:lnTo>
                  <a:lnTo>
                    <a:pt x="1422217" y="812496"/>
                  </a:lnTo>
                  <a:lnTo>
                    <a:pt x="1427644" y="785869"/>
                  </a:lnTo>
                  <a:lnTo>
                    <a:pt x="1427644" y="68336"/>
                  </a:lnTo>
                  <a:lnTo>
                    <a:pt x="1422217" y="41742"/>
                  </a:lnTo>
                  <a:lnTo>
                    <a:pt x="1407424" y="20020"/>
                  </a:lnTo>
                  <a:lnTo>
                    <a:pt x="1385495" y="5372"/>
                  </a:lnTo>
                  <a:lnTo>
                    <a:pt x="1358660" y="0"/>
                  </a:lnTo>
                  <a:close/>
                </a:path>
              </a:pathLst>
            </a:custGeom>
            <a:solidFill>
              <a:srgbClr val="DAE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995360" y="2718481"/>
              <a:ext cx="1428115" cy="854710"/>
            </a:xfrm>
            <a:custGeom>
              <a:avLst/>
              <a:gdLst/>
              <a:ahLst/>
              <a:cxnLst/>
              <a:rect l="l" t="t" r="r" b="b"/>
              <a:pathLst>
                <a:path w="1428115" h="854710">
                  <a:moveTo>
                    <a:pt x="1358660" y="0"/>
                  </a:moveTo>
                  <a:lnTo>
                    <a:pt x="1407424" y="20020"/>
                  </a:lnTo>
                  <a:lnTo>
                    <a:pt x="1427644" y="68336"/>
                  </a:lnTo>
                  <a:lnTo>
                    <a:pt x="1427644" y="785869"/>
                  </a:lnTo>
                  <a:lnTo>
                    <a:pt x="1422217" y="812496"/>
                  </a:lnTo>
                  <a:lnTo>
                    <a:pt x="1407424" y="834215"/>
                  </a:lnTo>
                  <a:lnTo>
                    <a:pt x="1385495" y="848844"/>
                  </a:lnTo>
                  <a:lnTo>
                    <a:pt x="1358660" y="854206"/>
                  </a:lnTo>
                  <a:lnTo>
                    <a:pt x="68507" y="854206"/>
                  </a:lnTo>
                  <a:lnTo>
                    <a:pt x="20070" y="834215"/>
                  </a:lnTo>
                  <a:lnTo>
                    <a:pt x="0" y="785869"/>
                  </a:lnTo>
                  <a:lnTo>
                    <a:pt x="0" y="68336"/>
                  </a:lnTo>
                  <a:lnTo>
                    <a:pt x="5385" y="41742"/>
                  </a:lnTo>
                  <a:lnTo>
                    <a:pt x="20070" y="20020"/>
                  </a:lnTo>
                  <a:lnTo>
                    <a:pt x="41847" y="5372"/>
                  </a:lnTo>
                  <a:lnTo>
                    <a:pt x="68507" y="0"/>
                  </a:lnTo>
                  <a:lnTo>
                    <a:pt x="1358660" y="0"/>
                  </a:lnTo>
                  <a:close/>
                </a:path>
              </a:pathLst>
            </a:custGeom>
            <a:ln w="14246">
              <a:solidFill>
                <a:srgbClr val="6C8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368890" y="3041690"/>
            <a:ext cx="67691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Microsoft Sans Serif"/>
                <a:cs typeface="Microsoft Sans Serif"/>
              </a:rPr>
              <a:t>5.</a:t>
            </a:r>
            <a:r>
              <a:rPr sz="950" spc="25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Service...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415702" y="2711179"/>
            <a:ext cx="2012950" cy="869315"/>
            <a:chOff x="9415702" y="2711179"/>
            <a:chExt cx="2012950" cy="869315"/>
          </a:xfrm>
        </p:grpSpPr>
        <p:sp>
          <p:nvSpPr>
            <p:cNvPr id="33" name="object 33"/>
            <p:cNvSpPr/>
            <p:nvPr/>
          </p:nvSpPr>
          <p:spPr>
            <a:xfrm>
              <a:off x="9423005" y="3145584"/>
              <a:ext cx="292735" cy="0"/>
            </a:xfrm>
            <a:custGeom>
              <a:avLst/>
              <a:gdLst/>
              <a:ahLst/>
              <a:cxnLst/>
              <a:rect l="l" t="t" r="r" b="b"/>
              <a:pathLst>
                <a:path w="292734">
                  <a:moveTo>
                    <a:pt x="0" y="0"/>
                  </a:moveTo>
                  <a:lnTo>
                    <a:pt x="292585" y="0"/>
                  </a:lnTo>
                </a:path>
              </a:pathLst>
            </a:custGeom>
            <a:ln w="14236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8463" y="3102865"/>
              <a:ext cx="85617" cy="8543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803604" y="2718481"/>
              <a:ext cx="1617980" cy="854710"/>
            </a:xfrm>
            <a:custGeom>
              <a:avLst/>
              <a:gdLst/>
              <a:ahLst/>
              <a:cxnLst/>
              <a:rect l="l" t="t" r="r" b="b"/>
              <a:pathLst>
                <a:path w="1617979" h="854710">
                  <a:moveTo>
                    <a:pt x="1548563" y="0"/>
                  </a:moveTo>
                  <a:lnTo>
                    <a:pt x="1597328" y="20020"/>
                  </a:lnTo>
                  <a:lnTo>
                    <a:pt x="1617547" y="68336"/>
                  </a:lnTo>
                  <a:lnTo>
                    <a:pt x="1617547" y="785869"/>
                  </a:lnTo>
                  <a:lnTo>
                    <a:pt x="1612121" y="812496"/>
                  </a:lnTo>
                  <a:lnTo>
                    <a:pt x="1597328" y="834215"/>
                  </a:lnTo>
                  <a:lnTo>
                    <a:pt x="1575399" y="848844"/>
                  </a:lnTo>
                  <a:lnTo>
                    <a:pt x="1548563" y="854206"/>
                  </a:lnTo>
                  <a:lnTo>
                    <a:pt x="68190" y="854206"/>
                  </a:lnTo>
                  <a:lnTo>
                    <a:pt x="19822" y="834215"/>
                  </a:lnTo>
                  <a:lnTo>
                    <a:pt x="0" y="785869"/>
                  </a:lnTo>
                  <a:lnTo>
                    <a:pt x="0" y="68336"/>
                  </a:lnTo>
                  <a:lnTo>
                    <a:pt x="5302" y="41742"/>
                  </a:lnTo>
                  <a:lnTo>
                    <a:pt x="19822" y="20020"/>
                  </a:lnTo>
                  <a:lnTo>
                    <a:pt x="41479" y="5372"/>
                  </a:lnTo>
                  <a:lnTo>
                    <a:pt x="68190" y="0"/>
                  </a:lnTo>
                  <a:lnTo>
                    <a:pt x="1548563" y="0"/>
                  </a:lnTo>
                  <a:close/>
                </a:path>
              </a:pathLst>
            </a:custGeom>
            <a:ln w="142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836101" y="3041690"/>
            <a:ext cx="1559560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latin typeface="Microsoft Sans Serif"/>
                <a:cs typeface="Microsoft Sans Serif"/>
              </a:rPr>
              <a:t>6.</a:t>
            </a:r>
            <a:r>
              <a:rPr sz="950" spc="85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PostgreSQL</a:t>
            </a:r>
            <a:r>
              <a:rPr sz="950" spc="10" dirty="0">
                <a:latin typeface="Microsoft Sans Serif"/>
                <a:cs typeface="Microsoft Sans Serif"/>
              </a:rPr>
              <a:t> </a:t>
            </a:r>
            <a:r>
              <a:rPr sz="950" dirty="0">
                <a:latin typeface="Microsoft Sans Serif"/>
                <a:cs typeface="Microsoft Sans Serif"/>
              </a:rPr>
              <a:t>(Neon</a:t>
            </a:r>
            <a:r>
              <a:rPr sz="950" spc="95" dirty="0">
                <a:latin typeface="Microsoft Sans Serif"/>
                <a:cs typeface="Microsoft Sans Serif"/>
              </a:rPr>
              <a:t> </a:t>
            </a:r>
            <a:r>
              <a:rPr sz="950" spc="-10" dirty="0">
                <a:latin typeface="Microsoft Sans Serif"/>
                <a:cs typeface="Microsoft Sans Serif"/>
              </a:rPr>
              <a:t>DB)...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573534" y="3565385"/>
            <a:ext cx="86360" cy="904875"/>
            <a:chOff x="10573534" y="3565385"/>
            <a:chExt cx="86360" cy="904875"/>
          </a:xfrm>
        </p:grpSpPr>
        <p:sp>
          <p:nvSpPr>
            <p:cNvPr id="38" name="object 38"/>
            <p:cNvSpPr/>
            <p:nvPr/>
          </p:nvSpPr>
          <p:spPr>
            <a:xfrm>
              <a:off x="10612378" y="3572687"/>
              <a:ext cx="40005" cy="854710"/>
            </a:xfrm>
            <a:custGeom>
              <a:avLst/>
              <a:gdLst/>
              <a:ahLst/>
              <a:cxnLst/>
              <a:rect l="l" t="t" r="r" b="b"/>
              <a:pathLst>
                <a:path w="40004" h="854710">
                  <a:moveTo>
                    <a:pt x="0" y="0"/>
                  </a:moveTo>
                  <a:lnTo>
                    <a:pt x="0" y="759325"/>
                  </a:lnTo>
                  <a:lnTo>
                    <a:pt x="1201" y="800853"/>
                  </a:lnTo>
                  <a:lnTo>
                    <a:pt x="11038" y="848306"/>
                  </a:lnTo>
                  <a:lnTo>
                    <a:pt x="19822" y="854237"/>
                  </a:lnTo>
                  <a:lnTo>
                    <a:pt x="39645" y="854237"/>
                  </a:lnTo>
                </a:path>
              </a:pathLst>
            </a:custGeom>
            <a:ln w="14272">
              <a:solidFill>
                <a:srgbClr val="37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73534" y="4384206"/>
              <a:ext cx="85617" cy="85438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0345946" y="3930064"/>
            <a:ext cx="532130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10" dirty="0">
                <a:solidFill>
                  <a:srgbClr val="375522"/>
                </a:solidFill>
                <a:latin typeface="Microsoft Sans Serif"/>
                <a:cs typeface="Microsoft Sans Serif"/>
              </a:rPr>
              <a:t>response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180211" y="4039944"/>
            <a:ext cx="4392295" cy="679450"/>
            <a:chOff x="6180211" y="4039944"/>
            <a:chExt cx="4392295" cy="679450"/>
          </a:xfrm>
        </p:grpSpPr>
        <p:sp>
          <p:nvSpPr>
            <p:cNvPr id="42" name="object 42"/>
            <p:cNvSpPr/>
            <p:nvPr/>
          </p:nvSpPr>
          <p:spPr>
            <a:xfrm>
              <a:off x="6187514" y="4047246"/>
              <a:ext cx="4377690" cy="664845"/>
            </a:xfrm>
            <a:custGeom>
              <a:avLst/>
              <a:gdLst/>
              <a:ahLst/>
              <a:cxnLst/>
              <a:rect l="l" t="t" r="r" b="b"/>
              <a:pathLst>
                <a:path w="4377690" h="664845">
                  <a:moveTo>
                    <a:pt x="4323371" y="0"/>
                  </a:moveTo>
                  <a:lnTo>
                    <a:pt x="53283" y="0"/>
                  </a:lnTo>
                  <a:lnTo>
                    <a:pt x="32547" y="4178"/>
                  </a:lnTo>
                  <a:lnTo>
                    <a:pt x="15610" y="15571"/>
                  </a:lnTo>
                  <a:lnTo>
                    <a:pt x="4188" y="32466"/>
                  </a:lnTo>
                  <a:lnTo>
                    <a:pt x="0" y="53150"/>
                  </a:lnTo>
                  <a:lnTo>
                    <a:pt x="0" y="611263"/>
                  </a:lnTo>
                  <a:lnTo>
                    <a:pt x="4188" y="631954"/>
                  </a:lnTo>
                  <a:lnTo>
                    <a:pt x="15610" y="648848"/>
                  </a:lnTo>
                  <a:lnTo>
                    <a:pt x="32547" y="660237"/>
                  </a:lnTo>
                  <a:lnTo>
                    <a:pt x="53283" y="664414"/>
                  </a:lnTo>
                  <a:lnTo>
                    <a:pt x="4323371" y="664414"/>
                  </a:lnTo>
                  <a:lnTo>
                    <a:pt x="4344173" y="660237"/>
                  </a:lnTo>
                  <a:lnTo>
                    <a:pt x="4361332" y="648848"/>
                  </a:lnTo>
                  <a:lnTo>
                    <a:pt x="4372990" y="631954"/>
                  </a:lnTo>
                  <a:lnTo>
                    <a:pt x="4377289" y="611263"/>
                  </a:lnTo>
                  <a:lnTo>
                    <a:pt x="4377289" y="53150"/>
                  </a:lnTo>
                  <a:lnTo>
                    <a:pt x="4372990" y="32466"/>
                  </a:lnTo>
                  <a:lnTo>
                    <a:pt x="4361332" y="15571"/>
                  </a:lnTo>
                  <a:lnTo>
                    <a:pt x="4344173" y="4178"/>
                  </a:lnTo>
                  <a:lnTo>
                    <a:pt x="4323371" y="0"/>
                  </a:lnTo>
                  <a:close/>
                </a:path>
              </a:pathLst>
            </a:custGeom>
            <a:solidFill>
              <a:srgbClr val="D4E8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87514" y="4047246"/>
              <a:ext cx="4377690" cy="664845"/>
            </a:xfrm>
            <a:custGeom>
              <a:avLst/>
              <a:gdLst/>
              <a:ahLst/>
              <a:cxnLst/>
              <a:rect l="l" t="t" r="r" b="b"/>
              <a:pathLst>
                <a:path w="4377690" h="664845">
                  <a:moveTo>
                    <a:pt x="4323371" y="0"/>
                  </a:moveTo>
                  <a:lnTo>
                    <a:pt x="4361332" y="15571"/>
                  </a:lnTo>
                  <a:lnTo>
                    <a:pt x="4377289" y="53150"/>
                  </a:lnTo>
                  <a:lnTo>
                    <a:pt x="4377289" y="611263"/>
                  </a:lnTo>
                  <a:lnTo>
                    <a:pt x="4372990" y="631954"/>
                  </a:lnTo>
                  <a:lnTo>
                    <a:pt x="4361332" y="648848"/>
                  </a:lnTo>
                  <a:lnTo>
                    <a:pt x="4344173" y="660237"/>
                  </a:lnTo>
                  <a:lnTo>
                    <a:pt x="4323371" y="664414"/>
                  </a:lnTo>
                  <a:lnTo>
                    <a:pt x="53283" y="664414"/>
                  </a:lnTo>
                  <a:lnTo>
                    <a:pt x="15610" y="648848"/>
                  </a:lnTo>
                  <a:lnTo>
                    <a:pt x="0" y="611263"/>
                  </a:lnTo>
                  <a:lnTo>
                    <a:pt x="0" y="53150"/>
                  </a:lnTo>
                  <a:lnTo>
                    <a:pt x="4188" y="32466"/>
                  </a:lnTo>
                  <a:lnTo>
                    <a:pt x="15610" y="15571"/>
                  </a:lnTo>
                  <a:lnTo>
                    <a:pt x="32547" y="4178"/>
                  </a:lnTo>
                  <a:lnTo>
                    <a:pt x="53283" y="0"/>
                  </a:lnTo>
                  <a:lnTo>
                    <a:pt x="4323371" y="0"/>
                  </a:lnTo>
                  <a:close/>
                </a:path>
              </a:pathLst>
            </a:custGeom>
            <a:ln w="14237">
              <a:solidFill>
                <a:srgbClr val="82B3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664781" y="4281270"/>
            <a:ext cx="1418590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dirty="0">
                <a:solidFill>
                  <a:srgbClr val="375522"/>
                </a:solidFill>
                <a:latin typeface="Microsoft Sans Serif"/>
                <a:cs typeface="Microsoft Sans Serif"/>
              </a:rPr>
              <a:t>7.</a:t>
            </a:r>
            <a:r>
              <a:rPr sz="950" spc="45" dirty="0">
                <a:solidFill>
                  <a:srgbClr val="375522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75522"/>
                </a:solidFill>
                <a:latin typeface="Microsoft Sans Serif"/>
                <a:cs typeface="Microsoft Sans Serif"/>
              </a:rPr>
              <a:t>HTTP</a:t>
            </a:r>
            <a:r>
              <a:rPr sz="950" spc="30" dirty="0">
                <a:solidFill>
                  <a:srgbClr val="375522"/>
                </a:solidFill>
                <a:latin typeface="Microsoft Sans Serif"/>
                <a:cs typeface="Microsoft Sans Serif"/>
              </a:rPr>
              <a:t> </a:t>
            </a:r>
            <a:r>
              <a:rPr sz="950" dirty="0">
                <a:solidFill>
                  <a:srgbClr val="375522"/>
                </a:solidFill>
                <a:latin typeface="Microsoft Sans Serif"/>
                <a:cs typeface="Microsoft Sans Serif"/>
              </a:rPr>
              <a:t>201</a:t>
            </a:r>
            <a:r>
              <a:rPr sz="950" spc="80" dirty="0">
                <a:solidFill>
                  <a:srgbClr val="375522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375522"/>
                </a:solidFill>
                <a:latin typeface="Microsoft Sans Serif"/>
                <a:cs typeface="Microsoft Sans Serif"/>
              </a:rPr>
              <a:t>Response...</a:t>
            </a:r>
            <a:endParaRPr sz="95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434787" y="3565561"/>
            <a:ext cx="4759960" cy="1343660"/>
            <a:chOff x="1434787" y="3565561"/>
            <a:chExt cx="4759960" cy="1343660"/>
          </a:xfrm>
        </p:grpSpPr>
        <p:sp>
          <p:nvSpPr>
            <p:cNvPr id="46" name="object 46"/>
            <p:cNvSpPr/>
            <p:nvPr/>
          </p:nvSpPr>
          <p:spPr>
            <a:xfrm>
              <a:off x="1477596" y="3659848"/>
              <a:ext cx="4710430" cy="720090"/>
            </a:xfrm>
            <a:custGeom>
              <a:avLst/>
              <a:gdLst/>
              <a:ahLst/>
              <a:cxnLst/>
              <a:rect l="l" t="t" r="r" b="b"/>
              <a:pathLst>
                <a:path w="4710430" h="720089">
                  <a:moveTo>
                    <a:pt x="4709917" y="719621"/>
                  </a:moveTo>
                  <a:lnTo>
                    <a:pt x="95149" y="719621"/>
                  </a:lnTo>
                  <a:lnTo>
                    <a:pt x="53521" y="713690"/>
                  </a:lnTo>
                  <a:lnTo>
                    <a:pt x="23787" y="695896"/>
                  </a:lnTo>
                  <a:lnTo>
                    <a:pt x="5946" y="666236"/>
                  </a:lnTo>
                  <a:lnTo>
                    <a:pt x="0" y="624709"/>
                  </a:lnTo>
                  <a:lnTo>
                    <a:pt x="0" y="0"/>
                  </a:lnTo>
                </a:path>
              </a:pathLst>
            </a:custGeom>
            <a:ln w="14237">
              <a:solidFill>
                <a:srgbClr val="3755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4787" y="3581537"/>
              <a:ext cx="85617" cy="8543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713617" y="4237101"/>
              <a:ext cx="1522730" cy="664845"/>
            </a:xfrm>
            <a:custGeom>
              <a:avLst/>
              <a:gdLst/>
              <a:ahLst/>
              <a:cxnLst/>
              <a:rect l="l" t="t" r="r" b="b"/>
              <a:pathLst>
                <a:path w="1522729" h="664845">
                  <a:moveTo>
                    <a:pt x="1469113" y="0"/>
                  </a:moveTo>
                  <a:lnTo>
                    <a:pt x="53283" y="0"/>
                  </a:lnTo>
                  <a:lnTo>
                    <a:pt x="32547" y="4177"/>
                  </a:lnTo>
                  <a:lnTo>
                    <a:pt x="15610" y="15568"/>
                  </a:lnTo>
                  <a:lnTo>
                    <a:pt x="4188" y="32463"/>
                  </a:lnTo>
                  <a:lnTo>
                    <a:pt x="0" y="53150"/>
                  </a:lnTo>
                  <a:lnTo>
                    <a:pt x="0" y="611233"/>
                  </a:lnTo>
                  <a:lnTo>
                    <a:pt x="4188" y="631922"/>
                  </a:lnTo>
                  <a:lnTo>
                    <a:pt x="15610" y="648816"/>
                  </a:lnTo>
                  <a:lnTo>
                    <a:pt x="32547" y="660207"/>
                  </a:lnTo>
                  <a:lnTo>
                    <a:pt x="53283" y="664384"/>
                  </a:lnTo>
                  <a:lnTo>
                    <a:pt x="1469113" y="664384"/>
                  </a:lnTo>
                  <a:lnTo>
                    <a:pt x="1489849" y="660207"/>
                  </a:lnTo>
                  <a:lnTo>
                    <a:pt x="1506787" y="648816"/>
                  </a:lnTo>
                  <a:lnTo>
                    <a:pt x="1518208" y="631922"/>
                  </a:lnTo>
                  <a:lnTo>
                    <a:pt x="1522397" y="611233"/>
                  </a:lnTo>
                  <a:lnTo>
                    <a:pt x="1522397" y="53150"/>
                  </a:lnTo>
                  <a:lnTo>
                    <a:pt x="1518208" y="32463"/>
                  </a:lnTo>
                  <a:lnTo>
                    <a:pt x="1506787" y="15568"/>
                  </a:lnTo>
                  <a:lnTo>
                    <a:pt x="1489849" y="4177"/>
                  </a:lnTo>
                  <a:lnTo>
                    <a:pt x="1469113" y="0"/>
                  </a:lnTo>
                  <a:close/>
                </a:path>
              </a:pathLst>
            </a:custGeom>
            <a:solidFill>
              <a:srgbClr val="F8CE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13617" y="4237101"/>
              <a:ext cx="1522730" cy="664845"/>
            </a:xfrm>
            <a:custGeom>
              <a:avLst/>
              <a:gdLst/>
              <a:ahLst/>
              <a:cxnLst/>
              <a:rect l="l" t="t" r="r" b="b"/>
              <a:pathLst>
                <a:path w="1522729" h="664845">
                  <a:moveTo>
                    <a:pt x="1469113" y="0"/>
                  </a:moveTo>
                  <a:lnTo>
                    <a:pt x="1506787" y="15568"/>
                  </a:lnTo>
                  <a:lnTo>
                    <a:pt x="1522397" y="53150"/>
                  </a:lnTo>
                  <a:lnTo>
                    <a:pt x="1522397" y="611233"/>
                  </a:lnTo>
                  <a:lnTo>
                    <a:pt x="1518208" y="631922"/>
                  </a:lnTo>
                  <a:lnTo>
                    <a:pt x="1506787" y="648816"/>
                  </a:lnTo>
                  <a:lnTo>
                    <a:pt x="1489849" y="660207"/>
                  </a:lnTo>
                  <a:lnTo>
                    <a:pt x="1469113" y="664384"/>
                  </a:lnTo>
                  <a:lnTo>
                    <a:pt x="53283" y="664384"/>
                  </a:lnTo>
                  <a:lnTo>
                    <a:pt x="15610" y="648816"/>
                  </a:lnTo>
                  <a:lnTo>
                    <a:pt x="0" y="611233"/>
                  </a:lnTo>
                  <a:lnTo>
                    <a:pt x="0" y="53150"/>
                  </a:lnTo>
                  <a:lnTo>
                    <a:pt x="4188" y="32463"/>
                  </a:lnTo>
                  <a:lnTo>
                    <a:pt x="15610" y="15568"/>
                  </a:lnTo>
                  <a:lnTo>
                    <a:pt x="32547" y="4177"/>
                  </a:lnTo>
                  <a:lnTo>
                    <a:pt x="53283" y="0"/>
                  </a:lnTo>
                  <a:lnTo>
                    <a:pt x="1469113" y="0"/>
                  </a:lnTo>
                  <a:close/>
                </a:path>
              </a:pathLst>
            </a:custGeom>
            <a:ln w="14242">
              <a:solidFill>
                <a:srgbClr val="B853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474816" y="3572687"/>
              <a:ext cx="618490" cy="577850"/>
            </a:xfrm>
            <a:custGeom>
              <a:avLst/>
              <a:gdLst/>
              <a:ahLst/>
              <a:cxnLst/>
              <a:rect l="l" t="t" r="r" b="b"/>
              <a:pathLst>
                <a:path w="618489" h="577850">
                  <a:moveTo>
                    <a:pt x="618474" y="0"/>
                  </a:moveTo>
                  <a:lnTo>
                    <a:pt x="618474" y="237279"/>
                  </a:lnTo>
                  <a:lnTo>
                    <a:pt x="612527" y="278803"/>
                  </a:lnTo>
                  <a:lnTo>
                    <a:pt x="564952" y="326259"/>
                  </a:lnTo>
                  <a:lnTo>
                    <a:pt x="523324" y="332191"/>
                  </a:lnTo>
                  <a:lnTo>
                    <a:pt x="95149" y="332191"/>
                  </a:lnTo>
                  <a:lnTo>
                    <a:pt x="53521" y="338123"/>
                  </a:lnTo>
                  <a:lnTo>
                    <a:pt x="23787" y="355919"/>
                  </a:lnTo>
                  <a:lnTo>
                    <a:pt x="5946" y="385579"/>
                  </a:lnTo>
                  <a:lnTo>
                    <a:pt x="0" y="427103"/>
                  </a:lnTo>
                  <a:lnTo>
                    <a:pt x="0" y="577285"/>
                  </a:lnTo>
                </a:path>
              </a:pathLst>
            </a:custGeom>
            <a:ln w="14253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2007" y="4142845"/>
              <a:ext cx="85617" cy="85438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4587635" y="3806679"/>
            <a:ext cx="379095" cy="173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5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invalid</a:t>
            </a:r>
            <a:endParaRPr sz="95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53" name="object 53"/>
          <p:cNvSpPr txBox="1"/>
          <p:nvPr/>
        </p:nvSpPr>
        <p:spPr>
          <a:xfrm>
            <a:off x="5402117" y="3755426"/>
            <a:ext cx="1372235" cy="17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i="1" dirty="0">
                <a:solidFill>
                  <a:srgbClr val="878787"/>
                </a:solidFill>
                <a:latin typeface="Arial"/>
                <a:cs typeface="Arial"/>
              </a:rPr>
              <a:t>All</a:t>
            </a:r>
            <a:r>
              <a:rPr sz="950" i="1" spc="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878787"/>
                </a:solidFill>
                <a:latin typeface="Arial"/>
                <a:cs typeface="Arial"/>
              </a:rPr>
              <a:t>traffic</a:t>
            </a:r>
            <a:r>
              <a:rPr sz="950" i="1" spc="3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878787"/>
                </a:solidFill>
                <a:latin typeface="Arial"/>
                <a:cs typeface="Arial"/>
              </a:rPr>
              <a:t>over</a:t>
            </a:r>
            <a:r>
              <a:rPr sz="950" i="1" spc="5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878787"/>
                </a:solidFill>
                <a:latin typeface="Arial"/>
                <a:cs typeface="Arial"/>
              </a:rPr>
              <a:t>TLS</a:t>
            </a:r>
            <a:r>
              <a:rPr sz="950" i="1" spc="2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950" i="1" dirty="0">
                <a:solidFill>
                  <a:srgbClr val="878787"/>
                </a:solidFill>
                <a:latin typeface="Arial"/>
                <a:cs typeface="Arial"/>
              </a:rPr>
              <a:t>/</a:t>
            </a:r>
            <a:r>
              <a:rPr sz="950" i="1" spc="5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950" i="1" spc="-25" dirty="0">
                <a:solidFill>
                  <a:srgbClr val="878787"/>
                </a:solidFill>
                <a:latin typeface="Arial"/>
                <a:cs typeface="Arial"/>
              </a:rPr>
              <a:t>SSL</a:t>
            </a:r>
            <a:endParaRPr sz="9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13617" y="4472991"/>
            <a:ext cx="3072130" cy="4241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4645">
              <a:lnSpc>
                <a:spcPct val="100000"/>
              </a:lnSpc>
              <a:spcBef>
                <a:spcPts val="120"/>
              </a:spcBef>
            </a:pPr>
            <a:r>
              <a:rPr sz="950" dirty="0">
                <a:solidFill>
                  <a:srgbClr val="922B20"/>
                </a:solidFill>
                <a:latin typeface="Microsoft Sans Serif"/>
                <a:cs typeface="Microsoft Sans Serif"/>
              </a:rPr>
              <a:t>Error</a:t>
            </a:r>
            <a:r>
              <a:rPr sz="950" spc="95" dirty="0">
                <a:solidFill>
                  <a:srgbClr val="922B20"/>
                </a:solidFill>
                <a:latin typeface="Microsoft Sans Serif"/>
                <a:cs typeface="Microsoft Sans Serif"/>
              </a:rPr>
              <a:t> </a:t>
            </a:r>
            <a:r>
              <a:rPr sz="950" spc="-10" dirty="0">
                <a:solidFill>
                  <a:srgbClr val="922B20"/>
                </a:solidFill>
                <a:latin typeface="Microsoft Sans Serif"/>
                <a:cs typeface="Microsoft Sans Serif"/>
              </a:rPr>
              <a:t>Handler...</a:t>
            </a:r>
            <a:endParaRPr sz="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950">
              <a:latin typeface="Microsoft Sans Serif"/>
              <a:cs typeface="Microsoft Sans Serif"/>
            </a:endParaRPr>
          </a:p>
          <a:p>
            <a:pPr marL="1710689">
              <a:lnSpc>
                <a:spcPct val="100000"/>
              </a:lnSpc>
              <a:spcBef>
                <a:spcPts val="5"/>
              </a:spcBef>
            </a:pPr>
            <a:r>
              <a:rPr sz="750" spc="-20" dirty="0">
                <a:latin typeface="Arial MT"/>
                <a:cs typeface="Arial MT"/>
              </a:rPr>
              <a:t>Text</a:t>
            </a:r>
            <a:r>
              <a:rPr sz="750" spc="-4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is</a:t>
            </a:r>
            <a:r>
              <a:rPr sz="750" spc="-20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not</a:t>
            </a:r>
            <a:r>
              <a:rPr sz="750" spc="1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SVG -</a:t>
            </a:r>
            <a:r>
              <a:rPr sz="750" spc="-25" dirty="0">
                <a:latin typeface="Arial MT"/>
                <a:cs typeface="Arial MT"/>
              </a:rPr>
              <a:t> </a:t>
            </a:r>
            <a:r>
              <a:rPr sz="750" dirty="0">
                <a:latin typeface="Arial MT"/>
                <a:cs typeface="Arial MT"/>
              </a:rPr>
              <a:t>cannot</a:t>
            </a:r>
            <a:r>
              <a:rPr sz="750" spc="10" dirty="0">
                <a:latin typeface="Arial MT"/>
                <a:cs typeface="Arial MT"/>
              </a:rPr>
              <a:t> </a:t>
            </a:r>
            <a:r>
              <a:rPr sz="750" spc="-10" dirty="0">
                <a:latin typeface="Arial MT"/>
                <a:cs typeface="Arial MT"/>
              </a:rPr>
              <a:t>display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29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27380" y="448767"/>
            <a:ext cx="33909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C</a:t>
            </a:r>
            <a:r>
              <a:rPr sz="1300" b="1" spc="-9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G</a:t>
            </a:r>
            <a:r>
              <a:rPr sz="1300" b="1" spc="42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O</a:t>
            </a:r>
            <a:r>
              <a:rPr sz="1300" b="1" spc="40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C4B5FC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C4B5F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C4B5FC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C4B5FC"/>
                </a:solidFill>
                <a:latin typeface="Calibri"/>
                <a:cs typeface="Calibri"/>
              </a:rPr>
              <a:t>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</a:rPr>
              <a:t>The</a:t>
            </a:r>
            <a:r>
              <a:rPr sz="2400" spc="-6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Connection</a:t>
            </a:r>
            <a:r>
              <a:rPr sz="2400" spc="-50" dirty="0">
                <a:solidFill>
                  <a:srgbClr val="FFFFFF"/>
                </a:solidFill>
              </a:rPr>
              <a:t> </a:t>
            </a:r>
            <a:r>
              <a:rPr sz="2400" dirty="0">
                <a:solidFill>
                  <a:srgbClr val="FFFFFF"/>
                </a:solidFill>
              </a:rPr>
              <a:t>Pool</a:t>
            </a:r>
            <a:r>
              <a:rPr sz="2400" spc="400" dirty="0">
                <a:solidFill>
                  <a:srgbClr val="FFFFFF"/>
                </a:solidFill>
              </a:rPr>
              <a:t> </a:t>
            </a:r>
            <a:r>
              <a:rPr sz="2400" spc="-10" dirty="0">
                <a:solidFill>
                  <a:srgbClr val="FFFFFF"/>
                </a:solidFill>
              </a:rPr>
              <a:t>src/config/db.js</a:t>
            </a:r>
            <a:endParaRPr sz="2400"/>
          </a:p>
        </p:txBody>
      </p:sp>
      <p:grpSp>
        <p:nvGrpSpPr>
          <p:cNvPr id="5" name="object 5"/>
          <p:cNvGrpSpPr/>
          <p:nvPr/>
        </p:nvGrpSpPr>
        <p:grpSpPr>
          <a:xfrm>
            <a:off x="633730" y="1410969"/>
            <a:ext cx="10894060" cy="4173220"/>
            <a:chOff x="633730" y="1410969"/>
            <a:chExt cx="10894060" cy="4173220"/>
          </a:xfrm>
        </p:grpSpPr>
        <p:sp>
          <p:nvSpPr>
            <p:cNvPr id="6" name="object 6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10808208" y="0"/>
                  </a:moveTo>
                  <a:lnTo>
                    <a:pt x="73139" y="0"/>
                  </a:lnTo>
                  <a:lnTo>
                    <a:pt x="44668" y="5750"/>
                  </a:lnTo>
                  <a:lnTo>
                    <a:pt x="21420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4087367"/>
                  </a:lnTo>
                  <a:lnTo>
                    <a:pt x="5746" y="4115835"/>
                  </a:lnTo>
                  <a:lnTo>
                    <a:pt x="21420" y="4139088"/>
                  </a:lnTo>
                  <a:lnTo>
                    <a:pt x="44668" y="4154769"/>
                  </a:lnTo>
                  <a:lnTo>
                    <a:pt x="73139" y="4160519"/>
                  </a:lnTo>
                  <a:lnTo>
                    <a:pt x="10808208" y="4160519"/>
                  </a:lnTo>
                  <a:lnTo>
                    <a:pt x="10836675" y="4154769"/>
                  </a:lnTo>
                  <a:lnTo>
                    <a:pt x="10859928" y="4139088"/>
                  </a:lnTo>
                  <a:lnTo>
                    <a:pt x="10875609" y="4115835"/>
                  </a:lnTo>
                  <a:lnTo>
                    <a:pt x="10881360" y="4087367"/>
                  </a:lnTo>
                  <a:lnTo>
                    <a:pt x="10881360" y="73151"/>
                  </a:lnTo>
                  <a:lnTo>
                    <a:pt x="10875609" y="44684"/>
                  </a:lnTo>
                  <a:lnTo>
                    <a:pt x="10859928" y="21431"/>
                  </a:lnTo>
                  <a:lnTo>
                    <a:pt x="10836675" y="5750"/>
                  </a:lnTo>
                  <a:lnTo>
                    <a:pt x="10808208" y="0"/>
                  </a:lnTo>
                  <a:close/>
                </a:path>
              </a:pathLst>
            </a:custGeom>
            <a:solidFill>
              <a:srgbClr val="0E17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40080" y="1417319"/>
              <a:ext cx="10881360" cy="4160520"/>
            </a:xfrm>
            <a:custGeom>
              <a:avLst/>
              <a:gdLst/>
              <a:ahLst/>
              <a:cxnLst/>
              <a:rect l="l" t="t" r="r" b="b"/>
              <a:pathLst>
                <a:path w="10881360" h="4160520">
                  <a:moveTo>
                    <a:pt x="0" y="73151"/>
                  </a:moveTo>
                  <a:lnTo>
                    <a:pt x="5746" y="44684"/>
                  </a:lnTo>
                  <a:lnTo>
                    <a:pt x="21420" y="21431"/>
                  </a:lnTo>
                  <a:lnTo>
                    <a:pt x="44668" y="5750"/>
                  </a:lnTo>
                  <a:lnTo>
                    <a:pt x="73139" y="0"/>
                  </a:lnTo>
                  <a:lnTo>
                    <a:pt x="10808208" y="0"/>
                  </a:lnTo>
                  <a:lnTo>
                    <a:pt x="10836675" y="5750"/>
                  </a:lnTo>
                  <a:lnTo>
                    <a:pt x="10859928" y="21431"/>
                  </a:lnTo>
                  <a:lnTo>
                    <a:pt x="10875609" y="44684"/>
                  </a:lnTo>
                  <a:lnTo>
                    <a:pt x="10881360" y="73151"/>
                  </a:lnTo>
                  <a:lnTo>
                    <a:pt x="10881360" y="4087367"/>
                  </a:lnTo>
                  <a:lnTo>
                    <a:pt x="10875609" y="4115835"/>
                  </a:lnTo>
                  <a:lnTo>
                    <a:pt x="10859928" y="4139088"/>
                  </a:lnTo>
                  <a:lnTo>
                    <a:pt x="10836675" y="4154769"/>
                  </a:lnTo>
                  <a:lnTo>
                    <a:pt x="10808208" y="4160519"/>
                  </a:lnTo>
                  <a:lnTo>
                    <a:pt x="73139" y="4160519"/>
                  </a:lnTo>
                  <a:lnTo>
                    <a:pt x="44668" y="4154769"/>
                  </a:lnTo>
                  <a:lnTo>
                    <a:pt x="21420" y="4139088"/>
                  </a:lnTo>
                  <a:lnTo>
                    <a:pt x="5746" y="4115835"/>
                  </a:lnTo>
                  <a:lnTo>
                    <a:pt x="0" y="408736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33415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01700" y="1561871"/>
            <a:ext cx="4752340" cy="383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79575">
              <a:lnSpc>
                <a:spcPct val="120000"/>
              </a:lnSpc>
              <a:spcBef>
                <a:spcPts val="100"/>
              </a:spcBef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const</a:t>
            </a: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{</a:t>
            </a:r>
            <a:r>
              <a:rPr sz="1300" spc="-2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Pool</a:t>
            </a:r>
            <a:r>
              <a:rPr sz="1300" spc="-1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}</a:t>
            </a: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</a:t>
            </a:r>
            <a:r>
              <a:rPr sz="1300" spc="-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require('pg'); require('dotenv').config();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const</a:t>
            </a:r>
            <a:r>
              <a:rPr sz="130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pool</a:t>
            </a: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</a:t>
            </a: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new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 Pool({</a:t>
            </a:r>
            <a:endParaRPr sz="13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315"/>
              </a:spcBef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connectionString:</a:t>
            </a:r>
            <a:r>
              <a:rPr sz="1300" spc="-8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process.env.DATABASE_URL,</a:t>
            </a:r>
            <a:endParaRPr sz="13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310"/>
              </a:spcBef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ssl: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{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rejectUnauthorized:</a:t>
            </a:r>
            <a:r>
              <a:rPr sz="1300" spc="-4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false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},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});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300">
              <a:latin typeface="Courier New"/>
              <a:cs typeface="Courier New"/>
            </a:endParaRPr>
          </a:p>
          <a:p>
            <a:pPr marL="210185" marR="1384300" indent="-198120">
              <a:lnSpc>
                <a:spcPct val="120000"/>
              </a:lnSpc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const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initDatabase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async</a:t>
            </a:r>
            <a:r>
              <a:rPr sz="1300" spc="-2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()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=&gt;</a:t>
            </a:r>
            <a:r>
              <a:rPr sz="130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{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await</a:t>
            </a:r>
            <a:r>
              <a:rPr sz="130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pool.query(</a:t>
            </a:r>
            <a:endParaRPr sz="130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  <a:spcBef>
                <a:spcPts val="310"/>
              </a:spcBef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'CREATE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EXTENSION</a:t>
            </a:r>
            <a:r>
              <a:rPr sz="1300" spc="-3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IF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NOT</a:t>
            </a:r>
            <a:r>
              <a:rPr sz="1300" spc="-4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EXISTS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"pgcrypto";'</a:t>
            </a:r>
            <a:endParaRPr sz="13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315"/>
              </a:spcBef>
            </a:pP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310"/>
              </a:spcBef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console.log('Connected</a:t>
            </a:r>
            <a:r>
              <a:rPr sz="1300" spc="-4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to</a:t>
            </a:r>
            <a:r>
              <a:rPr sz="1300" spc="-4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Neon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7CD2FB"/>
                </a:solidFill>
                <a:latin typeface="Courier New"/>
                <a:cs typeface="Courier New"/>
              </a:rPr>
              <a:t>DB.');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};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module.exports</a:t>
            </a:r>
            <a:r>
              <a:rPr sz="1300" spc="-6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=</a:t>
            </a:r>
            <a:r>
              <a:rPr sz="1300" spc="-3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{</a:t>
            </a:r>
            <a:r>
              <a:rPr sz="1300" spc="-45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pool,</a:t>
            </a:r>
            <a:r>
              <a:rPr sz="1300" spc="-5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7CD2FB"/>
                </a:solidFill>
                <a:latin typeface="Courier New"/>
                <a:cs typeface="Courier New"/>
              </a:rPr>
              <a:t>initDatabase</a:t>
            </a:r>
            <a:r>
              <a:rPr sz="1300" spc="-40" dirty="0">
                <a:solidFill>
                  <a:srgbClr val="7CD2FB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7CD2FB"/>
                </a:solidFill>
                <a:latin typeface="Courier New"/>
                <a:cs typeface="Courier New"/>
              </a:rPr>
              <a:t>};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627380" y="5877559"/>
            <a:ext cx="56184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connection</a:t>
            </a:r>
            <a:r>
              <a:rPr sz="1200" i="1" spc="-3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pool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reuses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open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connections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instead</a:t>
            </a:r>
            <a:r>
              <a:rPr sz="1200" i="1" spc="-4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of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opening</a:t>
            </a:r>
            <a:r>
              <a:rPr sz="1200" i="1" spc="-2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a</a:t>
            </a:r>
            <a:r>
              <a:rPr sz="1200" i="1" spc="-2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new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one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for</a:t>
            </a:r>
            <a:r>
              <a:rPr sz="1200" i="1" spc="-15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93A2B8"/>
                </a:solidFill>
                <a:latin typeface="Calibri"/>
                <a:cs typeface="Calibri"/>
              </a:rPr>
              <a:t>every</a:t>
            </a:r>
            <a:r>
              <a:rPr sz="1200" i="1" spc="-30" dirty="0">
                <a:solidFill>
                  <a:srgbClr val="93A2B8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93A2B8"/>
                </a:solidFill>
                <a:latin typeface="Calibri"/>
                <a:cs typeface="Calibri"/>
              </a:rPr>
              <a:t>request.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33909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G</a:t>
            </a:r>
            <a:r>
              <a:rPr sz="1300" b="1" spc="42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409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O</a:t>
            </a:r>
            <a:r>
              <a:rPr sz="1300" b="1" spc="40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7B39EC"/>
                </a:solidFill>
                <a:latin typeface="Calibri"/>
                <a:cs typeface="Calibri"/>
              </a:rPr>
              <a:t>B</a:t>
            </a:r>
            <a:r>
              <a:rPr sz="1300" b="1" spc="-9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C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K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7B39EC"/>
                </a:solidFill>
                <a:latin typeface="Calibri"/>
                <a:cs typeface="Calibri"/>
              </a:rPr>
              <a:t>N</a:t>
            </a:r>
            <a:r>
              <a:rPr sz="1300" b="1" spc="-95" dirty="0">
                <a:solidFill>
                  <a:srgbClr val="7B39EC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7B39EC"/>
                </a:solidFill>
                <a:latin typeface="Calibri"/>
                <a:cs typeface="Calibri"/>
              </a:rPr>
              <a:t>D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Service</a:t>
            </a:r>
            <a:r>
              <a:rPr sz="2600" spc="-60" dirty="0"/>
              <a:t> </a:t>
            </a:r>
            <a:r>
              <a:rPr sz="2600" dirty="0"/>
              <a:t>Layer</a:t>
            </a:r>
            <a:r>
              <a:rPr sz="2600" spc="500" dirty="0"/>
              <a:t> </a:t>
            </a:r>
            <a:r>
              <a:rPr sz="2600" spc="-25" dirty="0"/>
              <a:t>Parameterized</a:t>
            </a:r>
            <a:r>
              <a:rPr sz="2600" spc="-45" dirty="0"/>
              <a:t> </a:t>
            </a:r>
            <a:r>
              <a:rPr sz="2600" spc="-10" dirty="0"/>
              <a:t>Queries</a:t>
            </a:r>
            <a:endParaRPr sz="2600"/>
          </a:p>
        </p:txBody>
      </p:sp>
      <p:sp>
        <p:nvSpPr>
          <p:cNvPr id="4" name="object 4"/>
          <p:cNvSpPr/>
          <p:nvPr/>
        </p:nvSpPr>
        <p:spPr>
          <a:xfrm>
            <a:off x="640080" y="1417319"/>
            <a:ext cx="6400800" cy="4526280"/>
          </a:xfrm>
          <a:custGeom>
            <a:avLst/>
            <a:gdLst/>
            <a:ahLst/>
            <a:cxnLst/>
            <a:rect l="l" t="t" r="r" b="b"/>
            <a:pathLst>
              <a:path w="6400800" h="4526280">
                <a:moveTo>
                  <a:pt x="6327648" y="0"/>
                </a:moveTo>
                <a:lnTo>
                  <a:pt x="73139" y="0"/>
                </a:lnTo>
                <a:lnTo>
                  <a:pt x="44673" y="5750"/>
                </a:lnTo>
                <a:lnTo>
                  <a:pt x="21424" y="21431"/>
                </a:lnTo>
                <a:lnTo>
                  <a:pt x="5748" y="44684"/>
                </a:lnTo>
                <a:lnTo>
                  <a:pt x="0" y="73151"/>
                </a:lnTo>
                <a:lnTo>
                  <a:pt x="0" y="4453140"/>
                </a:lnTo>
                <a:lnTo>
                  <a:pt x="5748" y="4481606"/>
                </a:lnTo>
                <a:lnTo>
                  <a:pt x="21424" y="4504855"/>
                </a:lnTo>
                <a:lnTo>
                  <a:pt x="44673" y="4520531"/>
                </a:lnTo>
                <a:lnTo>
                  <a:pt x="73139" y="4526280"/>
                </a:lnTo>
                <a:lnTo>
                  <a:pt x="6327648" y="4526280"/>
                </a:lnTo>
                <a:lnTo>
                  <a:pt x="6356115" y="4520531"/>
                </a:lnTo>
                <a:lnTo>
                  <a:pt x="6379368" y="4504855"/>
                </a:lnTo>
                <a:lnTo>
                  <a:pt x="6395049" y="4481606"/>
                </a:lnTo>
                <a:lnTo>
                  <a:pt x="6400800" y="4453140"/>
                </a:lnTo>
                <a:lnTo>
                  <a:pt x="6400800" y="73151"/>
                </a:lnTo>
                <a:lnTo>
                  <a:pt x="6395049" y="44684"/>
                </a:lnTo>
                <a:lnTo>
                  <a:pt x="6379368" y="21431"/>
                </a:lnTo>
                <a:lnTo>
                  <a:pt x="6356115" y="5750"/>
                </a:lnTo>
                <a:lnTo>
                  <a:pt x="6327648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const</a:t>
            </a:r>
            <a:r>
              <a:rPr spc="-30" dirty="0"/>
              <a:t> </a:t>
            </a:r>
            <a:r>
              <a:rPr dirty="0"/>
              <a:t>{</a:t>
            </a:r>
            <a:r>
              <a:rPr spc="-15" dirty="0"/>
              <a:t> </a:t>
            </a:r>
            <a:r>
              <a:rPr dirty="0"/>
              <a:t>pool</a:t>
            </a:r>
            <a:r>
              <a:rPr spc="-20" dirty="0"/>
              <a:t> </a:t>
            </a:r>
            <a:r>
              <a:rPr dirty="0"/>
              <a:t>}</a:t>
            </a:r>
            <a:r>
              <a:rPr spc="-15" dirty="0"/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spc="-10" dirty="0"/>
              <a:t>require('../config/db');</a:t>
            </a:r>
          </a:p>
          <a:p>
            <a:pPr>
              <a:lnSpc>
                <a:spcPct val="100000"/>
              </a:lnSpc>
              <a:spcBef>
                <a:spcPts val="63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/>
              <a:t>const</a:t>
            </a:r>
            <a:r>
              <a:rPr spc="-35" dirty="0"/>
              <a:t> </a:t>
            </a:r>
            <a:r>
              <a:rPr dirty="0"/>
              <a:t>ingestMetric</a:t>
            </a:r>
            <a:r>
              <a:rPr spc="-30" dirty="0"/>
              <a:t> </a:t>
            </a:r>
            <a:r>
              <a:rPr dirty="0"/>
              <a:t>=</a:t>
            </a:r>
            <a:r>
              <a:rPr spc="-45" dirty="0"/>
              <a:t> </a:t>
            </a:r>
            <a:r>
              <a:rPr dirty="0"/>
              <a:t>async</a:t>
            </a:r>
            <a:r>
              <a:rPr spc="-40" dirty="0"/>
              <a:t> </a:t>
            </a:r>
            <a:r>
              <a:rPr dirty="0"/>
              <a:t>(data)</a:t>
            </a:r>
            <a:r>
              <a:rPr spc="-40" dirty="0"/>
              <a:t> </a:t>
            </a:r>
            <a:r>
              <a:rPr dirty="0"/>
              <a:t>=&gt;</a:t>
            </a:r>
            <a:r>
              <a:rPr spc="-40" dirty="0"/>
              <a:t> </a:t>
            </a:r>
            <a:r>
              <a:rPr spc="-60" dirty="0"/>
              <a:t>{</a:t>
            </a:r>
          </a:p>
          <a:p>
            <a:pPr marL="187325">
              <a:lnSpc>
                <a:spcPct val="100000"/>
              </a:lnSpc>
              <a:spcBef>
                <a:spcPts val="275"/>
              </a:spcBef>
            </a:pPr>
            <a:r>
              <a:rPr dirty="0"/>
              <a:t>const</a:t>
            </a:r>
            <a:r>
              <a:rPr spc="-25" dirty="0"/>
              <a:t> </a:t>
            </a:r>
            <a:r>
              <a:rPr dirty="0"/>
              <a:t>query</a:t>
            </a:r>
            <a:r>
              <a:rPr spc="-25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spc="-50" dirty="0"/>
              <a:t>`</a:t>
            </a:r>
          </a:p>
          <a:p>
            <a:pPr marL="537210" marR="789305" indent="-175260">
              <a:lnSpc>
                <a:spcPct val="120000"/>
              </a:lnSpc>
              <a:spcBef>
                <a:spcPts val="5"/>
              </a:spcBef>
            </a:pPr>
            <a:r>
              <a:rPr dirty="0"/>
              <a:t>INSERT</a:t>
            </a:r>
            <a:r>
              <a:rPr spc="-65" dirty="0"/>
              <a:t> </a:t>
            </a:r>
            <a:r>
              <a:rPr dirty="0"/>
              <a:t>INTO</a:t>
            </a:r>
            <a:r>
              <a:rPr spc="-50" dirty="0"/>
              <a:t> </a:t>
            </a:r>
            <a:r>
              <a:rPr dirty="0"/>
              <a:t>network_metric</a:t>
            </a:r>
            <a:r>
              <a:rPr spc="-60" dirty="0"/>
              <a:t> </a:t>
            </a:r>
            <a:r>
              <a:rPr spc="-50" dirty="0"/>
              <a:t>( </a:t>
            </a:r>
            <a:r>
              <a:rPr dirty="0"/>
              <a:t>anonymous_id,</a:t>
            </a:r>
            <a:r>
              <a:rPr spc="-95" dirty="0"/>
              <a:t> </a:t>
            </a:r>
            <a:r>
              <a:rPr spc="-10" dirty="0"/>
              <a:t>network_type, </a:t>
            </a:r>
            <a:r>
              <a:rPr dirty="0"/>
              <a:t>download_mbps,</a:t>
            </a:r>
            <a:r>
              <a:rPr spc="-105" dirty="0"/>
              <a:t> </a:t>
            </a:r>
            <a:r>
              <a:rPr spc="-10" dirty="0"/>
              <a:t>latency_ms</a:t>
            </a:r>
          </a:p>
          <a:p>
            <a:pPr marL="361950" marR="1139825">
              <a:lnSpc>
                <a:spcPct val="120000"/>
              </a:lnSpc>
            </a:pPr>
            <a:r>
              <a:rPr dirty="0"/>
              <a:t>)</a:t>
            </a:r>
            <a:r>
              <a:rPr spc="-25" dirty="0"/>
              <a:t> </a:t>
            </a:r>
            <a:r>
              <a:rPr dirty="0"/>
              <a:t>VALUES</a:t>
            </a:r>
            <a:r>
              <a:rPr spc="-25" dirty="0"/>
              <a:t> </a:t>
            </a:r>
            <a:r>
              <a:rPr dirty="0"/>
              <a:t>($1,</a:t>
            </a:r>
            <a:r>
              <a:rPr spc="-25" dirty="0"/>
              <a:t> </a:t>
            </a:r>
            <a:r>
              <a:rPr dirty="0"/>
              <a:t>$2,</a:t>
            </a:r>
            <a:r>
              <a:rPr spc="-25" dirty="0"/>
              <a:t> </a:t>
            </a:r>
            <a:r>
              <a:rPr dirty="0"/>
              <a:t>$3,</a:t>
            </a:r>
            <a:r>
              <a:rPr spc="-25" dirty="0"/>
              <a:t> $4) </a:t>
            </a:r>
            <a:r>
              <a:rPr dirty="0"/>
              <a:t>RETURNING</a:t>
            </a:r>
            <a:r>
              <a:rPr spc="-65" dirty="0"/>
              <a:t> </a:t>
            </a:r>
            <a:r>
              <a:rPr spc="-50" dirty="0"/>
              <a:t>*</a:t>
            </a:r>
          </a:p>
          <a:p>
            <a:pPr marL="187325">
              <a:lnSpc>
                <a:spcPct val="100000"/>
              </a:lnSpc>
              <a:spcBef>
                <a:spcPts val="275"/>
              </a:spcBef>
            </a:pPr>
            <a:r>
              <a:rPr spc="-25" dirty="0"/>
              <a:t>`;</a:t>
            </a:r>
          </a:p>
          <a:p>
            <a:pPr marL="361950" marR="694055" indent="-174625">
              <a:lnSpc>
                <a:spcPct val="120000"/>
              </a:lnSpc>
            </a:pPr>
            <a:r>
              <a:rPr dirty="0"/>
              <a:t>const</a:t>
            </a:r>
            <a:r>
              <a:rPr spc="-10" dirty="0"/>
              <a:t> </a:t>
            </a:r>
            <a:r>
              <a:rPr dirty="0"/>
              <a:t>result</a:t>
            </a:r>
            <a:r>
              <a:rPr spc="-10" dirty="0"/>
              <a:t> </a:t>
            </a:r>
            <a:r>
              <a:rPr dirty="0"/>
              <a:t>=</a:t>
            </a:r>
            <a:r>
              <a:rPr spc="-20" dirty="0"/>
              <a:t> </a:t>
            </a:r>
            <a:r>
              <a:rPr dirty="0"/>
              <a:t>await</a:t>
            </a:r>
            <a:r>
              <a:rPr spc="-5" dirty="0"/>
              <a:t> </a:t>
            </a:r>
            <a:r>
              <a:rPr spc="-10" dirty="0"/>
              <a:t>pool.query( query,</a:t>
            </a:r>
          </a:p>
          <a:p>
            <a:pPr marL="450215" marR="5080" indent="-88900">
              <a:lnSpc>
                <a:spcPct val="120000"/>
              </a:lnSpc>
            </a:pPr>
            <a:r>
              <a:rPr dirty="0"/>
              <a:t>[data.anonymous_id,</a:t>
            </a:r>
            <a:r>
              <a:rPr spc="-135" dirty="0"/>
              <a:t> </a:t>
            </a:r>
            <a:r>
              <a:rPr spc="-10" dirty="0"/>
              <a:t>data.network_type, </a:t>
            </a:r>
            <a:r>
              <a:rPr dirty="0"/>
              <a:t>data.download_mbps,</a:t>
            </a:r>
            <a:r>
              <a:rPr spc="-135" dirty="0"/>
              <a:t> </a:t>
            </a:r>
            <a:r>
              <a:rPr spc="-10" dirty="0"/>
              <a:t>data.latency_ms]</a:t>
            </a:r>
          </a:p>
          <a:p>
            <a:pPr marL="187325">
              <a:lnSpc>
                <a:spcPct val="100000"/>
              </a:lnSpc>
              <a:spcBef>
                <a:spcPts val="280"/>
              </a:spcBef>
            </a:pPr>
            <a:r>
              <a:rPr spc="-25" dirty="0"/>
              <a:t>);</a:t>
            </a:r>
          </a:p>
          <a:p>
            <a:pPr marL="187325">
              <a:lnSpc>
                <a:spcPct val="100000"/>
              </a:lnSpc>
              <a:spcBef>
                <a:spcPts val="275"/>
              </a:spcBef>
            </a:pPr>
            <a:r>
              <a:rPr dirty="0"/>
              <a:t>return</a:t>
            </a:r>
            <a:r>
              <a:rPr spc="-15" dirty="0"/>
              <a:t> </a:t>
            </a:r>
            <a:r>
              <a:rPr spc="-10" dirty="0"/>
              <a:t>result.rows[0];</a:t>
            </a: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pc="-25" dirty="0"/>
              <a:t>};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308850" y="1548130"/>
            <a:ext cx="4218940" cy="1247140"/>
            <a:chOff x="7308850" y="1548130"/>
            <a:chExt cx="4218940" cy="1247140"/>
          </a:xfrm>
        </p:grpSpPr>
        <p:sp>
          <p:nvSpPr>
            <p:cNvPr id="7" name="object 7"/>
            <p:cNvSpPr/>
            <p:nvPr/>
          </p:nvSpPr>
          <p:spPr>
            <a:xfrm>
              <a:off x="7315200" y="1554480"/>
              <a:ext cx="4206240" cy="1234440"/>
            </a:xfrm>
            <a:custGeom>
              <a:avLst/>
              <a:gdLst/>
              <a:ahLst/>
              <a:cxnLst/>
              <a:rect l="l" t="t" r="r" b="b"/>
              <a:pathLst>
                <a:path w="4206240" h="1234439">
                  <a:moveTo>
                    <a:pt x="412394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1152144"/>
                  </a:lnTo>
                  <a:lnTo>
                    <a:pt x="6465" y="1184183"/>
                  </a:lnTo>
                  <a:lnTo>
                    <a:pt x="24098" y="1210341"/>
                  </a:lnTo>
                  <a:lnTo>
                    <a:pt x="50256" y="1227974"/>
                  </a:lnTo>
                  <a:lnTo>
                    <a:pt x="82296" y="1234440"/>
                  </a:lnTo>
                  <a:lnTo>
                    <a:pt x="4123944" y="1234440"/>
                  </a:lnTo>
                  <a:lnTo>
                    <a:pt x="4155983" y="1227974"/>
                  </a:lnTo>
                  <a:lnTo>
                    <a:pt x="4182141" y="1210341"/>
                  </a:lnTo>
                  <a:lnTo>
                    <a:pt x="4199774" y="1184183"/>
                  </a:lnTo>
                  <a:lnTo>
                    <a:pt x="4206240" y="1152144"/>
                  </a:lnTo>
                  <a:lnTo>
                    <a:pt x="4206240" y="82296"/>
                  </a:lnTo>
                  <a:lnTo>
                    <a:pt x="4199774" y="50256"/>
                  </a:lnTo>
                  <a:lnTo>
                    <a:pt x="4182141" y="24098"/>
                  </a:lnTo>
                  <a:lnTo>
                    <a:pt x="4155983" y="6465"/>
                  </a:lnTo>
                  <a:lnTo>
                    <a:pt x="4123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15200" y="1554480"/>
              <a:ext cx="4206240" cy="1234440"/>
            </a:xfrm>
            <a:custGeom>
              <a:avLst/>
              <a:gdLst/>
              <a:ahLst/>
              <a:cxnLst/>
              <a:rect l="l" t="t" r="r" b="b"/>
              <a:pathLst>
                <a:path w="4206240" h="1234439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4123944" y="0"/>
                  </a:lnTo>
                  <a:lnTo>
                    <a:pt x="4155983" y="6465"/>
                  </a:lnTo>
                  <a:lnTo>
                    <a:pt x="4182141" y="24098"/>
                  </a:lnTo>
                  <a:lnTo>
                    <a:pt x="4199774" y="50256"/>
                  </a:lnTo>
                  <a:lnTo>
                    <a:pt x="4206240" y="82296"/>
                  </a:lnTo>
                  <a:lnTo>
                    <a:pt x="4206240" y="1152144"/>
                  </a:lnTo>
                  <a:lnTo>
                    <a:pt x="4199774" y="1184183"/>
                  </a:lnTo>
                  <a:lnTo>
                    <a:pt x="4182141" y="1210341"/>
                  </a:lnTo>
                  <a:lnTo>
                    <a:pt x="4155983" y="1227974"/>
                  </a:lnTo>
                  <a:lnTo>
                    <a:pt x="4123944" y="1234440"/>
                  </a:lnTo>
                  <a:lnTo>
                    <a:pt x="82296" y="1234440"/>
                  </a:lnTo>
                  <a:lnTo>
                    <a:pt x="50256" y="1227974"/>
                  </a:lnTo>
                  <a:lnTo>
                    <a:pt x="24098" y="1210341"/>
                  </a:lnTo>
                  <a:lnTo>
                    <a:pt x="6465" y="1184183"/>
                  </a:lnTo>
                  <a:lnTo>
                    <a:pt x="0" y="115214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531989" y="1718513"/>
            <a:ext cx="3594735" cy="845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2462EB"/>
                </a:solidFill>
                <a:latin typeface="Courier New"/>
                <a:cs typeface="Courier New"/>
              </a:rPr>
              <a:t>$1,</a:t>
            </a:r>
            <a:r>
              <a:rPr sz="1300" b="1" spc="-3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ourier New"/>
                <a:cs typeface="Courier New"/>
              </a:rPr>
              <a:t>$2,</a:t>
            </a:r>
            <a:r>
              <a:rPr sz="1300" b="1" spc="-30" dirty="0">
                <a:solidFill>
                  <a:srgbClr val="2462EB"/>
                </a:solidFill>
                <a:latin typeface="Courier New"/>
                <a:cs typeface="Courier New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ourier New"/>
                <a:cs typeface="Courier New"/>
              </a:rPr>
              <a:t>$3...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3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Placeholders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filled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separately</a:t>
            </a:r>
            <a:r>
              <a:rPr sz="10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from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the SQL text</a:t>
            </a:r>
            <a:r>
              <a:rPr sz="1050" spc="2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this</a:t>
            </a:r>
            <a:r>
              <a:rPr sz="10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prevents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63748A"/>
                </a:solidFill>
                <a:latin typeface="Calibri"/>
                <a:cs typeface="Calibri"/>
              </a:rPr>
              <a:t>SQL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injection.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08850" y="2965450"/>
            <a:ext cx="4218940" cy="1247140"/>
            <a:chOff x="7308850" y="2965450"/>
            <a:chExt cx="4218940" cy="1247140"/>
          </a:xfrm>
        </p:grpSpPr>
        <p:sp>
          <p:nvSpPr>
            <p:cNvPr id="11" name="object 11"/>
            <p:cNvSpPr/>
            <p:nvPr/>
          </p:nvSpPr>
          <p:spPr>
            <a:xfrm>
              <a:off x="7315200" y="2971800"/>
              <a:ext cx="4206240" cy="1234440"/>
            </a:xfrm>
            <a:custGeom>
              <a:avLst/>
              <a:gdLst/>
              <a:ahLst/>
              <a:cxnLst/>
              <a:rect l="l" t="t" r="r" b="b"/>
              <a:pathLst>
                <a:path w="4206240" h="1234439">
                  <a:moveTo>
                    <a:pt x="412394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1152144"/>
                  </a:lnTo>
                  <a:lnTo>
                    <a:pt x="6465" y="1184183"/>
                  </a:lnTo>
                  <a:lnTo>
                    <a:pt x="24098" y="1210341"/>
                  </a:lnTo>
                  <a:lnTo>
                    <a:pt x="50256" y="1227974"/>
                  </a:lnTo>
                  <a:lnTo>
                    <a:pt x="82296" y="1234439"/>
                  </a:lnTo>
                  <a:lnTo>
                    <a:pt x="4123944" y="1234439"/>
                  </a:lnTo>
                  <a:lnTo>
                    <a:pt x="4155983" y="1227974"/>
                  </a:lnTo>
                  <a:lnTo>
                    <a:pt x="4182141" y="1210341"/>
                  </a:lnTo>
                  <a:lnTo>
                    <a:pt x="4199774" y="1184183"/>
                  </a:lnTo>
                  <a:lnTo>
                    <a:pt x="4206240" y="1152144"/>
                  </a:lnTo>
                  <a:lnTo>
                    <a:pt x="4206240" y="82296"/>
                  </a:lnTo>
                  <a:lnTo>
                    <a:pt x="4199774" y="50256"/>
                  </a:lnTo>
                  <a:lnTo>
                    <a:pt x="4182141" y="24098"/>
                  </a:lnTo>
                  <a:lnTo>
                    <a:pt x="4155983" y="6465"/>
                  </a:lnTo>
                  <a:lnTo>
                    <a:pt x="4123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15200" y="2971800"/>
              <a:ext cx="4206240" cy="1234440"/>
            </a:xfrm>
            <a:custGeom>
              <a:avLst/>
              <a:gdLst/>
              <a:ahLst/>
              <a:cxnLst/>
              <a:rect l="l" t="t" r="r" b="b"/>
              <a:pathLst>
                <a:path w="4206240" h="1234439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4123944" y="0"/>
                  </a:lnTo>
                  <a:lnTo>
                    <a:pt x="4155983" y="6465"/>
                  </a:lnTo>
                  <a:lnTo>
                    <a:pt x="4182141" y="24098"/>
                  </a:lnTo>
                  <a:lnTo>
                    <a:pt x="4199774" y="50256"/>
                  </a:lnTo>
                  <a:lnTo>
                    <a:pt x="4206240" y="82296"/>
                  </a:lnTo>
                  <a:lnTo>
                    <a:pt x="4206240" y="1152144"/>
                  </a:lnTo>
                  <a:lnTo>
                    <a:pt x="4199774" y="1184183"/>
                  </a:lnTo>
                  <a:lnTo>
                    <a:pt x="4182141" y="1210341"/>
                  </a:lnTo>
                  <a:lnTo>
                    <a:pt x="4155983" y="1227974"/>
                  </a:lnTo>
                  <a:lnTo>
                    <a:pt x="4123944" y="1234439"/>
                  </a:lnTo>
                  <a:lnTo>
                    <a:pt x="82296" y="1234439"/>
                  </a:lnTo>
                  <a:lnTo>
                    <a:pt x="50256" y="1227974"/>
                  </a:lnTo>
                  <a:lnTo>
                    <a:pt x="24098" y="1210341"/>
                  </a:lnTo>
                  <a:lnTo>
                    <a:pt x="6465" y="1184183"/>
                  </a:lnTo>
                  <a:lnTo>
                    <a:pt x="0" y="1152144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31989" y="3136214"/>
            <a:ext cx="3635375" cy="8458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49569"/>
                </a:solidFill>
                <a:latin typeface="Courier New"/>
                <a:cs typeface="Courier New"/>
              </a:rPr>
              <a:t>RETURNING</a:t>
            </a:r>
            <a:r>
              <a:rPr sz="1300" b="1" spc="-75" dirty="0">
                <a:solidFill>
                  <a:srgbClr val="049569"/>
                </a:solidFill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49569"/>
                </a:solidFill>
                <a:latin typeface="Courier New"/>
                <a:cs typeface="Courier New"/>
              </a:rPr>
              <a:t>*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3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Sends</a:t>
            </a:r>
            <a:r>
              <a:rPr sz="10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back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full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inserted</a:t>
            </a:r>
            <a:r>
              <a:rPr sz="10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row,</a:t>
            </a:r>
            <a:r>
              <a:rPr sz="10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including</a:t>
            </a:r>
            <a:r>
              <a:rPr sz="10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DB-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generated</a:t>
            </a:r>
            <a:r>
              <a:rPr sz="10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fields</a:t>
            </a:r>
            <a:r>
              <a:rPr sz="1050" spc="-20" dirty="0">
                <a:solidFill>
                  <a:srgbClr val="63748A"/>
                </a:solidFill>
                <a:latin typeface="Calibri"/>
                <a:cs typeface="Calibri"/>
              </a:rPr>
              <a:t> like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metric_id</a:t>
            </a:r>
            <a:r>
              <a:rPr sz="10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recorded_at.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08850" y="4382770"/>
            <a:ext cx="4218940" cy="1247140"/>
            <a:chOff x="7308850" y="4382770"/>
            <a:chExt cx="4218940" cy="1247140"/>
          </a:xfrm>
        </p:grpSpPr>
        <p:sp>
          <p:nvSpPr>
            <p:cNvPr id="15" name="object 15"/>
            <p:cNvSpPr/>
            <p:nvPr/>
          </p:nvSpPr>
          <p:spPr>
            <a:xfrm>
              <a:off x="7315200" y="4389120"/>
              <a:ext cx="4206240" cy="1234440"/>
            </a:xfrm>
            <a:custGeom>
              <a:avLst/>
              <a:gdLst/>
              <a:ahLst/>
              <a:cxnLst/>
              <a:rect l="l" t="t" r="r" b="b"/>
              <a:pathLst>
                <a:path w="4206240" h="1234439">
                  <a:moveTo>
                    <a:pt x="4123944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1152143"/>
                  </a:lnTo>
                  <a:lnTo>
                    <a:pt x="6465" y="1184183"/>
                  </a:lnTo>
                  <a:lnTo>
                    <a:pt x="24098" y="1210341"/>
                  </a:lnTo>
                  <a:lnTo>
                    <a:pt x="50256" y="1227974"/>
                  </a:lnTo>
                  <a:lnTo>
                    <a:pt x="82296" y="1234439"/>
                  </a:lnTo>
                  <a:lnTo>
                    <a:pt x="4123944" y="1234439"/>
                  </a:lnTo>
                  <a:lnTo>
                    <a:pt x="4155983" y="1227974"/>
                  </a:lnTo>
                  <a:lnTo>
                    <a:pt x="4182141" y="1210341"/>
                  </a:lnTo>
                  <a:lnTo>
                    <a:pt x="4199774" y="1184183"/>
                  </a:lnTo>
                  <a:lnTo>
                    <a:pt x="4206240" y="1152143"/>
                  </a:lnTo>
                  <a:lnTo>
                    <a:pt x="4206240" y="82295"/>
                  </a:lnTo>
                  <a:lnTo>
                    <a:pt x="4199774" y="50256"/>
                  </a:lnTo>
                  <a:lnTo>
                    <a:pt x="4182141" y="24098"/>
                  </a:lnTo>
                  <a:lnTo>
                    <a:pt x="4155983" y="6465"/>
                  </a:lnTo>
                  <a:lnTo>
                    <a:pt x="4123944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15200" y="4389120"/>
              <a:ext cx="4206240" cy="1234440"/>
            </a:xfrm>
            <a:custGeom>
              <a:avLst/>
              <a:gdLst/>
              <a:ahLst/>
              <a:cxnLst/>
              <a:rect l="l" t="t" r="r" b="b"/>
              <a:pathLst>
                <a:path w="4206240" h="1234439">
                  <a:moveTo>
                    <a:pt x="0" y="82295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4123944" y="0"/>
                  </a:lnTo>
                  <a:lnTo>
                    <a:pt x="4155983" y="6465"/>
                  </a:lnTo>
                  <a:lnTo>
                    <a:pt x="4182141" y="24098"/>
                  </a:lnTo>
                  <a:lnTo>
                    <a:pt x="4199774" y="50256"/>
                  </a:lnTo>
                  <a:lnTo>
                    <a:pt x="4206240" y="82295"/>
                  </a:lnTo>
                  <a:lnTo>
                    <a:pt x="4206240" y="1152143"/>
                  </a:lnTo>
                  <a:lnTo>
                    <a:pt x="4199774" y="1184183"/>
                  </a:lnTo>
                  <a:lnTo>
                    <a:pt x="4182141" y="1210341"/>
                  </a:lnTo>
                  <a:lnTo>
                    <a:pt x="4155983" y="1227974"/>
                  </a:lnTo>
                  <a:lnTo>
                    <a:pt x="4123944" y="1234439"/>
                  </a:lnTo>
                  <a:lnTo>
                    <a:pt x="82296" y="1234439"/>
                  </a:lnTo>
                  <a:lnTo>
                    <a:pt x="50256" y="1227974"/>
                  </a:lnTo>
                  <a:lnTo>
                    <a:pt x="24098" y="1210341"/>
                  </a:lnTo>
                  <a:lnTo>
                    <a:pt x="6465" y="1184183"/>
                  </a:lnTo>
                  <a:lnTo>
                    <a:pt x="0" y="1152143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531989" y="4554473"/>
            <a:ext cx="3723004" cy="84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7B39EC"/>
                </a:solidFill>
                <a:latin typeface="Courier New"/>
                <a:cs typeface="Courier New"/>
              </a:rPr>
              <a:t>pool.query()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300">
              <a:latin typeface="Courier New"/>
              <a:cs typeface="Courier New"/>
            </a:endParaRPr>
          </a:p>
          <a:p>
            <a:pPr marL="12700" marR="5080">
              <a:lnSpc>
                <a:spcPct val="120000"/>
              </a:lnSpc>
            </a:pP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Borrows</a:t>
            </a:r>
            <a:r>
              <a:rPr sz="10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connection,</a:t>
            </a:r>
            <a:r>
              <a:rPr sz="10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runs</a:t>
            </a:r>
            <a:r>
              <a:rPr sz="10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0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query,</a:t>
            </a:r>
            <a:r>
              <a:rPr sz="10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returns</a:t>
            </a:r>
            <a:r>
              <a:rPr sz="10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connection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0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63748A"/>
                </a:solidFill>
                <a:latin typeface="Calibri"/>
                <a:cs typeface="Calibri"/>
              </a:rPr>
              <a:t>the </a:t>
            </a:r>
            <a:r>
              <a:rPr sz="1050" dirty="0">
                <a:solidFill>
                  <a:srgbClr val="63748A"/>
                </a:solidFill>
                <a:latin typeface="Calibri"/>
                <a:cs typeface="Calibri"/>
              </a:rPr>
              <a:t>pool</a:t>
            </a:r>
            <a:r>
              <a:rPr sz="10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63748A"/>
                </a:solidFill>
                <a:latin typeface="Calibri"/>
                <a:cs typeface="Calibri"/>
              </a:rPr>
              <a:t>automatically.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20339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V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4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891B1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891B1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0891B1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0891B1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891B1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Database</a:t>
            </a:r>
            <a:r>
              <a:rPr sz="2800" spc="-50" dirty="0"/>
              <a:t> </a:t>
            </a:r>
            <a:r>
              <a:rPr sz="2800" dirty="0"/>
              <a:t>in</a:t>
            </a:r>
            <a:r>
              <a:rPr sz="2800" spc="-55" dirty="0"/>
              <a:t> </a:t>
            </a:r>
            <a:r>
              <a:rPr sz="2800" spc="-10" dirty="0"/>
              <a:t>Action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27380" y="1309877"/>
            <a:ext cx="613918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Screenshots</a:t>
            </a:r>
            <a:r>
              <a:rPr sz="12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from the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working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system</a:t>
            </a:r>
            <a:r>
              <a:rPr sz="1250" spc="2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replace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placeholders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below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your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own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captures.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2142" y="1775142"/>
            <a:ext cx="3353435" cy="3673475"/>
            <a:chOff x="632142" y="1775142"/>
            <a:chExt cx="3353435" cy="36734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783079"/>
              <a:ext cx="3337560" cy="36576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80" y="1783079"/>
              <a:ext cx="3337560" cy="3657600"/>
            </a:xfrm>
            <a:custGeom>
              <a:avLst/>
              <a:gdLst/>
              <a:ahLst/>
              <a:cxnLst/>
              <a:rect l="l" t="t" r="r" b="b"/>
              <a:pathLst>
                <a:path w="3337560" h="3657600">
                  <a:moveTo>
                    <a:pt x="0" y="73152"/>
                  </a:moveTo>
                  <a:lnTo>
                    <a:pt x="5749" y="44684"/>
                  </a:lnTo>
                  <a:lnTo>
                    <a:pt x="21428" y="21431"/>
                  </a:lnTo>
                  <a:lnTo>
                    <a:pt x="44684" y="5750"/>
                  </a:lnTo>
                  <a:lnTo>
                    <a:pt x="73164" y="0"/>
                  </a:lnTo>
                  <a:lnTo>
                    <a:pt x="3264408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60" y="73152"/>
                  </a:lnTo>
                  <a:lnTo>
                    <a:pt x="3337560" y="3584448"/>
                  </a:lnTo>
                  <a:lnTo>
                    <a:pt x="3331809" y="3612915"/>
                  </a:lnTo>
                  <a:lnTo>
                    <a:pt x="3316128" y="3636168"/>
                  </a:lnTo>
                  <a:lnTo>
                    <a:pt x="3292875" y="3651849"/>
                  </a:lnTo>
                  <a:lnTo>
                    <a:pt x="3264408" y="3657600"/>
                  </a:lnTo>
                  <a:lnTo>
                    <a:pt x="73164" y="3657600"/>
                  </a:lnTo>
                  <a:lnTo>
                    <a:pt x="44684" y="3651849"/>
                  </a:lnTo>
                  <a:lnTo>
                    <a:pt x="21428" y="3636168"/>
                  </a:lnTo>
                  <a:lnTo>
                    <a:pt x="5749" y="3612915"/>
                  </a:lnTo>
                  <a:lnTo>
                    <a:pt x="0" y="3584448"/>
                  </a:lnTo>
                  <a:lnTo>
                    <a:pt x="0" y="73152"/>
                  </a:lnTo>
                  <a:close/>
                </a:path>
              </a:pathLst>
            </a:custGeom>
            <a:ln w="15875">
              <a:solidFill>
                <a:srgbClr val="93A2B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14983" y="5557215"/>
            <a:ext cx="1588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Neon</a:t>
            </a:r>
            <a:r>
              <a:rPr sz="1200" b="1" spc="-1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DB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Console</a:t>
            </a:r>
            <a:r>
              <a:rPr sz="1200" b="1" spc="2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Tables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52582" y="1775142"/>
            <a:ext cx="3353435" cy="3673475"/>
            <a:chOff x="4152582" y="1775142"/>
            <a:chExt cx="3353435" cy="36734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0520" y="1783079"/>
              <a:ext cx="3337559" cy="36576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60520" y="1783079"/>
              <a:ext cx="3337560" cy="3657600"/>
            </a:xfrm>
            <a:custGeom>
              <a:avLst/>
              <a:gdLst/>
              <a:ahLst/>
              <a:cxnLst/>
              <a:rect l="l" t="t" r="r" b="b"/>
              <a:pathLst>
                <a:path w="3337559" h="36576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64407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59" y="73152"/>
                  </a:lnTo>
                  <a:lnTo>
                    <a:pt x="3337559" y="3584448"/>
                  </a:lnTo>
                  <a:lnTo>
                    <a:pt x="3331809" y="3612915"/>
                  </a:lnTo>
                  <a:lnTo>
                    <a:pt x="3316128" y="3636168"/>
                  </a:lnTo>
                  <a:lnTo>
                    <a:pt x="3292875" y="3651849"/>
                  </a:lnTo>
                  <a:lnTo>
                    <a:pt x="3264407" y="3657600"/>
                  </a:lnTo>
                  <a:lnTo>
                    <a:pt x="73151" y="3657600"/>
                  </a:lnTo>
                  <a:lnTo>
                    <a:pt x="44684" y="3651849"/>
                  </a:lnTo>
                  <a:lnTo>
                    <a:pt x="21431" y="3636168"/>
                  </a:lnTo>
                  <a:lnTo>
                    <a:pt x="5750" y="3612915"/>
                  </a:lnTo>
                  <a:lnTo>
                    <a:pt x="0" y="3584448"/>
                  </a:lnTo>
                  <a:lnTo>
                    <a:pt x="0" y="73152"/>
                  </a:lnTo>
                  <a:close/>
                </a:path>
              </a:pathLst>
            </a:custGeom>
            <a:ln w="15875">
              <a:solidFill>
                <a:srgbClr val="93A2B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34509" y="5557215"/>
            <a:ext cx="19900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Postman</a:t>
            </a:r>
            <a:r>
              <a:rPr sz="1200" b="1" spc="-2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/</a:t>
            </a:r>
            <a:r>
              <a:rPr sz="1200" b="1" spc="-3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REST</a:t>
            </a:r>
            <a:r>
              <a:rPr sz="1200" b="1" spc="-2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Client</a:t>
            </a:r>
            <a:r>
              <a:rPr sz="1200" b="1" spc="229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API</a:t>
            </a:r>
            <a:r>
              <a:rPr sz="1200" b="1" spc="-20" dirty="0">
                <a:solidFill>
                  <a:srgbClr val="1E293A"/>
                </a:solidFill>
                <a:latin typeface="Calibri"/>
                <a:cs typeface="Calibri"/>
              </a:rPr>
              <a:t> Test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673022" y="1775142"/>
            <a:ext cx="3353435" cy="3673475"/>
            <a:chOff x="7673022" y="1775142"/>
            <a:chExt cx="3353435" cy="367347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80959" y="1783079"/>
              <a:ext cx="3337559" cy="3657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680959" y="1783079"/>
              <a:ext cx="3337560" cy="3657600"/>
            </a:xfrm>
            <a:custGeom>
              <a:avLst/>
              <a:gdLst/>
              <a:ahLst/>
              <a:cxnLst/>
              <a:rect l="l" t="t" r="r" b="b"/>
              <a:pathLst>
                <a:path w="3337559" h="365760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3264408" y="0"/>
                  </a:lnTo>
                  <a:lnTo>
                    <a:pt x="3292875" y="5750"/>
                  </a:lnTo>
                  <a:lnTo>
                    <a:pt x="3316128" y="21431"/>
                  </a:lnTo>
                  <a:lnTo>
                    <a:pt x="3331809" y="44684"/>
                  </a:lnTo>
                  <a:lnTo>
                    <a:pt x="3337560" y="73152"/>
                  </a:lnTo>
                  <a:lnTo>
                    <a:pt x="3337560" y="3584448"/>
                  </a:lnTo>
                  <a:lnTo>
                    <a:pt x="3331809" y="3612915"/>
                  </a:lnTo>
                  <a:lnTo>
                    <a:pt x="3316128" y="3636168"/>
                  </a:lnTo>
                  <a:lnTo>
                    <a:pt x="3292875" y="3651849"/>
                  </a:lnTo>
                  <a:lnTo>
                    <a:pt x="3264408" y="3657600"/>
                  </a:lnTo>
                  <a:lnTo>
                    <a:pt x="73151" y="3657600"/>
                  </a:lnTo>
                  <a:lnTo>
                    <a:pt x="44684" y="3651849"/>
                  </a:lnTo>
                  <a:lnTo>
                    <a:pt x="21431" y="3636168"/>
                  </a:lnTo>
                  <a:lnTo>
                    <a:pt x="5750" y="3612915"/>
                  </a:lnTo>
                  <a:lnTo>
                    <a:pt x="0" y="3584448"/>
                  </a:lnTo>
                  <a:lnTo>
                    <a:pt x="0" y="73152"/>
                  </a:lnTo>
                  <a:close/>
                </a:path>
              </a:pathLst>
            </a:custGeom>
            <a:ln w="15875">
              <a:solidFill>
                <a:srgbClr val="93A2B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445245" y="5557215"/>
            <a:ext cx="1812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Mobile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App</a:t>
            </a:r>
            <a:r>
              <a:rPr sz="1200" b="1" spc="2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1E293A"/>
                </a:solidFill>
                <a:latin typeface="Calibri"/>
                <a:cs typeface="Calibri"/>
              </a:rPr>
              <a:t>Live</a:t>
            </a:r>
            <a:r>
              <a:rPr sz="1200" b="1" spc="-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1E293A"/>
                </a:solidFill>
                <a:latin typeface="Calibri"/>
                <a:cs typeface="Calibri"/>
              </a:rPr>
              <a:t>Dashboard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380" y="448767"/>
            <a:ext cx="20339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L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V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4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D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E</a:t>
            </a:r>
            <a:r>
              <a:rPr sz="1300" b="1" spc="-8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2462EB"/>
                </a:solidFill>
                <a:latin typeface="Calibri"/>
                <a:cs typeface="Calibri"/>
              </a:rPr>
              <a:t>M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R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A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T</a:t>
            </a:r>
            <a:r>
              <a:rPr sz="1300" b="1" spc="-10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462EB"/>
                </a:solidFill>
                <a:latin typeface="Calibri"/>
                <a:cs typeface="Calibri"/>
              </a:rPr>
              <a:t>I</a:t>
            </a:r>
            <a:r>
              <a:rPr sz="1300" b="1" spc="-90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462EB"/>
                </a:solidFill>
                <a:latin typeface="Calibri"/>
                <a:cs typeface="Calibri"/>
              </a:rPr>
              <a:t>O</a:t>
            </a:r>
            <a:r>
              <a:rPr sz="1300" b="1" spc="-95" dirty="0">
                <a:solidFill>
                  <a:srgbClr val="2462EB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2462EB"/>
                </a:solidFill>
                <a:latin typeface="Calibri"/>
                <a:cs typeface="Calibri"/>
              </a:rPr>
              <a:t>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7380" y="738886"/>
            <a:ext cx="48634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/>
              <a:t>Backend</a:t>
            </a:r>
            <a:r>
              <a:rPr sz="2800" spc="-40" dirty="0"/>
              <a:t> </a:t>
            </a:r>
            <a:r>
              <a:rPr sz="2800" dirty="0"/>
              <a:t>Running</a:t>
            </a:r>
            <a:r>
              <a:rPr sz="2800" spc="-50" dirty="0"/>
              <a:t> </a:t>
            </a:r>
            <a:r>
              <a:rPr sz="2800" dirty="0"/>
              <a:t>in</a:t>
            </a:r>
            <a:r>
              <a:rPr sz="2800" spc="-45" dirty="0"/>
              <a:t> </a:t>
            </a:r>
            <a:r>
              <a:rPr sz="2800" dirty="0"/>
              <a:t>the</a:t>
            </a:r>
            <a:r>
              <a:rPr sz="2800" spc="-45" dirty="0"/>
              <a:t> </a:t>
            </a:r>
            <a:r>
              <a:rPr sz="2800" spc="-10" dirty="0"/>
              <a:t>Terminal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627380" y="1309877"/>
            <a:ext cx="561530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Add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a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screenshot</a:t>
            </a:r>
            <a:r>
              <a:rPr sz="12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of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server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starting</a:t>
            </a:r>
            <a:r>
              <a:rPr sz="1250" spc="-4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up,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or</a:t>
            </a:r>
            <a:r>
              <a:rPr sz="12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VS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Code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the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project</a:t>
            </a:r>
            <a:r>
              <a:rPr sz="12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3748A"/>
                </a:solidFill>
                <a:latin typeface="Calibri"/>
                <a:cs typeface="Calibri"/>
              </a:rPr>
              <a:t>structure</a:t>
            </a:r>
            <a:r>
              <a:rPr sz="12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63748A"/>
                </a:solidFill>
                <a:latin typeface="Calibri"/>
                <a:cs typeface="Calibri"/>
              </a:rPr>
              <a:t>open.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2142" y="1784032"/>
            <a:ext cx="10897235" cy="4222115"/>
            <a:chOff x="632142" y="1784032"/>
            <a:chExt cx="10897235" cy="422211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080" y="1791970"/>
              <a:ext cx="10881359" cy="420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80" y="1791970"/>
              <a:ext cx="10881360" cy="4206240"/>
            </a:xfrm>
            <a:custGeom>
              <a:avLst/>
              <a:gdLst/>
              <a:ahLst/>
              <a:cxnLst/>
              <a:rect l="l" t="t" r="r" b="b"/>
              <a:pathLst>
                <a:path w="10881360" h="4206240">
                  <a:moveTo>
                    <a:pt x="0" y="73151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0808208" y="0"/>
                  </a:lnTo>
                  <a:lnTo>
                    <a:pt x="10836675" y="5750"/>
                  </a:lnTo>
                  <a:lnTo>
                    <a:pt x="10859928" y="21431"/>
                  </a:lnTo>
                  <a:lnTo>
                    <a:pt x="10875609" y="44684"/>
                  </a:lnTo>
                  <a:lnTo>
                    <a:pt x="10881360" y="73151"/>
                  </a:lnTo>
                  <a:lnTo>
                    <a:pt x="10881360" y="4133075"/>
                  </a:lnTo>
                  <a:lnTo>
                    <a:pt x="10875609" y="4161548"/>
                  </a:lnTo>
                  <a:lnTo>
                    <a:pt x="10859928" y="4184800"/>
                  </a:lnTo>
                  <a:lnTo>
                    <a:pt x="10836675" y="4200478"/>
                  </a:lnTo>
                  <a:lnTo>
                    <a:pt x="10808208" y="4206227"/>
                  </a:lnTo>
                  <a:lnTo>
                    <a:pt x="73151" y="4206227"/>
                  </a:lnTo>
                  <a:lnTo>
                    <a:pt x="44678" y="4200478"/>
                  </a:lnTo>
                  <a:lnTo>
                    <a:pt x="21426" y="4184800"/>
                  </a:lnTo>
                  <a:lnTo>
                    <a:pt x="5748" y="4161548"/>
                  </a:lnTo>
                  <a:lnTo>
                    <a:pt x="0" y="4133075"/>
                  </a:lnTo>
                  <a:lnTo>
                    <a:pt x="0" y="73151"/>
                  </a:lnTo>
                  <a:close/>
                </a:path>
              </a:pathLst>
            </a:custGeom>
            <a:ln w="15875">
              <a:solidFill>
                <a:srgbClr val="93A2B8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27380" y="448767"/>
            <a:ext cx="93027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049569"/>
                </a:solidFill>
                <a:latin typeface="Calibri"/>
                <a:cs typeface="Calibri"/>
              </a:rPr>
              <a:t>S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U</a:t>
            </a:r>
            <a:r>
              <a:rPr sz="1300" b="1" spc="-8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49569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20" dirty="0">
                <a:solidFill>
                  <a:srgbClr val="049569"/>
                </a:solidFill>
                <a:latin typeface="Calibri"/>
                <a:cs typeface="Calibri"/>
              </a:rPr>
              <a:t>M</a:t>
            </a:r>
            <a:r>
              <a:rPr sz="1300" b="1" spc="-9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A</a:t>
            </a:r>
            <a:r>
              <a:rPr sz="1300" b="1" spc="-100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049569"/>
                </a:solidFill>
                <a:latin typeface="Calibri"/>
                <a:cs typeface="Calibri"/>
              </a:rPr>
              <a:t>R</a:t>
            </a:r>
            <a:r>
              <a:rPr sz="1300" b="1" spc="-85" dirty="0">
                <a:solidFill>
                  <a:srgbClr val="049569"/>
                </a:solidFill>
                <a:latin typeface="Calibri"/>
                <a:cs typeface="Calibri"/>
              </a:rPr>
              <a:t> </a:t>
            </a:r>
            <a:r>
              <a:rPr sz="1300" b="1" spc="-50" dirty="0">
                <a:solidFill>
                  <a:srgbClr val="049569"/>
                </a:solidFill>
                <a:latin typeface="Calibri"/>
                <a:cs typeface="Calibri"/>
              </a:rPr>
              <a:t>Y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14" dirty="0"/>
              <a:t> </a:t>
            </a:r>
            <a:r>
              <a:rPr spc="-50" dirty="0"/>
              <a:t>Takeaways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557783" y="1609344"/>
            <a:ext cx="5561965" cy="1995805"/>
            <a:chOff x="557783" y="1609344"/>
            <a:chExt cx="5561965" cy="199580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783" y="1609344"/>
              <a:ext cx="5561838" cy="199567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0079" y="1691640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525780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84" y="1727251"/>
                  </a:lnTo>
                  <a:lnTo>
                    <a:pt x="26779" y="1756314"/>
                  </a:lnTo>
                  <a:lnTo>
                    <a:pt x="55844" y="1775900"/>
                  </a:lnTo>
                  <a:lnTo>
                    <a:pt x="91440" y="1783080"/>
                  </a:lnTo>
                  <a:lnTo>
                    <a:pt x="5257800" y="1783080"/>
                  </a:lnTo>
                  <a:lnTo>
                    <a:pt x="5293411" y="1775900"/>
                  </a:lnTo>
                  <a:lnTo>
                    <a:pt x="5322474" y="1756314"/>
                  </a:lnTo>
                  <a:lnTo>
                    <a:pt x="5342060" y="1727251"/>
                  </a:lnTo>
                  <a:lnTo>
                    <a:pt x="5349240" y="1691639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0079" y="1691640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0" y="91439"/>
                  </a:moveTo>
                  <a:lnTo>
                    <a:pt x="7184" y="55828"/>
                  </a:lnTo>
                  <a:lnTo>
                    <a:pt x="26779" y="26765"/>
                  </a:lnTo>
                  <a:lnTo>
                    <a:pt x="55844" y="7179"/>
                  </a:lnTo>
                  <a:lnTo>
                    <a:pt x="91440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691639"/>
                  </a:lnTo>
                  <a:lnTo>
                    <a:pt x="5342060" y="1727251"/>
                  </a:lnTo>
                  <a:lnTo>
                    <a:pt x="5322474" y="1756314"/>
                  </a:lnTo>
                  <a:lnTo>
                    <a:pt x="5293411" y="1775900"/>
                  </a:lnTo>
                  <a:lnTo>
                    <a:pt x="5257800" y="1783080"/>
                  </a:lnTo>
                  <a:lnTo>
                    <a:pt x="91440" y="1783080"/>
                  </a:lnTo>
                  <a:lnTo>
                    <a:pt x="55844" y="1775900"/>
                  </a:lnTo>
                  <a:lnTo>
                    <a:pt x="26779" y="1756314"/>
                  </a:lnTo>
                  <a:lnTo>
                    <a:pt x="7184" y="1727251"/>
                  </a:lnTo>
                  <a:lnTo>
                    <a:pt x="0" y="1691639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8679" y="192024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2" y="370042"/>
                  </a:lnTo>
                  <a:lnTo>
                    <a:pt x="37453" y="412778"/>
                  </a:lnTo>
                  <a:lnTo>
                    <a:pt x="64518" y="451064"/>
                  </a:lnTo>
                  <a:lnTo>
                    <a:pt x="97580" y="484126"/>
                  </a:lnTo>
                  <a:lnTo>
                    <a:pt x="135867" y="511189"/>
                  </a:lnTo>
                  <a:lnTo>
                    <a:pt x="178602" y="531478"/>
                  </a:lnTo>
                  <a:lnTo>
                    <a:pt x="225011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39" y="2057400"/>
              <a:ext cx="274320" cy="27432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587753" y="1934082"/>
            <a:ext cx="4069715" cy="112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E293A"/>
                </a:solidFill>
                <a:latin typeface="Calibri"/>
                <a:cs typeface="Calibri"/>
              </a:rPr>
              <a:t>Four-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table</a:t>
            </a:r>
            <a:r>
              <a:rPr sz="1600" b="1" spc="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schema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5200"/>
              </a:lnSpc>
            </a:pP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subscriber_device,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network_metric,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 location,</a:t>
            </a:r>
            <a:r>
              <a:rPr sz="1150" spc="-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feedback cover</a:t>
            </a:r>
            <a:r>
              <a:rPr sz="1150" spc="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all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SRS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functional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requirements.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89903" y="1609344"/>
            <a:ext cx="5561965" cy="1995805"/>
            <a:chOff x="6089903" y="1609344"/>
            <a:chExt cx="5561965" cy="199580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9903" y="1609344"/>
              <a:ext cx="5561838" cy="199567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72199" y="1691640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5257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39" y="1783080"/>
                  </a:lnTo>
                  <a:lnTo>
                    <a:pt x="5257800" y="1783080"/>
                  </a:lnTo>
                  <a:lnTo>
                    <a:pt x="5293411" y="1775900"/>
                  </a:lnTo>
                  <a:lnTo>
                    <a:pt x="5322474" y="1756314"/>
                  </a:lnTo>
                  <a:lnTo>
                    <a:pt x="5342060" y="1727251"/>
                  </a:lnTo>
                  <a:lnTo>
                    <a:pt x="5349240" y="1691639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72199" y="1691640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691639"/>
                  </a:lnTo>
                  <a:lnTo>
                    <a:pt x="5342060" y="1727251"/>
                  </a:lnTo>
                  <a:lnTo>
                    <a:pt x="5322474" y="1756314"/>
                  </a:lnTo>
                  <a:lnTo>
                    <a:pt x="5293411" y="1775900"/>
                  </a:lnTo>
                  <a:lnTo>
                    <a:pt x="5257800" y="1783080"/>
                  </a:lnTo>
                  <a:lnTo>
                    <a:pt x="91439" y="1783080"/>
                  </a:lnTo>
                  <a:lnTo>
                    <a:pt x="55828" y="1775900"/>
                  </a:lnTo>
                  <a:lnTo>
                    <a:pt x="26765" y="1756314"/>
                  </a:lnTo>
                  <a:lnTo>
                    <a:pt x="7179" y="1727251"/>
                  </a:lnTo>
                  <a:lnTo>
                    <a:pt x="0" y="1691639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799" y="1920240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7B3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37959" y="2057400"/>
              <a:ext cx="274320" cy="27432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120508" y="1934082"/>
            <a:ext cx="3980179" cy="112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Privacy</a:t>
            </a:r>
            <a:r>
              <a:rPr sz="1600" b="1" spc="-5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by</a:t>
            </a:r>
            <a:r>
              <a:rPr sz="1600" b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design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25200"/>
              </a:lnSpc>
            </a:pP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UUID-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based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anonymous_id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replaces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personal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identifiers,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satisfying NFR-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07.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57783" y="3575303"/>
            <a:ext cx="5561965" cy="1995805"/>
            <a:chOff x="557783" y="3575303"/>
            <a:chExt cx="5561965" cy="199580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783" y="3575303"/>
              <a:ext cx="5561838" cy="199567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0079" y="3657599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5257800" y="0"/>
                  </a:moveTo>
                  <a:lnTo>
                    <a:pt x="91440" y="0"/>
                  </a:lnTo>
                  <a:lnTo>
                    <a:pt x="55844" y="7179"/>
                  </a:lnTo>
                  <a:lnTo>
                    <a:pt x="26779" y="26765"/>
                  </a:lnTo>
                  <a:lnTo>
                    <a:pt x="7184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84" y="1727251"/>
                  </a:lnTo>
                  <a:lnTo>
                    <a:pt x="26779" y="1756314"/>
                  </a:lnTo>
                  <a:lnTo>
                    <a:pt x="55844" y="1775900"/>
                  </a:lnTo>
                  <a:lnTo>
                    <a:pt x="91440" y="1783080"/>
                  </a:lnTo>
                  <a:lnTo>
                    <a:pt x="5257800" y="1783080"/>
                  </a:lnTo>
                  <a:lnTo>
                    <a:pt x="5293411" y="1775900"/>
                  </a:lnTo>
                  <a:lnTo>
                    <a:pt x="5322474" y="1756314"/>
                  </a:lnTo>
                  <a:lnTo>
                    <a:pt x="5342060" y="1727251"/>
                  </a:lnTo>
                  <a:lnTo>
                    <a:pt x="5349240" y="1691639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0079" y="3657599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0" y="91439"/>
                  </a:moveTo>
                  <a:lnTo>
                    <a:pt x="7184" y="55828"/>
                  </a:lnTo>
                  <a:lnTo>
                    <a:pt x="26779" y="26765"/>
                  </a:lnTo>
                  <a:lnTo>
                    <a:pt x="55844" y="7179"/>
                  </a:lnTo>
                  <a:lnTo>
                    <a:pt x="91440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691639"/>
                  </a:lnTo>
                  <a:lnTo>
                    <a:pt x="5342060" y="1727251"/>
                  </a:lnTo>
                  <a:lnTo>
                    <a:pt x="5322474" y="1756314"/>
                  </a:lnTo>
                  <a:lnTo>
                    <a:pt x="5293411" y="1775900"/>
                  </a:lnTo>
                  <a:lnTo>
                    <a:pt x="5257800" y="1783080"/>
                  </a:lnTo>
                  <a:lnTo>
                    <a:pt x="91440" y="1783080"/>
                  </a:lnTo>
                  <a:lnTo>
                    <a:pt x="55844" y="1775900"/>
                  </a:lnTo>
                  <a:lnTo>
                    <a:pt x="26779" y="1756314"/>
                  </a:lnTo>
                  <a:lnTo>
                    <a:pt x="7184" y="1727251"/>
                  </a:lnTo>
                  <a:lnTo>
                    <a:pt x="0" y="1691639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68679" y="388619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19" y="0"/>
                  </a:moveTo>
                  <a:lnTo>
                    <a:pt x="225011" y="4419"/>
                  </a:lnTo>
                  <a:lnTo>
                    <a:pt x="178602" y="17161"/>
                  </a:lnTo>
                  <a:lnTo>
                    <a:pt x="135867" y="37450"/>
                  </a:lnTo>
                  <a:lnTo>
                    <a:pt x="97580" y="64513"/>
                  </a:lnTo>
                  <a:lnTo>
                    <a:pt x="64518" y="97575"/>
                  </a:lnTo>
                  <a:lnTo>
                    <a:pt x="37453" y="135861"/>
                  </a:lnTo>
                  <a:lnTo>
                    <a:pt x="17162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2" y="370042"/>
                  </a:lnTo>
                  <a:lnTo>
                    <a:pt x="37453" y="412778"/>
                  </a:lnTo>
                  <a:lnTo>
                    <a:pt x="64518" y="451064"/>
                  </a:lnTo>
                  <a:lnTo>
                    <a:pt x="97580" y="484126"/>
                  </a:lnTo>
                  <a:lnTo>
                    <a:pt x="135867" y="511189"/>
                  </a:lnTo>
                  <a:lnTo>
                    <a:pt x="178602" y="531478"/>
                  </a:lnTo>
                  <a:lnTo>
                    <a:pt x="225011" y="544220"/>
                  </a:lnTo>
                  <a:lnTo>
                    <a:pt x="274319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19" y="0"/>
                  </a:lnTo>
                  <a:close/>
                </a:path>
              </a:pathLst>
            </a:custGeom>
            <a:solidFill>
              <a:srgbClr val="04956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5839" y="4023359"/>
              <a:ext cx="274320" cy="27431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587753" y="3900297"/>
            <a:ext cx="4176395" cy="112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Layered</a:t>
            </a:r>
            <a:r>
              <a:rPr sz="1600" b="1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backend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Routes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Validation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Controllers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Services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→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Database,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each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with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one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responsibility.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089903" y="3575303"/>
            <a:ext cx="5561965" cy="1995805"/>
            <a:chOff x="6089903" y="3575303"/>
            <a:chExt cx="5561965" cy="199580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9903" y="3575303"/>
              <a:ext cx="5561838" cy="199567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172199" y="3657599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5257800" y="0"/>
                  </a:moveTo>
                  <a:lnTo>
                    <a:pt x="91439" y="0"/>
                  </a:lnTo>
                  <a:lnTo>
                    <a:pt x="55828" y="7179"/>
                  </a:lnTo>
                  <a:lnTo>
                    <a:pt x="26765" y="26765"/>
                  </a:lnTo>
                  <a:lnTo>
                    <a:pt x="7179" y="55828"/>
                  </a:lnTo>
                  <a:lnTo>
                    <a:pt x="0" y="91439"/>
                  </a:lnTo>
                  <a:lnTo>
                    <a:pt x="0" y="1691639"/>
                  </a:lnTo>
                  <a:lnTo>
                    <a:pt x="7179" y="1727251"/>
                  </a:lnTo>
                  <a:lnTo>
                    <a:pt x="26765" y="1756314"/>
                  </a:lnTo>
                  <a:lnTo>
                    <a:pt x="55828" y="1775900"/>
                  </a:lnTo>
                  <a:lnTo>
                    <a:pt x="91439" y="1783080"/>
                  </a:lnTo>
                  <a:lnTo>
                    <a:pt x="5257800" y="1783080"/>
                  </a:lnTo>
                  <a:lnTo>
                    <a:pt x="5293411" y="1775900"/>
                  </a:lnTo>
                  <a:lnTo>
                    <a:pt x="5322474" y="1756314"/>
                  </a:lnTo>
                  <a:lnTo>
                    <a:pt x="5342060" y="1727251"/>
                  </a:lnTo>
                  <a:lnTo>
                    <a:pt x="5349240" y="1691639"/>
                  </a:lnTo>
                  <a:lnTo>
                    <a:pt x="5349240" y="91439"/>
                  </a:lnTo>
                  <a:lnTo>
                    <a:pt x="5342060" y="55828"/>
                  </a:lnTo>
                  <a:lnTo>
                    <a:pt x="5322474" y="26765"/>
                  </a:lnTo>
                  <a:lnTo>
                    <a:pt x="5293411" y="717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72199" y="3657599"/>
              <a:ext cx="5349240" cy="1783080"/>
            </a:xfrm>
            <a:custGeom>
              <a:avLst/>
              <a:gdLst/>
              <a:ahLst/>
              <a:cxnLst/>
              <a:rect l="l" t="t" r="r" b="b"/>
              <a:pathLst>
                <a:path w="5349240" h="1783079">
                  <a:moveTo>
                    <a:pt x="0" y="91439"/>
                  </a:moveTo>
                  <a:lnTo>
                    <a:pt x="7179" y="55828"/>
                  </a:lnTo>
                  <a:lnTo>
                    <a:pt x="26765" y="26765"/>
                  </a:lnTo>
                  <a:lnTo>
                    <a:pt x="55828" y="7179"/>
                  </a:lnTo>
                  <a:lnTo>
                    <a:pt x="91439" y="0"/>
                  </a:lnTo>
                  <a:lnTo>
                    <a:pt x="5257800" y="0"/>
                  </a:lnTo>
                  <a:lnTo>
                    <a:pt x="5293411" y="7179"/>
                  </a:lnTo>
                  <a:lnTo>
                    <a:pt x="5322474" y="26765"/>
                  </a:lnTo>
                  <a:lnTo>
                    <a:pt x="5342060" y="55828"/>
                  </a:lnTo>
                  <a:lnTo>
                    <a:pt x="5349240" y="91439"/>
                  </a:lnTo>
                  <a:lnTo>
                    <a:pt x="5349240" y="1691639"/>
                  </a:lnTo>
                  <a:lnTo>
                    <a:pt x="5342060" y="1727251"/>
                  </a:lnTo>
                  <a:lnTo>
                    <a:pt x="5322474" y="1756314"/>
                  </a:lnTo>
                  <a:lnTo>
                    <a:pt x="5293411" y="1775900"/>
                  </a:lnTo>
                  <a:lnTo>
                    <a:pt x="5257800" y="1783080"/>
                  </a:lnTo>
                  <a:lnTo>
                    <a:pt x="91439" y="1783080"/>
                  </a:lnTo>
                  <a:lnTo>
                    <a:pt x="55828" y="1775900"/>
                  </a:lnTo>
                  <a:lnTo>
                    <a:pt x="26765" y="1756314"/>
                  </a:lnTo>
                  <a:lnTo>
                    <a:pt x="7179" y="1727251"/>
                  </a:lnTo>
                  <a:lnTo>
                    <a:pt x="0" y="1691639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400799" y="388619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19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39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40" y="274319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089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7959" y="4023359"/>
              <a:ext cx="274320" cy="27431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120508" y="3900297"/>
            <a:ext cx="4032885" cy="1121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Secure</a:t>
            </a:r>
            <a:r>
              <a:rPr sz="1600" b="1" spc="-40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E293A"/>
                </a:solidFill>
                <a:latin typeface="Calibri"/>
                <a:cs typeface="Calibri"/>
              </a:rPr>
              <a:t>by</a:t>
            </a:r>
            <a:r>
              <a:rPr sz="1600" b="1" spc="-35" dirty="0">
                <a:solidFill>
                  <a:srgbClr val="1E293A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1E293A"/>
                </a:solidFill>
                <a:latin typeface="Calibri"/>
                <a:cs typeface="Calibri"/>
              </a:rPr>
              <a:t>default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Parameterized</a:t>
            </a:r>
            <a:r>
              <a:rPr sz="1150" spc="-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SQL</a:t>
            </a:r>
            <a:r>
              <a:rPr sz="1150" spc="-3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queries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and</a:t>
            </a:r>
            <a:r>
              <a:rPr sz="1150" spc="-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TLS-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encrypted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connections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to</a:t>
            </a:r>
            <a:r>
              <a:rPr sz="1150" spc="-2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63748A"/>
                </a:solidFill>
                <a:latin typeface="Calibri"/>
                <a:cs typeface="Calibri"/>
              </a:rPr>
              <a:t>Neon</a:t>
            </a:r>
            <a:endParaRPr sz="1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50" dirty="0">
                <a:solidFill>
                  <a:srgbClr val="63748A"/>
                </a:solidFill>
                <a:latin typeface="Calibri"/>
                <a:cs typeface="Calibri"/>
              </a:rPr>
              <a:t>DB</a:t>
            </a:r>
            <a:r>
              <a:rPr sz="1150" spc="-1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63748A"/>
                </a:solidFill>
                <a:latin typeface="Calibri"/>
                <a:cs typeface="Calibri"/>
              </a:rPr>
              <a:t>throughout.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SpeeDT</a:t>
            </a:r>
            <a:r>
              <a:rPr spc="195" dirty="0"/>
              <a:t> </a:t>
            </a:r>
            <a:r>
              <a:rPr dirty="0"/>
              <a:t>Task</a:t>
            </a:r>
            <a:r>
              <a:rPr spc="-20" dirty="0"/>
              <a:t> </a:t>
            </a:r>
            <a:r>
              <a:rPr dirty="0"/>
              <a:t>6:</a:t>
            </a:r>
            <a:r>
              <a:rPr spc="-20" dirty="0"/>
              <a:t> </a:t>
            </a:r>
            <a:r>
              <a:rPr spc="-10" dirty="0"/>
              <a:t>Database</a:t>
            </a:r>
            <a:r>
              <a:rPr spc="-30" dirty="0"/>
              <a:t> </a:t>
            </a:r>
            <a:r>
              <a:rPr dirty="0"/>
              <a:t>Design and</a:t>
            </a:r>
            <a:r>
              <a:rPr spc="-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35167" y="1690116"/>
              <a:ext cx="1438656" cy="143865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628513" y="178346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594360" y="0"/>
                  </a:moveTo>
                  <a:lnTo>
                    <a:pt x="545607" y="1970"/>
                  </a:lnTo>
                  <a:lnTo>
                    <a:pt x="497942" y="7781"/>
                  </a:lnTo>
                  <a:lnTo>
                    <a:pt x="451515" y="17278"/>
                  </a:lnTo>
                  <a:lnTo>
                    <a:pt x="406481" y="30309"/>
                  </a:lnTo>
                  <a:lnTo>
                    <a:pt x="362991" y="46720"/>
                  </a:lnTo>
                  <a:lnTo>
                    <a:pt x="321200" y="66358"/>
                  </a:lnTo>
                  <a:lnTo>
                    <a:pt x="281259" y="89069"/>
                  </a:lnTo>
                  <a:lnTo>
                    <a:pt x="243321" y="114702"/>
                  </a:lnTo>
                  <a:lnTo>
                    <a:pt x="207540" y="143102"/>
                  </a:lnTo>
                  <a:lnTo>
                    <a:pt x="174069" y="174116"/>
                  </a:lnTo>
                  <a:lnTo>
                    <a:pt x="143060" y="207592"/>
                  </a:lnTo>
                  <a:lnTo>
                    <a:pt x="114665" y="243376"/>
                  </a:lnTo>
                  <a:lnTo>
                    <a:pt x="89039" y="281315"/>
                  </a:lnTo>
                  <a:lnTo>
                    <a:pt x="66334" y="321256"/>
                  </a:lnTo>
                  <a:lnTo>
                    <a:pt x="46702" y="363045"/>
                  </a:lnTo>
                  <a:lnTo>
                    <a:pt x="30297" y="406530"/>
                  </a:lnTo>
                  <a:lnTo>
                    <a:pt x="17271" y="451557"/>
                  </a:lnTo>
                  <a:lnTo>
                    <a:pt x="7778" y="497973"/>
                  </a:lnTo>
                  <a:lnTo>
                    <a:pt x="1970" y="545625"/>
                  </a:lnTo>
                  <a:lnTo>
                    <a:pt x="0" y="594360"/>
                  </a:lnTo>
                  <a:lnTo>
                    <a:pt x="1970" y="643112"/>
                  </a:lnTo>
                  <a:lnTo>
                    <a:pt x="7778" y="690777"/>
                  </a:lnTo>
                  <a:lnTo>
                    <a:pt x="17271" y="737204"/>
                  </a:lnTo>
                  <a:lnTo>
                    <a:pt x="30297" y="782238"/>
                  </a:lnTo>
                  <a:lnTo>
                    <a:pt x="46702" y="825728"/>
                  </a:lnTo>
                  <a:lnTo>
                    <a:pt x="66334" y="867519"/>
                  </a:lnTo>
                  <a:lnTo>
                    <a:pt x="89039" y="907460"/>
                  </a:lnTo>
                  <a:lnTo>
                    <a:pt x="114665" y="945398"/>
                  </a:lnTo>
                  <a:lnTo>
                    <a:pt x="143060" y="981179"/>
                  </a:lnTo>
                  <a:lnTo>
                    <a:pt x="174069" y="1014650"/>
                  </a:lnTo>
                  <a:lnTo>
                    <a:pt x="207540" y="1045659"/>
                  </a:lnTo>
                  <a:lnTo>
                    <a:pt x="243321" y="1074054"/>
                  </a:lnTo>
                  <a:lnTo>
                    <a:pt x="281259" y="1099680"/>
                  </a:lnTo>
                  <a:lnTo>
                    <a:pt x="321200" y="1122385"/>
                  </a:lnTo>
                  <a:lnTo>
                    <a:pt x="362991" y="1142017"/>
                  </a:lnTo>
                  <a:lnTo>
                    <a:pt x="406481" y="1158422"/>
                  </a:lnTo>
                  <a:lnTo>
                    <a:pt x="451515" y="1171448"/>
                  </a:lnTo>
                  <a:lnTo>
                    <a:pt x="497942" y="1180941"/>
                  </a:lnTo>
                  <a:lnTo>
                    <a:pt x="545607" y="1186749"/>
                  </a:lnTo>
                  <a:lnTo>
                    <a:pt x="594360" y="1188719"/>
                  </a:lnTo>
                  <a:lnTo>
                    <a:pt x="643112" y="1186749"/>
                  </a:lnTo>
                  <a:lnTo>
                    <a:pt x="690777" y="1180941"/>
                  </a:lnTo>
                  <a:lnTo>
                    <a:pt x="737204" y="1171448"/>
                  </a:lnTo>
                  <a:lnTo>
                    <a:pt x="782238" y="1158422"/>
                  </a:lnTo>
                  <a:lnTo>
                    <a:pt x="825728" y="1142017"/>
                  </a:lnTo>
                  <a:lnTo>
                    <a:pt x="867519" y="1122385"/>
                  </a:lnTo>
                  <a:lnTo>
                    <a:pt x="907460" y="1099680"/>
                  </a:lnTo>
                  <a:lnTo>
                    <a:pt x="945398" y="1074054"/>
                  </a:lnTo>
                  <a:lnTo>
                    <a:pt x="981179" y="1045659"/>
                  </a:lnTo>
                  <a:lnTo>
                    <a:pt x="1014650" y="1014650"/>
                  </a:lnTo>
                  <a:lnTo>
                    <a:pt x="1045659" y="981179"/>
                  </a:lnTo>
                  <a:lnTo>
                    <a:pt x="1074054" y="945398"/>
                  </a:lnTo>
                  <a:lnTo>
                    <a:pt x="1099680" y="907460"/>
                  </a:lnTo>
                  <a:lnTo>
                    <a:pt x="1122385" y="867519"/>
                  </a:lnTo>
                  <a:lnTo>
                    <a:pt x="1142017" y="825728"/>
                  </a:lnTo>
                  <a:lnTo>
                    <a:pt x="1158422" y="782238"/>
                  </a:lnTo>
                  <a:lnTo>
                    <a:pt x="1171448" y="737204"/>
                  </a:lnTo>
                  <a:lnTo>
                    <a:pt x="1180941" y="690777"/>
                  </a:lnTo>
                  <a:lnTo>
                    <a:pt x="1186749" y="643112"/>
                  </a:lnTo>
                  <a:lnTo>
                    <a:pt x="1188719" y="594360"/>
                  </a:lnTo>
                  <a:lnTo>
                    <a:pt x="1186749" y="545625"/>
                  </a:lnTo>
                  <a:lnTo>
                    <a:pt x="1180941" y="497973"/>
                  </a:lnTo>
                  <a:lnTo>
                    <a:pt x="1171448" y="451557"/>
                  </a:lnTo>
                  <a:lnTo>
                    <a:pt x="1158422" y="406530"/>
                  </a:lnTo>
                  <a:lnTo>
                    <a:pt x="1142017" y="363045"/>
                  </a:lnTo>
                  <a:lnTo>
                    <a:pt x="1122385" y="321256"/>
                  </a:lnTo>
                  <a:lnTo>
                    <a:pt x="1099680" y="281315"/>
                  </a:lnTo>
                  <a:lnTo>
                    <a:pt x="1074054" y="243376"/>
                  </a:lnTo>
                  <a:lnTo>
                    <a:pt x="1045659" y="207592"/>
                  </a:lnTo>
                  <a:lnTo>
                    <a:pt x="1014650" y="174116"/>
                  </a:lnTo>
                  <a:lnTo>
                    <a:pt x="981179" y="143102"/>
                  </a:lnTo>
                  <a:lnTo>
                    <a:pt x="945398" y="114702"/>
                  </a:lnTo>
                  <a:lnTo>
                    <a:pt x="907460" y="89069"/>
                  </a:lnTo>
                  <a:lnTo>
                    <a:pt x="867519" y="66358"/>
                  </a:lnTo>
                  <a:lnTo>
                    <a:pt x="825728" y="46720"/>
                  </a:lnTo>
                  <a:lnTo>
                    <a:pt x="782238" y="30309"/>
                  </a:lnTo>
                  <a:lnTo>
                    <a:pt x="737204" y="17278"/>
                  </a:lnTo>
                  <a:lnTo>
                    <a:pt x="690777" y="7781"/>
                  </a:lnTo>
                  <a:lnTo>
                    <a:pt x="643112" y="1970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9133" y="2103247"/>
              <a:ext cx="452092" cy="512063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776342" y="2966084"/>
            <a:ext cx="26352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Thank</a:t>
            </a:r>
            <a:r>
              <a:rPr sz="4800" spc="-5" dirty="0"/>
              <a:t> </a:t>
            </a:r>
            <a:r>
              <a:rPr sz="4800" spc="-120" dirty="0"/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2988</Words>
  <Application>Microsoft Office PowerPoint</Application>
  <PresentationFormat>Widescreen</PresentationFormat>
  <Paragraphs>727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Arial MT</vt:lpstr>
      <vt:lpstr>Calibri</vt:lpstr>
      <vt:lpstr>Courier New</vt:lpstr>
      <vt:lpstr>Microsoft Sans Serif</vt:lpstr>
      <vt:lpstr>Times New Roman</vt:lpstr>
      <vt:lpstr>Office Theme</vt:lpstr>
      <vt:lpstr>SpeeDT Database</vt:lpstr>
      <vt:lpstr>What We Will Cover</vt:lpstr>
      <vt:lpstr>Why a Strong Database Layer Matters</vt:lpstr>
      <vt:lpstr>01</vt:lpstr>
      <vt:lpstr>Four Entities, Four Data Categories</vt:lpstr>
      <vt:lpstr>network_metric: The Core Measurement Table</vt:lpstr>
      <vt:lpstr>02</vt:lpstr>
      <vt:lpstr>Entities and How They Relate</vt:lpstr>
      <vt:lpstr>C O N C E P T U A L D E S I G N</vt:lpstr>
      <vt:lpstr>03</vt:lpstr>
      <vt:lpstr>How to Read the Diagram</vt:lpstr>
      <vt:lpstr>E R D I A G R A M</vt:lpstr>
      <vt:lpstr>04</vt:lpstr>
      <vt:lpstr>Why PostgreSQL on Neon DB</vt:lpstr>
      <vt:lpstr>Creating the subscriber_device Table</vt:lpstr>
      <vt:lpstr>Creating the Feedback Table</vt:lpstr>
      <vt:lpstr>Feedback Table Constraints</vt:lpstr>
      <vt:lpstr>Constraints and Indexes</vt:lpstr>
      <vt:lpstr>05</vt:lpstr>
      <vt:lpstr>B A C K E N D I M P L E M E N T A T I O N</vt:lpstr>
      <vt:lpstr>10 REST API Endpoints</vt:lpstr>
      <vt:lpstr>Validation Middleware</vt:lpstr>
      <vt:lpstr>06</vt:lpstr>
      <vt:lpstr>API Request Lifecycle</vt:lpstr>
      <vt:lpstr>The Connection Pool src/config/db.js</vt:lpstr>
      <vt:lpstr>Service Layer Parameterized Queries</vt:lpstr>
      <vt:lpstr>Database in Action</vt:lpstr>
      <vt:lpstr>Backend Running in the Terminal</vt:lpstr>
      <vt:lpstr>Key Takeaways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SpeeDT Database — Task 6</dc:title>
  <dc:subject>PptxGenJS Presentation</dc:subject>
  <dc:creator>CEF440 Group 4</dc:creator>
  <cp:lastModifiedBy>Microsoft account</cp:lastModifiedBy>
  <cp:revision>4</cp:revision>
  <dcterms:created xsi:type="dcterms:W3CDTF">2026-06-16T12:21:58Z</dcterms:created>
  <dcterms:modified xsi:type="dcterms:W3CDTF">2026-06-16T13:07:01Z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2026-06-16T00:00:00Z</vt:filetime>
  </property>
  <property fmtid="{D5CDD505-2E9C-101B-9397-08002B2CF9AE}" pid="6" name="Producer">
    <vt:lpwstr>3-Heights(TM) PDF Analysis &amp; Repair Shell 4.12.26.3 (http://www.pdf-tools.com)</vt:lpwstr>
  </property>
</Properties>
</file>